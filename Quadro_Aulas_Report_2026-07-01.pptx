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notesMasterIdLst>
    <p:notesMasterId r:id="rId3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notesMaster" Target="notesMasters/notesMaster1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heme" Target="theme/theme1.xml"/><Relationship Id="rId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331720" cy="6858000"/>
          </a:xfrm>
          <a:prstGeom prst="rect">
            <a:avLst/>
          </a:prstGeom>
          <a:solidFill>
            <a:srgbClr val="1C2B4A"/>
          </a:solidFill>
          <a:ln w="12700">
            <a:solidFill>
              <a:srgbClr val="1C2B4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137160" y="164592"/>
            <a:ext cx="21488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650" b="1" spc="400" kern="0" dirty="0">
                <a:solidFill>
                  <a:srgbClr val="8FA3C0"/>
                </a:solidFill>
              </a:rPr>
              <a:t>STATUS REPORT</a:t>
            </a:r>
            <a:endParaRPr lang="en-US" sz="650" dirty="0"/>
          </a:p>
        </p:txBody>
      </p:sp>
      <p:sp>
        <p:nvSpPr>
          <p:cNvPr id="4" name="Text 2"/>
          <p:cNvSpPr/>
          <p:nvPr/>
        </p:nvSpPr>
        <p:spPr>
          <a:xfrm>
            <a:off x="137160" y="329184"/>
            <a:ext cx="2148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50" b="1" dirty="0">
                <a:solidFill>
                  <a:srgbClr val="FFFFFF"/>
                </a:solidFill>
              </a:rPr>
              <a:t>Quadro de Aulas</a:t>
            </a:r>
            <a:endParaRPr lang="en-US" sz="1350" dirty="0"/>
          </a:p>
        </p:txBody>
      </p:sp>
      <p:sp>
        <p:nvSpPr>
          <p:cNvPr id="5" name="Text 3"/>
          <p:cNvSpPr/>
          <p:nvPr/>
        </p:nvSpPr>
        <p:spPr>
          <a:xfrm>
            <a:off x="137160" y="640080"/>
            <a:ext cx="21488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i="1" dirty="0">
                <a:solidFill>
                  <a:srgbClr val="8FA3C0"/>
                </a:solidFill>
              </a:rPr>
              <a:t>Resiliencia Sistemica</a:t>
            </a:r>
            <a:endParaRPr lang="en-US" sz="800" dirty="0"/>
          </a:p>
        </p:txBody>
      </p:sp>
      <p:sp>
        <p:nvSpPr>
          <p:cNvPr id="6" name="Text 4"/>
          <p:cNvSpPr/>
          <p:nvPr/>
        </p:nvSpPr>
        <p:spPr>
          <a:xfrm>
            <a:off x="137160" y="822960"/>
            <a:ext cx="214884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00" dirty="0">
                <a:solidFill>
                  <a:srgbClr val="8FA3C0"/>
                </a:solidFill>
              </a:rPr>
              <a:t>1 de Julho de 2026 as 08:40</a:t>
            </a:r>
            <a:endParaRPr lang="en-US" sz="700" dirty="0"/>
          </a:p>
        </p:txBody>
      </p:sp>
      <p:sp>
        <p:nvSpPr>
          <p:cNvPr id="7" name="Shape 5"/>
          <p:cNvSpPr/>
          <p:nvPr/>
        </p:nvSpPr>
        <p:spPr>
          <a:xfrm>
            <a:off x="137160" y="1005840"/>
            <a:ext cx="2057400" cy="13716"/>
          </a:xfrm>
          <a:prstGeom prst="rect">
            <a:avLst/>
          </a:prstGeom>
          <a:solidFill>
            <a:srgbClr val="2D4A73"/>
          </a:solidFill>
          <a:ln w="12700">
            <a:solidFill>
              <a:srgbClr val="2D4A73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37160" y="1078992"/>
            <a:ext cx="214884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650" b="1" spc="200" kern="0" dirty="0">
                <a:solidFill>
                  <a:srgbClr val="8FA3C0"/>
                </a:solidFill>
              </a:rPr>
              <a:t>TOTAL DE ITENS</a:t>
            </a:r>
            <a:endParaRPr lang="en-US" sz="650" dirty="0"/>
          </a:p>
        </p:txBody>
      </p:sp>
      <p:sp>
        <p:nvSpPr>
          <p:cNvPr id="9" name="Text 7"/>
          <p:cNvSpPr/>
          <p:nvPr/>
        </p:nvSpPr>
        <p:spPr>
          <a:xfrm>
            <a:off x="137160" y="1225296"/>
            <a:ext cx="21488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393</a:t>
            </a:r>
            <a:endParaRPr lang="en-US" sz="2400" dirty="0"/>
          </a:p>
        </p:txBody>
      </p:sp>
      <p:sp>
        <p:nvSpPr>
          <p:cNvPr id="10" name="Text 8"/>
          <p:cNvSpPr/>
          <p:nvPr/>
        </p:nvSpPr>
        <p:spPr>
          <a:xfrm>
            <a:off x="137160" y="1645920"/>
            <a:ext cx="214884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650" b="1" spc="200" kern="0" dirty="0">
                <a:solidFill>
                  <a:srgbClr val="8FA3C0"/>
                </a:solidFill>
              </a:rPr>
              <a:t>CONCLUIDOS</a:t>
            </a:r>
            <a:endParaRPr lang="en-US" sz="650" dirty="0"/>
          </a:p>
        </p:txBody>
      </p:sp>
      <p:sp>
        <p:nvSpPr>
          <p:cNvPr id="11" name="Text 9"/>
          <p:cNvSpPr/>
          <p:nvPr/>
        </p:nvSpPr>
        <p:spPr>
          <a:xfrm>
            <a:off x="137160" y="1792224"/>
            <a:ext cx="21488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4ADE80"/>
                </a:solidFill>
              </a:rPr>
              <a:t>335</a:t>
            </a:r>
            <a:endParaRPr lang="en-US" sz="2400" dirty="0"/>
          </a:p>
        </p:txBody>
      </p:sp>
      <p:sp>
        <p:nvSpPr>
          <p:cNvPr id="12" name="Text 10"/>
          <p:cNvSpPr/>
          <p:nvPr/>
        </p:nvSpPr>
        <p:spPr>
          <a:xfrm>
            <a:off x="137160" y="2212848"/>
            <a:ext cx="214884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650" b="1" spc="200" kern="0" dirty="0">
                <a:solidFill>
                  <a:srgbClr val="8FA3C0"/>
                </a:solidFill>
              </a:rPr>
              <a:t>EM PROGRESSO</a:t>
            </a:r>
            <a:endParaRPr lang="en-US" sz="650" dirty="0"/>
          </a:p>
        </p:txBody>
      </p:sp>
      <p:sp>
        <p:nvSpPr>
          <p:cNvPr id="13" name="Text 11"/>
          <p:cNvSpPr/>
          <p:nvPr/>
        </p:nvSpPr>
        <p:spPr>
          <a:xfrm>
            <a:off x="137160" y="2359152"/>
            <a:ext cx="21488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FCD34D"/>
                </a:solidFill>
              </a:rPr>
              <a:t>6</a:t>
            </a:r>
            <a:endParaRPr lang="en-US" sz="2400" dirty="0"/>
          </a:p>
        </p:txBody>
      </p:sp>
      <p:sp>
        <p:nvSpPr>
          <p:cNvPr id="14" name="Text 12"/>
          <p:cNvSpPr/>
          <p:nvPr/>
        </p:nvSpPr>
        <p:spPr>
          <a:xfrm>
            <a:off x="137160" y="2779776"/>
            <a:ext cx="214884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650" b="1" spc="200" kern="0" dirty="0">
                <a:solidFill>
                  <a:srgbClr val="8FA3C0"/>
                </a:solidFill>
              </a:rPr>
              <a:t>A FAZER / BACKLOG</a:t>
            </a:r>
            <a:endParaRPr lang="en-US" sz="650" dirty="0"/>
          </a:p>
        </p:txBody>
      </p:sp>
      <p:sp>
        <p:nvSpPr>
          <p:cNvPr id="15" name="Text 13"/>
          <p:cNvSpPr/>
          <p:nvPr/>
        </p:nvSpPr>
        <p:spPr>
          <a:xfrm>
            <a:off x="137160" y="2926080"/>
            <a:ext cx="21488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F87171"/>
                </a:solidFill>
              </a:rPr>
              <a:t>34</a:t>
            </a:r>
            <a:endParaRPr lang="en-US" sz="2400" dirty="0"/>
          </a:p>
        </p:txBody>
      </p:sp>
      <p:sp>
        <p:nvSpPr>
          <p:cNvPr id="16" name="Text 14"/>
          <p:cNvSpPr/>
          <p:nvPr/>
        </p:nvSpPr>
        <p:spPr>
          <a:xfrm>
            <a:off x="137160" y="3383280"/>
            <a:ext cx="214884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650" b="1" spc="200" kern="0" dirty="0">
                <a:solidFill>
                  <a:srgbClr val="8FA3C0"/>
                </a:solidFill>
              </a:rPr>
              <a:t>PROGRESSO GERAL</a:t>
            </a:r>
            <a:endParaRPr lang="en-US" sz="650" dirty="0"/>
          </a:p>
        </p:txBody>
      </p:sp>
      <p:sp>
        <p:nvSpPr>
          <p:cNvPr id="17" name="Shape 15"/>
          <p:cNvSpPr/>
          <p:nvPr/>
        </p:nvSpPr>
        <p:spPr>
          <a:xfrm>
            <a:off x="137160" y="3538728"/>
            <a:ext cx="2057400" cy="91440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137160" y="3538728"/>
            <a:ext cx="1748790" cy="91440"/>
          </a:xfrm>
          <a:prstGeom prst="rect">
            <a:avLst/>
          </a:prstGeom>
          <a:solidFill>
            <a:srgbClr val="4ADE80"/>
          </a:solidFill>
          <a:ln w="12700">
            <a:solidFill>
              <a:srgbClr val="4ADE80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137160" y="3648456"/>
            <a:ext cx="214884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00" dirty="0">
                <a:solidFill>
                  <a:srgbClr val="8FA3C0"/>
                </a:solidFill>
              </a:rPr>
              <a:t>85% concluido  .  335 de 393 itens</a:t>
            </a:r>
            <a:endParaRPr lang="en-US" sz="700" dirty="0"/>
          </a:p>
        </p:txBody>
      </p:sp>
      <p:sp>
        <p:nvSpPr>
          <p:cNvPr id="20" name="Text 18"/>
          <p:cNvSpPr/>
          <p:nvPr/>
        </p:nvSpPr>
        <p:spPr>
          <a:xfrm>
            <a:off x="137160" y="3794760"/>
            <a:ext cx="214884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650" dirty="0">
                <a:solidFill>
                  <a:srgbClr val="8FA3C0"/>
                </a:solidFill>
              </a:rPr>
              <a:t>Cancelados excluidos do escopo</a:t>
            </a:r>
            <a:endParaRPr lang="en-US" sz="650" dirty="0"/>
          </a:p>
        </p:txBody>
      </p:sp>
      <p:sp>
        <p:nvSpPr>
          <p:cNvPr id="21" name="Text 19"/>
          <p:cNvSpPr/>
          <p:nvPr/>
        </p:nvSpPr>
        <p:spPr>
          <a:xfrm>
            <a:off x="137160" y="3977640"/>
            <a:ext cx="214884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650" b="1" spc="200" kern="0" dirty="0">
                <a:solidFill>
                  <a:srgbClr val="8FA3C0"/>
                </a:solidFill>
              </a:rPr>
              <a:t>VELOCIDADE RECENTE</a:t>
            </a:r>
            <a:endParaRPr lang="en-US" sz="650" dirty="0"/>
          </a:p>
        </p:txBody>
      </p:sp>
      <p:sp>
        <p:nvSpPr>
          <p:cNvPr id="22" name="Text 20"/>
          <p:cNvSpPr/>
          <p:nvPr/>
        </p:nvSpPr>
        <p:spPr>
          <a:xfrm>
            <a:off x="137160" y="4114800"/>
            <a:ext cx="2148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CD34D"/>
                </a:solidFill>
              </a:rPr>
              <a:t>18h/dia</a:t>
            </a:r>
            <a:endParaRPr lang="en-US" sz="2200" dirty="0"/>
          </a:p>
        </p:txBody>
      </p:sp>
      <p:sp>
        <p:nvSpPr>
          <p:cNvPr id="23" name="Text 21"/>
          <p:cNvSpPr/>
          <p:nvPr/>
        </p:nvSpPr>
        <p:spPr>
          <a:xfrm>
            <a:off x="137160" y="4425696"/>
            <a:ext cx="214884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650" dirty="0">
                <a:solidFill>
                  <a:srgbClr val="8FA3C0"/>
                </a:solidFill>
              </a:rPr>
              <a:t>velocidade fixada pelo time</a:t>
            </a:r>
            <a:endParaRPr lang="en-US" sz="650" dirty="0"/>
          </a:p>
        </p:txBody>
      </p:sp>
      <p:sp>
        <p:nvSpPr>
          <p:cNvPr id="24" name="Text 22"/>
          <p:cNvSpPr/>
          <p:nvPr/>
        </p:nvSpPr>
        <p:spPr>
          <a:xfrm>
            <a:off x="137160" y="6492240"/>
            <a:ext cx="214884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00" dirty="0">
                <a:solidFill>
                  <a:srgbClr val="8FA3C0"/>
                </a:solidFill>
              </a:rPr>
              <a:t>Squad Lecionar</a:t>
            </a:r>
            <a:endParaRPr lang="en-US" sz="700" dirty="0"/>
          </a:p>
        </p:txBody>
      </p:sp>
      <p:sp>
        <p:nvSpPr>
          <p:cNvPr id="25" name="Text 23"/>
          <p:cNvSpPr/>
          <p:nvPr/>
        </p:nvSpPr>
        <p:spPr>
          <a:xfrm>
            <a:off x="137160" y="6647688"/>
            <a:ext cx="214884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00" dirty="0">
                <a:solidFill>
                  <a:srgbClr val="8FA3C0"/>
                </a:solidFill>
              </a:rPr>
              <a:t>Cintia Baricatti</a:t>
            </a:r>
            <a:endParaRPr lang="en-US" sz="700" dirty="0"/>
          </a:p>
        </p:txBody>
      </p:sp>
      <p:sp>
        <p:nvSpPr>
          <p:cNvPr id="26" name="Shape 24"/>
          <p:cNvSpPr/>
          <p:nvPr/>
        </p:nvSpPr>
        <p:spPr>
          <a:xfrm>
            <a:off x="2441448" y="73152"/>
            <a:ext cx="2350008" cy="256032"/>
          </a:xfrm>
          <a:prstGeom prst="rect">
            <a:avLst/>
          </a:prstGeom>
          <a:solidFill>
            <a:srgbClr val="1D9E75"/>
          </a:solidFill>
          <a:ln w="12700">
            <a:solidFill>
              <a:srgbClr val="1D9E75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2441448" y="73152"/>
            <a:ext cx="235000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</a:rPr>
              <a:t>PRINCIPAL</a:t>
            </a:r>
            <a:endParaRPr lang="en-US" sz="850" dirty="0"/>
          </a:p>
        </p:txBody>
      </p:sp>
      <p:sp>
        <p:nvSpPr>
          <p:cNvPr id="28" name="Shape 26"/>
          <p:cNvSpPr/>
          <p:nvPr/>
        </p:nvSpPr>
        <p:spPr>
          <a:xfrm>
            <a:off x="2441448" y="329184"/>
            <a:ext cx="2350008" cy="1755648"/>
          </a:xfrm>
          <a:prstGeom prst="rect">
            <a:avLst/>
          </a:prstGeom>
          <a:solidFill>
            <a:srgbClr val="FFFFFF"/>
          </a:solidFill>
          <a:ln w="12700">
            <a:solidFill>
              <a:srgbClr val="DDDDDD"/>
            </a:solidFill>
            <a:prstDash val="solid"/>
          </a:ln>
          <a:effectLst>
            <a:outerShdw sx="100000" sy="100000" kx="0" ky="0" algn="bl" rotWithShape="0" blurRad="38100" dist="25400" dir="5400000">
              <a:srgbClr val="CCCCCC">
                <a:alpha val="25000"/>
              </a:srgbClr>
            </a:outerShdw>
          </a:effectLst>
        </p:spPr>
      </p:sp>
      <p:sp>
        <p:nvSpPr>
          <p:cNvPr id="29" name="Text 27"/>
          <p:cNvSpPr/>
          <p:nvPr/>
        </p:nvSpPr>
        <p:spPr>
          <a:xfrm>
            <a:off x="2514600" y="402336"/>
            <a:ext cx="220370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50" dirty="0">
                <a:solidFill>
                  <a:srgbClr val="222222"/>
                </a:solidFill>
              </a:rPr>
              <a:t>5 Stories · 3 NFT · 71 itens</a:t>
            </a:r>
            <a:endParaRPr lang="en-US" sz="750" dirty="0"/>
          </a:p>
        </p:txBody>
      </p:sp>
      <p:sp>
        <p:nvSpPr>
          <p:cNvPr id="30" name="Text 28"/>
          <p:cNvSpPr/>
          <p:nvPr/>
        </p:nvSpPr>
        <p:spPr>
          <a:xfrm>
            <a:off x="2514600" y="566928"/>
            <a:ext cx="2203704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50" dirty="0">
                <a:solidFill>
                  <a:srgbClr val="222222"/>
                </a:solidFill>
              </a:rPr>
              <a:t>A Fazer: 1 . Em progresso: 0 . Finalizados: 70</a:t>
            </a:r>
            <a:endParaRPr lang="en-US" sz="750" dirty="0"/>
          </a:p>
        </p:txBody>
      </p:sp>
      <p:sp>
        <p:nvSpPr>
          <p:cNvPr id="31" name="Text 29"/>
          <p:cNvSpPr/>
          <p:nvPr/>
        </p:nvSpPr>
        <p:spPr>
          <a:xfrm>
            <a:off x="2514600" y="713232"/>
            <a:ext cx="2203704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50" dirty="0">
                <a:solidFill>
                  <a:srgbClr val="222222"/>
                </a:solidFill>
              </a:rPr>
              <a:t>Est: 274h . Real: 294.3h . Rem: 1h</a:t>
            </a:r>
            <a:endParaRPr lang="en-US" sz="750" dirty="0"/>
          </a:p>
        </p:txBody>
      </p:sp>
      <p:sp>
        <p:nvSpPr>
          <p:cNvPr id="32" name="Shape 30"/>
          <p:cNvSpPr/>
          <p:nvPr/>
        </p:nvSpPr>
        <p:spPr>
          <a:xfrm>
            <a:off x="2514600" y="859536"/>
            <a:ext cx="2203704" cy="50292"/>
          </a:xfrm>
          <a:prstGeom prst="rect">
            <a:avLst/>
          </a:prstGeom>
          <a:solidFill>
            <a:srgbClr val="E8EDF2"/>
          </a:solidFill>
          <a:ln w="12700">
            <a:solidFill>
              <a:srgbClr val="E8EDF2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2514600" y="859536"/>
            <a:ext cx="1939260" cy="50292"/>
          </a:xfrm>
          <a:prstGeom prst="rect">
            <a:avLst/>
          </a:prstGeom>
          <a:solidFill>
            <a:srgbClr val="1D9E75"/>
          </a:solidFill>
          <a:ln w="12700">
            <a:solidFill>
              <a:srgbClr val="1D9E75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2514600" y="914400"/>
            <a:ext cx="2203704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650" dirty="0">
                <a:solidFill>
                  <a:srgbClr val="888888"/>
                </a:solidFill>
              </a:rPr>
              <a:t>Stories/NFTs: 88% · 7 de 8</a:t>
            </a:r>
            <a:endParaRPr lang="en-US" sz="650" dirty="0"/>
          </a:p>
        </p:txBody>
      </p:sp>
      <p:sp>
        <p:nvSpPr>
          <p:cNvPr id="35" name="Shape 33"/>
          <p:cNvSpPr/>
          <p:nvPr/>
        </p:nvSpPr>
        <p:spPr>
          <a:xfrm>
            <a:off x="2514600" y="1033272"/>
            <a:ext cx="2203704" cy="50292"/>
          </a:xfrm>
          <a:prstGeom prst="rect">
            <a:avLst/>
          </a:prstGeom>
          <a:solidFill>
            <a:srgbClr val="E8EDF2"/>
          </a:solidFill>
          <a:ln w="12700">
            <a:solidFill>
              <a:srgbClr val="E8EDF2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2514600" y="1033272"/>
            <a:ext cx="2181667" cy="50292"/>
          </a:xfrm>
          <a:prstGeom prst="rect">
            <a:avLst/>
          </a:prstGeom>
          <a:solidFill>
            <a:srgbClr val="1D9E75"/>
          </a:solidFill>
          <a:ln w="12700">
            <a:solidFill>
              <a:srgbClr val="1D9E75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2514600" y="1088136"/>
            <a:ext cx="2203704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650" dirty="0">
                <a:solidFill>
                  <a:srgbClr val="888888"/>
                </a:solidFill>
              </a:rPr>
              <a:t>Subs: 99% · 70 de 71</a:t>
            </a:r>
            <a:endParaRPr lang="en-US" sz="650" dirty="0"/>
          </a:p>
        </p:txBody>
      </p:sp>
      <p:sp>
        <p:nvSpPr>
          <p:cNvPr id="38" name="Text 36"/>
          <p:cNvSpPr/>
          <p:nvPr/>
        </p:nvSpPr>
        <p:spPr>
          <a:xfrm>
            <a:off x="2514600" y="1234440"/>
            <a:ext cx="220370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b="1" dirty="0">
                <a:solidFill>
                  <a:srgbClr val="1D9E75"/>
                </a:solidFill>
              </a:rPr>
              <a:t>Projetado: 295.3h (+21.3h / +8%)</a:t>
            </a:r>
            <a:endParaRPr lang="en-US" sz="800" dirty="0"/>
          </a:p>
        </p:txBody>
      </p:sp>
      <p:sp>
        <p:nvSpPr>
          <p:cNvPr id="39" name="Shape 37"/>
          <p:cNvSpPr/>
          <p:nvPr/>
        </p:nvSpPr>
        <p:spPr>
          <a:xfrm>
            <a:off x="4873752" y="73152"/>
            <a:ext cx="2350008" cy="256032"/>
          </a:xfrm>
          <a:prstGeom prst="rect">
            <a:avLst/>
          </a:prstGeom>
          <a:solidFill>
            <a:srgbClr val="534AB7"/>
          </a:solidFill>
          <a:ln w="12700">
            <a:solidFill>
              <a:srgbClr val="534AB7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4873752" y="73152"/>
            <a:ext cx="235000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</a:rPr>
              <a:t>REDUNDANTE</a:t>
            </a:r>
            <a:endParaRPr lang="en-US" sz="850" dirty="0"/>
          </a:p>
        </p:txBody>
      </p:sp>
      <p:sp>
        <p:nvSpPr>
          <p:cNvPr id="41" name="Shape 39"/>
          <p:cNvSpPr/>
          <p:nvPr/>
        </p:nvSpPr>
        <p:spPr>
          <a:xfrm>
            <a:off x="4873752" y="329184"/>
            <a:ext cx="2350008" cy="1755648"/>
          </a:xfrm>
          <a:prstGeom prst="rect">
            <a:avLst/>
          </a:prstGeom>
          <a:solidFill>
            <a:srgbClr val="FFFFFF"/>
          </a:solidFill>
          <a:ln w="12700">
            <a:solidFill>
              <a:srgbClr val="DDDDDD"/>
            </a:solidFill>
            <a:prstDash val="solid"/>
          </a:ln>
          <a:effectLst>
            <a:outerShdw sx="100000" sy="100000" kx="0" ky="0" algn="bl" rotWithShape="0" blurRad="38100" dist="25400" dir="5400000">
              <a:srgbClr val="CCCCCC">
                <a:alpha val="25000"/>
              </a:srgbClr>
            </a:outerShdw>
          </a:effectLst>
        </p:spPr>
      </p:sp>
      <p:sp>
        <p:nvSpPr>
          <p:cNvPr id="42" name="Text 40"/>
          <p:cNvSpPr/>
          <p:nvPr/>
        </p:nvSpPr>
        <p:spPr>
          <a:xfrm>
            <a:off x="4946904" y="402336"/>
            <a:ext cx="220370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50" dirty="0">
                <a:solidFill>
                  <a:srgbClr val="222222"/>
                </a:solidFill>
              </a:rPr>
              <a:t>7 Stories · 4 NFT · 114 itens</a:t>
            </a:r>
            <a:endParaRPr lang="en-US" sz="750" dirty="0"/>
          </a:p>
        </p:txBody>
      </p:sp>
      <p:sp>
        <p:nvSpPr>
          <p:cNvPr id="43" name="Text 41"/>
          <p:cNvSpPr/>
          <p:nvPr/>
        </p:nvSpPr>
        <p:spPr>
          <a:xfrm>
            <a:off x="4946904" y="566928"/>
            <a:ext cx="2203704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50" dirty="0">
                <a:solidFill>
                  <a:srgbClr val="222222"/>
                </a:solidFill>
              </a:rPr>
              <a:t>A Fazer: 4 . Em progresso: 0 . Finalizados: 110</a:t>
            </a:r>
            <a:endParaRPr lang="en-US" sz="750" dirty="0"/>
          </a:p>
        </p:txBody>
      </p:sp>
      <p:sp>
        <p:nvSpPr>
          <p:cNvPr id="44" name="Text 42"/>
          <p:cNvSpPr/>
          <p:nvPr/>
        </p:nvSpPr>
        <p:spPr>
          <a:xfrm>
            <a:off x="4946904" y="713232"/>
            <a:ext cx="2203704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50" dirty="0">
                <a:solidFill>
                  <a:srgbClr val="222222"/>
                </a:solidFill>
              </a:rPr>
              <a:t>Est: 432.5h . Real: 588.1h . Rem: 8h</a:t>
            </a:r>
            <a:endParaRPr lang="en-US" sz="750" dirty="0"/>
          </a:p>
        </p:txBody>
      </p:sp>
      <p:sp>
        <p:nvSpPr>
          <p:cNvPr id="45" name="Shape 43"/>
          <p:cNvSpPr/>
          <p:nvPr/>
        </p:nvSpPr>
        <p:spPr>
          <a:xfrm>
            <a:off x="4946904" y="859536"/>
            <a:ext cx="2203704" cy="50292"/>
          </a:xfrm>
          <a:prstGeom prst="rect">
            <a:avLst/>
          </a:prstGeom>
          <a:solidFill>
            <a:srgbClr val="E8EDF2"/>
          </a:solidFill>
          <a:ln w="12700">
            <a:solidFill>
              <a:srgbClr val="E8EDF2"/>
            </a:solidFill>
            <a:prstDash val="solid"/>
          </a:ln>
        </p:spPr>
      </p:sp>
      <p:sp>
        <p:nvSpPr>
          <p:cNvPr id="46" name="Shape 44"/>
          <p:cNvSpPr/>
          <p:nvPr/>
        </p:nvSpPr>
        <p:spPr>
          <a:xfrm>
            <a:off x="4946904" y="859536"/>
            <a:ext cx="2005371" cy="50292"/>
          </a:xfrm>
          <a:prstGeom prst="rect">
            <a:avLst/>
          </a:prstGeom>
          <a:solidFill>
            <a:srgbClr val="534AB7"/>
          </a:solidFill>
          <a:ln w="12700">
            <a:solidFill>
              <a:srgbClr val="534AB7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4946904" y="914400"/>
            <a:ext cx="2203704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650" dirty="0">
                <a:solidFill>
                  <a:srgbClr val="888888"/>
                </a:solidFill>
              </a:rPr>
              <a:t>Stories/NFTs: 91% · 10 de 11</a:t>
            </a:r>
            <a:endParaRPr lang="en-US" sz="650" dirty="0"/>
          </a:p>
        </p:txBody>
      </p:sp>
      <p:sp>
        <p:nvSpPr>
          <p:cNvPr id="48" name="Shape 46"/>
          <p:cNvSpPr/>
          <p:nvPr/>
        </p:nvSpPr>
        <p:spPr>
          <a:xfrm>
            <a:off x="4946904" y="1033272"/>
            <a:ext cx="2203704" cy="50292"/>
          </a:xfrm>
          <a:prstGeom prst="rect">
            <a:avLst/>
          </a:prstGeom>
          <a:solidFill>
            <a:srgbClr val="E8EDF2"/>
          </a:solidFill>
          <a:ln w="12700">
            <a:solidFill>
              <a:srgbClr val="E8EDF2"/>
            </a:solidFill>
            <a:prstDash val="solid"/>
          </a:ln>
        </p:spPr>
      </p:sp>
      <p:sp>
        <p:nvSpPr>
          <p:cNvPr id="49" name="Shape 47"/>
          <p:cNvSpPr/>
          <p:nvPr/>
        </p:nvSpPr>
        <p:spPr>
          <a:xfrm>
            <a:off x="4946904" y="1033272"/>
            <a:ext cx="2115556" cy="50292"/>
          </a:xfrm>
          <a:prstGeom prst="rect">
            <a:avLst/>
          </a:prstGeom>
          <a:solidFill>
            <a:srgbClr val="534AB7"/>
          </a:solidFill>
          <a:ln w="12700">
            <a:solidFill>
              <a:srgbClr val="534AB7"/>
            </a:solidFill>
            <a:prstDash val="solid"/>
          </a:ln>
        </p:spPr>
      </p:sp>
      <p:sp>
        <p:nvSpPr>
          <p:cNvPr id="50" name="Text 48"/>
          <p:cNvSpPr/>
          <p:nvPr/>
        </p:nvSpPr>
        <p:spPr>
          <a:xfrm>
            <a:off x="4946904" y="1088136"/>
            <a:ext cx="2203704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650" dirty="0">
                <a:solidFill>
                  <a:srgbClr val="888888"/>
                </a:solidFill>
              </a:rPr>
              <a:t>Subs: 96% · 110 de 114</a:t>
            </a:r>
            <a:endParaRPr lang="en-US" sz="650" dirty="0"/>
          </a:p>
        </p:txBody>
      </p:sp>
      <p:sp>
        <p:nvSpPr>
          <p:cNvPr id="51" name="Text 49"/>
          <p:cNvSpPr/>
          <p:nvPr/>
        </p:nvSpPr>
        <p:spPr>
          <a:xfrm>
            <a:off x="4946904" y="1234440"/>
            <a:ext cx="220370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b="1" dirty="0">
                <a:solidFill>
                  <a:srgbClr val="DC2626"/>
                </a:solidFill>
              </a:rPr>
              <a:t>Projetado: 596.1h (+163.6h / +38%)</a:t>
            </a:r>
            <a:endParaRPr lang="en-US" sz="800" dirty="0"/>
          </a:p>
        </p:txBody>
      </p:sp>
      <p:sp>
        <p:nvSpPr>
          <p:cNvPr id="52" name="Shape 50"/>
          <p:cNvSpPr/>
          <p:nvPr/>
        </p:nvSpPr>
        <p:spPr>
          <a:xfrm>
            <a:off x="7306056" y="73152"/>
            <a:ext cx="2350008" cy="256032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53" name="Text 51"/>
          <p:cNvSpPr/>
          <p:nvPr/>
        </p:nvSpPr>
        <p:spPr>
          <a:xfrm>
            <a:off x="7306056" y="73152"/>
            <a:ext cx="1457005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</a:rPr>
              <a:t>COMPLEMENTARES</a:t>
            </a:r>
            <a:endParaRPr lang="en-US" sz="850" dirty="0"/>
          </a:p>
        </p:txBody>
      </p:sp>
      <p:sp>
        <p:nvSpPr>
          <p:cNvPr id="54" name="Text 52"/>
          <p:cNvSpPr/>
          <p:nvPr/>
        </p:nvSpPr>
        <p:spPr>
          <a:xfrm>
            <a:off x="8786561" y="73152"/>
            <a:ext cx="869503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D5D5"/>
                </a:solidFill>
              </a:rPr>
              <a:t>CANCELADO</a:t>
            </a:r>
            <a:endParaRPr lang="en-US" sz="800" dirty="0"/>
          </a:p>
        </p:txBody>
      </p:sp>
      <p:sp>
        <p:nvSpPr>
          <p:cNvPr id="55" name="Shape 53"/>
          <p:cNvSpPr/>
          <p:nvPr/>
        </p:nvSpPr>
        <p:spPr>
          <a:xfrm>
            <a:off x="7306056" y="329184"/>
            <a:ext cx="2350008" cy="1755648"/>
          </a:xfrm>
          <a:prstGeom prst="rect">
            <a:avLst/>
          </a:prstGeom>
          <a:solidFill>
            <a:srgbClr val="FFFFFF"/>
          </a:solidFill>
          <a:ln w="12700">
            <a:solidFill>
              <a:srgbClr val="DC2626"/>
            </a:solidFill>
            <a:prstDash val="solid"/>
          </a:ln>
          <a:effectLst>
            <a:outerShdw sx="100000" sy="100000" kx="0" ky="0" algn="bl" rotWithShape="0" blurRad="38100" dist="25400" dir="5400000">
              <a:srgbClr val="CCCCCC">
                <a:alpha val="25000"/>
              </a:srgbClr>
            </a:outerShdw>
          </a:effectLst>
        </p:spPr>
      </p:sp>
      <p:sp>
        <p:nvSpPr>
          <p:cNvPr id="56" name="Text 54"/>
          <p:cNvSpPr/>
          <p:nvPr/>
        </p:nvSpPr>
        <p:spPr>
          <a:xfrm>
            <a:off x="7379208" y="402336"/>
            <a:ext cx="220370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50" dirty="0">
                <a:solidFill>
                  <a:srgbClr val="222222"/>
                </a:solidFill>
              </a:rPr>
              <a:t>1 Story · 9 itens</a:t>
            </a:r>
            <a:endParaRPr lang="en-US" sz="750" dirty="0"/>
          </a:p>
        </p:txBody>
      </p:sp>
      <p:sp>
        <p:nvSpPr>
          <p:cNvPr id="57" name="Text 55"/>
          <p:cNvSpPr/>
          <p:nvPr/>
        </p:nvSpPr>
        <p:spPr>
          <a:xfrm>
            <a:off x="7379208" y="566928"/>
            <a:ext cx="2203704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50" dirty="0">
                <a:solidFill>
                  <a:srgbClr val="222222"/>
                </a:solidFill>
              </a:rPr>
              <a:t>A Fazer: 0 . Em progresso: 0 . Finalizados: 9</a:t>
            </a:r>
            <a:endParaRPr lang="en-US" sz="750" dirty="0"/>
          </a:p>
        </p:txBody>
      </p:sp>
      <p:sp>
        <p:nvSpPr>
          <p:cNvPr id="58" name="Text 56"/>
          <p:cNvSpPr/>
          <p:nvPr/>
        </p:nvSpPr>
        <p:spPr>
          <a:xfrm>
            <a:off x="7379208" y="713232"/>
            <a:ext cx="2203704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50" dirty="0">
                <a:solidFill>
                  <a:srgbClr val="222222"/>
                </a:solidFill>
              </a:rPr>
              <a:t>Est: 27h . Real: 75.5h . Rem: 0h</a:t>
            </a:r>
            <a:endParaRPr lang="en-US" sz="750" dirty="0"/>
          </a:p>
        </p:txBody>
      </p:sp>
      <p:sp>
        <p:nvSpPr>
          <p:cNvPr id="59" name="Shape 57"/>
          <p:cNvSpPr/>
          <p:nvPr/>
        </p:nvSpPr>
        <p:spPr>
          <a:xfrm>
            <a:off x="7379208" y="859536"/>
            <a:ext cx="2203704" cy="50292"/>
          </a:xfrm>
          <a:prstGeom prst="rect">
            <a:avLst/>
          </a:prstGeom>
          <a:solidFill>
            <a:srgbClr val="E8EDF2"/>
          </a:solidFill>
          <a:ln w="12700">
            <a:solidFill>
              <a:srgbClr val="E8EDF2"/>
            </a:solidFill>
            <a:prstDash val="solid"/>
          </a:ln>
        </p:spPr>
      </p:sp>
      <p:sp>
        <p:nvSpPr>
          <p:cNvPr id="60" name="Shape 58"/>
          <p:cNvSpPr/>
          <p:nvPr/>
        </p:nvSpPr>
        <p:spPr>
          <a:xfrm>
            <a:off x="7379208" y="859536"/>
            <a:ext cx="2203704" cy="50292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61" name="Text 59"/>
          <p:cNvSpPr/>
          <p:nvPr/>
        </p:nvSpPr>
        <p:spPr>
          <a:xfrm>
            <a:off x="7379208" y="914400"/>
            <a:ext cx="2203704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650" dirty="0">
                <a:solidFill>
                  <a:srgbClr val="888888"/>
                </a:solidFill>
              </a:rPr>
              <a:t>Stories/NFTs: 100% · 1 de 1</a:t>
            </a:r>
            <a:endParaRPr lang="en-US" sz="650" dirty="0"/>
          </a:p>
        </p:txBody>
      </p:sp>
      <p:sp>
        <p:nvSpPr>
          <p:cNvPr id="62" name="Shape 60"/>
          <p:cNvSpPr/>
          <p:nvPr/>
        </p:nvSpPr>
        <p:spPr>
          <a:xfrm>
            <a:off x="7379208" y="1033272"/>
            <a:ext cx="2203704" cy="50292"/>
          </a:xfrm>
          <a:prstGeom prst="rect">
            <a:avLst/>
          </a:prstGeom>
          <a:solidFill>
            <a:srgbClr val="E8EDF2"/>
          </a:solidFill>
          <a:ln w="12700">
            <a:solidFill>
              <a:srgbClr val="E8EDF2"/>
            </a:solidFill>
            <a:prstDash val="solid"/>
          </a:ln>
        </p:spPr>
      </p:sp>
      <p:sp>
        <p:nvSpPr>
          <p:cNvPr id="63" name="Shape 61"/>
          <p:cNvSpPr/>
          <p:nvPr/>
        </p:nvSpPr>
        <p:spPr>
          <a:xfrm>
            <a:off x="7379208" y="1033272"/>
            <a:ext cx="2203704" cy="50292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64" name="Text 62"/>
          <p:cNvSpPr/>
          <p:nvPr/>
        </p:nvSpPr>
        <p:spPr>
          <a:xfrm>
            <a:off x="7379208" y="1088136"/>
            <a:ext cx="2203704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650" dirty="0">
                <a:solidFill>
                  <a:srgbClr val="888888"/>
                </a:solidFill>
              </a:rPr>
              <a:t>Subs: 100% · 9 de 9</a:t>
            </a:r>
            <a:endParaRPr lang="en-US" sz="650" dirty="0"/>
          </a:p>
        </p:txBody>
      </p:sp>
      <p:sp>
        <p:nvSpPr>
          <p:cNvPr id="65" name="Text 63"/>
          <p:cNvSpPr/>
          <p:nvPr/>
        </p:nvSpPr>
        <p:spPr>
          <a:xfrm>
            <a:off x="7379208" y="1234440"/>
            <a:ext cx="220370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b="1" dirty="0">
                <a:solidFill>
                  <a:srgbClr val="DC2626"/>
                </a:solidFill>
              </a:rPr>
              <a:t>Projetado: 75.5h (+48.5h / +180%)</a:t>
            </a:r>
            <a:endParaRPr lang="en-US" sz="800" dirty="0"/>
          </a:p>
        </p:txBody>
      </p:sp>
      <p:sp>
        <p:nvSpPr>
          <p:cNvPr id="66" name="Shape 64"/>
          <p:cNvSpPr/>
          <p:nvPr/>
        </p:nvSpPr>
        <p:spPr>
          <a:xfrm>
            <a:off x="9738360" y="73152"/>
            <a:ext cx="2350008" cy="256032"/>
          </a:xfrm>
          <a:prstGeom prst="rect">
            <a:avLst/>
          </a:prstGeom>
          <a:solidFill>
            <a:srgbClr val="1E6FA8"/>
          </a:solidFill>
          <a:ln w="12700">
            <a:solidFill>
              <a:srgbClr val="1E6FA8"/>
            </a:solidFill>
            <a:prstDash val="solid"/>
          </a:ln>
        </p:spPr>
      </p:sp>
      <p:sp>
        <p:nvSpPr>
          <p:cNvPr id="67" name="Text 65"/>
          <p:cNvSpPr/>
          <p:nvPr/>
        </p:nvSpPr>
        <p:spPr>
          <a:xfrm>
            <a:off x="9738360" y="73152"/>
            <a:ext cx="235000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</a:rPr>
              <a:t>OBSERVABILIDADE</a:t>
            </a:r>
            <a:endParaRPr lang="en-US" sz="850" dirty="0"/>
          </a:p>
        </p:txBody>
      </p:sp>
      <p:sp>
        <p:nvSpPr>
          <p:cNvPr id="68" name="Shape 66"/>
          <p:cNvSpPr/>
          <p:nvPr/>
        </p:nvSpPr>
        <p:spPr>
          <a:xfrm>
            <a:off x="9738360" y="329184"/>
            <a:ext cx="2350008" cy="1755648"/>
          </a:xfrm>
          <a:prstGeom prst="rect">
            <a:avLst/>
          </a:prstGeom>
          <a:solidFill>
            <a:srgbClr val="FFFFFF"/>
          </a:solidFill>
          <a:ln w="12700">
            <a:solidFill>
              <a:srgbClr val="DDDDDD"/>
            </a:solidFill>
            <a:prstDash val="solid"/>
          </a:ln>
          <a:effectLst>
            <a:outerShdw sx="100000" sy="100000" kx="0" ky="0" algn="bl" rotWithShape="0" blurRad="38100" dist="25400" dir="5400000">
              <a:srgbClr val="CCCCCC">
                <a:alpha val="25000"/>
              </a:srgbClr>
            </a:outerShdw>
          </a:effectLst>
        </p:spPr>
      </p:sp>
      <p:sp>
        <p:nvSpPr>
          <p:cNvPr id="69" name="Text 67"/>
          <p:cNvSpPr/>
          <p:nvPr/>
        </p:nvSpPr>
        <p:spPr>
          <a:xfrm>
            <a:off x="9811512" y="402336"/>
            <a:ext cx="220370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50" dirty="0">
                <a:solidFill>
                  <a:srgbClr val="222222"/>
                </a:solidFill>
              </a:rPr>
              <a:t>17 Stories · 1 NFT · 124 itens</a:t>
            </a:r>
            <a:endParaRPr lang="en-US" sz="750" dirty="0"/>
          </a:p>
        </p:txBody>
      </p:sp>
      <p:sp>
        <p:nvSpPr>
          <p:cNvPr id="70" name="Text 68"/>
          <p:cNvSpPr/>
          <p:nvPr/>
        </p:nvSpPr>
        <p:spPr>
          <a:xfrm>
            <a:off x="9811512" y="566928"/>
            <a:ext cx="2203704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50" dirty="0">
                <a:solidFill>
                  <a:srgbClr val="222222"/>
                </a:solidFill>
              </a:rPr>
              <a:t>A Fazer: 27 . Em progresso: 5 . Finalizados: 92</a:t>
            </a:r>
            <a:endParaRPr lang="en-US" sz="750" dirty="0"/>
          </a:p>
        </p:txBody>
      </p:sp>
      <p:sp>
        <p:nvSpPr>
          <p:cNvPr id="71" name="Text 69"/>
          <p:cNvSpPr/>
          <p:nvPr/>
        </p:nvSpPr>
        <p:spPr>
          <a:xfrm>
            <a:off x="9811512" y="713232"/>
            <a:ext cx="2203704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50" dirty="0">
                <a:solidFill>
                  <a:srgbClr val="222222"/>
                </a:solidFill>
              </a:rPr>
              <a:t>Est: 499.5h . Real: 264.8h . Rem: 111h</a:t>
            </a:r>
            <a:endParaRPr lang="en-US" sz="750" dirty="0"/>
          </a:p>
        </p:txBody>
      </p:sp>
      <p:sp>
        <p:nvSpPr>
          <p:cNvPr id="72" name="Shape 70"/>
          <p:cNvSpPr/>
          <p:nvPr/>
        </p:nvSpPr>
        <p:spPr>
          <a:xfrm>
            <a:off x="9811512" y="859536"/>
            <a:ext cx="2203704" cy="50292"/>
          </a:xfrm>
          <a:prstGeom prst="rect">
            <a:avLst/>
          </a:prstGeom>
          <a:solidFill>
            <a:srgbClr val="E8EDF2"/>
          </a:solidFill>
          <a:ln w="12700">
            <a:solidFill>
              <a:srgbClr val="E8EDF2"/>
            </a:solidFill>
            <a:prstDash val="solid"/>
          </a:ln>
        </p:spPr>
      </p:sp>
      <p:sp>
        <p:nvSpPr>
          <p:cNvPr id="73" name="Shape 71"/>
          <p:cNvSpPr/>
          <p:nvPr/>
        </p:nvSpPr>
        <p:spPr>
          <a:xfrm>
            <a:off x="9811512" y="859536"/>
            <a:ext cx="0" cy="50292"/>
          </a:xfrm>
          <a:prstGeom prst="rect">
            <a:avLst/>
          </a:prstGeom>
          <a:solidFill>
            <a:srgbClr val="1E6FA8"/>
          </a:solidFill>
          <a:ln w="12700">
            <a:solidFill>
              <a:srgbClr val="1E6FA8"/>
            </a:solidFill>
            <a:prstDash val="solid"/>
          </a:ln>
        </p:spPr>
      </p:sp>
      <p:sp>
        <p:nvSpPr>
          <p:cNvPr id="74" name="Text 72"/>
          <p:cNvSpPr/>
          <p:nvPr/>
        </p:nvSpPr>
        <p:spPr>
          <a:xfrm>
            <a:off x="9811512" y="914400"/>
            <a:ext cx="2203704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650" dirty="0">
                <a:solidFill>
                  <a:srgbClr val="888888"/>
                </a:solidFill>
              </a:rPr>
              <a:t>Stories/NFTs: 0% · 0 de 18</a:t>
            </a:r>
            <a:endParaRPr lang="en-US" sz="650" dirty="0"/>
          </a:p>
        </p:txBody>
      </p:sp>
      <p:sp>
        <p:nvSpPr>
          <p:cNvPr id="75" name="Shape 73"/>
          <p:cNvSpPr/>
          <p:nvPr/>
        </p:nvSpPr>
        <p:spPr>
          <a:xfrm>
            <a:off x="9811512" y="1033272"/>
            <a:ext cx="2203704" cy="50292"/>
          </a:xfrm>
          <a:prstGeom prst="rect">
            <a:avLst/>
          </a:prstGeom>
          <a:solidFill>
            <a:srgbClr val="E8EDF2"/>
          </a:solidFill>
          <a:ln w="12700">
            <a:solidFill>
              <a:srgbClr val="E8EDF2"/>
            </a:solidFill>
            <a:prstDash val="solid"/>
          </a:ln>
        </p:spPr>
      </p:sp>
      <p:sp>
        <p:nvSpPr>
          <p:cNvPr id="76" name="Shape 74"/>
          <p:cNvSpPr/>
          <p:nvPr/>
        </p:nvSpPr>
        <p:spPr>
          <a:xfrm>
            <a:off x="9811512" y="1033272"/>
            <a:ext cx="1630741" cy="50292"/>
          </a:xfrm>
          <a:prstGeom prst="rect">
            <a:avLst/>
          </a:prstGeom>
          <a:solidFill>
            <a:srgbClr val="1E6FA8"/>
          </a:solidFill>
          <a:ln w="12700">
            <a:solidFill>
              <a:srgbClr val="1E6FA8"/>
            </a:solidFill>
            <a:prstDash val="solid"/>
          </a:ln>
        </p:spPr>
      </p:sp>
      <p:sp>
        <p:nvSpPr>
          <p:cNvPr id="77" name="Text 75"/>
          <p:cNvSpPr/>
          <p:nvPr/>
        </p:nvSpPr>
        <p:spPr>
          <a:xfrm>
            <a:off x="9811512" y="1088136"/>
            <a:ext cx="2203704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650" dirty="0">
                <a:solidFill>
                  <a:srgbClr val="888888"/>
                </a:solidFill>
              </a:rPr>
              <a:t>Subs: 74% · 92 de 124</a:t>
            </a:r>
            <a:endParaRPr lang="en-US" sz="650" dirty="0"/>
          </a:p>
        </p:txBody>
      </p:sp>
      <p:sp>
        <p:nvSpPr>
          <p:cNvPr id="78" name="Text 76"/>
          <p:cNvSpPr/>
          <p:nvPr/>
        </p:nvSpPr>
        <p:spPr>
          <a:xfrm>
            <a:off x="9811512" y="1234440"/>
            <a:ext cx="220370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b="1" dirty="0">
                <a:solidFill>
                  <a:srgbClr val="1D9E75"/>
                </a:solidFill>
              </a:rPr>
              <a:t>Projetado: 375.8h (-123.7h / -25%)</a:t>
            </a:r>
            <a:endParaRPr lang="en-US" sz="800" dirty="0"/>
          </a:p>
        </p:txBody>
      </p:sp>
      <p:sp>
        <p:nvSpPr>
          <p:cNvPr id="79" name="Shape 77"/>
          <p:cNvSpPr/>
          <p:nvPr/>
        </p:nvSpPr>
        <p:spPr>
          <a:xfrm>
            <a:off x="2441448" y="2121408"/>
            <a:ext cx="9646920" cy="859536"/>
          </a:xfrm>
          <a:prstGeom prst="rect">
            <a:avLst/>
          </a:prstGeom>
          <a:solidFill>
            <a:srgbClr val="FFFFFF"/>
          </a:solidFill>
          <a:ln w="12700">
            <a:solidFill>
              <a:srgbClr val="DDDDDD"/>
            </a:solidFill>
            <a:prstDash val="solid"/>
          </a:ln>
          <a:effectLst>
            <a:outerShdw sx="100000" sy="100000" kx="0" ky="0" algn="bl" rotWithShape="0" blurRad="38100" dist="25400" dir="5400000">
              <a:srgbClr val="CCCCCC">
                <a:alpha val="25000"/>
              </a:srgbClr>
            </a:outerShdw>
          </a:effectLst>
        </p:spPr>
      </p:sp>
      <p:sp>
        <p:nvSpPr>
          <p:cNvPr id="80" name="Text 78"/>
          <p:cNvSpPr/>
          <p:nvPr/>
        </p:nvSpPr>
        <p:spPr>
          <a:xfrm>
            <a:off x="2532888" y="2176272"/>
            <a:ext cx="946404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00" spc="200" kern="0" dirty="0">
                <a:solidFill>
                  <a:srgbClr val="888888"/>
                </a:solidFill>
              </a:rPr>
              <a:t>HORAS - ESTIMADO vs. PROJETADO</a:t>
            </a:r>
            <a:endParaRPr lang="en-US" sz="700" dirty="0"/>
          </a:p>
        </p:txBody>
      </p:sp>
      <p:sp>
        <p:nvSpPr>
          <p:cNvPr id="81" name="Text 79"/>
          <p:cNvSpPr/>
          <p:nvPr/>
        </p:nvSpPr>
        <p:spPr>
          <a:xfrm>
            <a:off x="2532888" y="2322576"/>
            <a:ext cx="222885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00" b="1" spc="100" kern="0" dirty="0">
                <a:solidFill>
                  <a:srgbClr val="888888"/>
                </a:solidFill>
              </a:rPr>
              <a:t>PLANEJADO</a:t>
            </a:r>
            <a:endParaRPr lang="en-US" sz="700" dirty="0"/>
          </a:p>
        </p:txBody>
      </p:sp>
      <p:sp>
        <p:nvSpPr>
          <p:cNvPr id="82" name="Text 80"/>
          <p:cNvSpPr/>
          <p:nvPr/>
        </p:nvSpPr>
        <p:spPr>
          <a:xfrm>
            <a:off x="2532888" y="2450592"/>
            <a:ext cx="222885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222222"/>
                </a:solidFill>
              </a:rPr>
              <a:t>1249h</a:t>
            </a:r>
            <a:endParaRPr lang="en-US" sz="2400" dirty="0"/>
          </a:p>
        </p:txBody>
      </p:sp>
      <p:sp>
        <p:nvSpPr>
          <p:cNvPr id="83" name="Text 81"/>
          <p:cNvSpPr/>
          <p:nvPr/>
        </p:nvSpPr>
        <p:spPr>
          <a:xfrm>
            <a:off x="2532888" y="2779776"/>
            <a:ext cx="222885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00" dirty="0">
                <a:solidFill>
                  <a:srgbClr val="888888"/>
                </a:solidFill>
              </a:rPr>
              <a:t>original estimate</a:t>
            </a:r>
            <a:endParaRPr lang="en-US" sz="700" dirty="0"/>
          </a:p>
        </p:txBody>
      </p:sp>
      <p:sp>
        <p:nvSpPr>
          <p:cNvPr id="84" name="Shape 82"/>
          <p:cNvSpPr/>
          <p:nvPr/>
        </p:nvSpPr>
        <p:spPr>
          <a:xfrm>
            <a:off x="4853178" y="2322576"/>
            <a:ext cx="9144" cy="603504"/>
          </a:xfrm>
          <a:prstGeom prst="rect">
            <a:avLst/>
          </a:prstGeom>
          <a:solidFill>
            <a:srgbClr val="E8EDF2"/>
          </a:solidFill>
          <a:ln w="12700">
            <a:solidFill>
              <a:srgbClr val="E8EDF2"/>
            </a:solidFill>
            <a:prstDash val="solid"/>
          </a:ln>
        </p:spPr>
      </p:sp>
      <p:sp>
        <p:nvSpPr>
          <p:cNvPr id="85" name="Text 83"/>
          <p:cNvSpPr/>
          <p:nvPr/>
        </p:nvSpPr>
        <p:spPr>
          <a:xfrm>
            <a:off x="4944618" y="2322576"/>
            <a:ext cx="222885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00" b="1" spc="100" kern="0" dirty="0">
                <a:solidFill>
                  <a:srgbClr val="888888"/>
                </a:solidFill>
              </a:rPr>
              <a:t>JA GASTO</a:t>
            </a:r>
            <a:endParaRPr lang="en-US" sz="700" dirty="0"/>
          </a:p>
        </p:txBody>
      </p:sp>
      <p:sp>
        <p:nvSpPr>
          <p:cNvPr id="86" name="Text 84"/>
          <p:cNvSpPr/>
          <p:nvPr/>
        </p:nvSpPr>
        <p:spPr>
          <a:xfrm>
            <a:off x="4944618" y="2450592"/>
            <a:ext cx="222885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D97706"/>
                </a:solidFill>
              </a:rPr>
              <a:t>1310.7h</a:t>
            </a:r>
            <a:endParaRPr lang="en-US" sz="2400" dirty="0"/>
          </a:p>
        </p:txBody>
      </p:sp>
      <p:sp>
        <p:nvSpPr>
          <p:cNvPr id="87" name="Text 85"/>
          <p:cNvSpPr/>
          <p:nvPr/>
        </p:nvSpPr>
        <p:spPr>
          <a:xfrm>
            <a:off x="4944618" y="2779776"/>
            <a:ext cx="222885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00" dirty="0">
                <a:solidFill>
                  <a:srgbClr val="888888"/>
                </a:solidFill>
              </a:rPr>
              <a:t>completed work</a:t>
            </a:r>
            <a:endParaRPr lang="en-US" sz="700" dirty="0"/>
          </a:p>
        </p:txBody>
      </p:sp>
      <p:sp>
        <p:nvSpPr>
          <p:cNvPr id="88" name="Shape 86"/>
          <p:cNvSpPr/>
          <p:nvPr/>
        </p:nvSpPr>
        <p:spPr>
          <a:xfrm>
            <a:off x="7264908" y="2322576"/>
            <a:ext cx="9144" cy="603504"/>
          </a:xfrm>
          <a:prstGeom prst="rect">
            <a:avLst/>
          </a:prstGeom>
          <a:solidFill>
            <a:srgbClr val="E8EDF2"/>
          </a:solidFill>
          <a:ln w="12700">
            <a:solidFill>
              <a:srgbClr val="E8EDF2"/>
            </a:solidFill>
            <a:prstDash val="solid"/>
          </a:ln>
        </p:spPr>
      </p:sp>
      <p:sp>
        <p:nvSpPr>
          <p:cNvPr id="89" name="Text 87"/>
          <p:cNvSpPr/>
          <p:nvPr/>
        </p:nvSpPr>
        <p:spPr>
          <a:xfrm>
            <a:off x="7356348" y="2322576"/>
            <a:ext cx="222885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00" b="1" spc="100" kern="0" dirty="0">
                <a:solidFill>
                  <a:srgbClr val="888888"/>
                </a:solidFill>
              </a:rPr>
              <a:t>FALTA</a:t>
            </a:r>
            <a:endParaRPr lang="en-US" sz="700" dirty="0"/>
          </a:p>
        </p:txBody>
      </p:sp>
      <p:sp>
        <p:nvSpPr>
          <p:cNvPr id="90" name="Text 88"/>
          <p:cNvSpPr/>
          <p:nvPr/>
        </p:nvSpPr>
        <p:spPr>
          <a:xfrm>
            <a:off x="7356348" y="2450592"/>
            <a:ext cx="222885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F87171"/>
                </a:solidFill>
              </a:rPr>
              <a:t>120h</a:t>
            </a:r>
            <a:endParaRPr lang="en-US" sz="2400" dirty="0"/>
          </a:p>
        </p:txBody>
      </p:sp>
      <p:sp>
        <p:nvSpPr>
          <p:cNvPr id="91" name="Text 89"/>
          <p:cNvSpPr/>
          <p:nvPr/>
        </p:nvSpPr>
        <p:spPr>
          <a:xfrm>
            <a:off x="7356348" y="2779776"/>
            <a:ext cx="222885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00" dirty="0">
                <a:solidFill>
                  <a:srgbClr val="888888"/>
                </a:solidFill>
              </a:rPr>
              <a:t>remaining (devs)</a:t>
            </a:r>
            <a:endParaRPr lang="en-US" sz="700" dirty="0"/>
          </a:p>
        </p:txBody>
      </p:sp>
      <p:sp>
        <p:nvSpPr>
          <p:cNvPr id="92" name="Shape 90"/>
          <p:cNvSpPr/>
          <p:nvPr/>
        </p:nvSpPr>
        <p:spPr>
          <a:xfrm>
            <a:off x="9676638" y="2322576"/>
            <a:ext cx="9144" cy="603504"/>
          </a:xfrm>
          <a:prstGeom prst="rect">
            <a:avLst/>
          </a:prstGeom>
          <a:solidFill>
            <a:srgbClr val="E8EDF2"/>
          </a:solidFill>
          <a:ln w="12700">
            <a:solidFill>
              <a:srgbClr val="E8EDF2"/>
            </a:solidFill>
            <a:prstDash val="solid"/>
          </a:ln>
        </p:spPr>
      </p:sp>
      <p:sp>
        <p:nvSpPr>
          <p:cNvPr id="93" name="Text 91"/>
          <p:cNvSpPr/>
          <p:nvPr/>
        </p:nvSpPr>
        <p:spPr>
          <a:xfrm>
            <a:off x="9768078" y="2322576"/>
            <a:ext cx="222885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00" b="1" spc="100" kern="0" dirty="0">
                <a:solidFill>
                  <a:srgbClr val="888888"/>
                </a:solidFill>
              </a:rPr>
              <a:t>AUMENTO DE ESFORCO</a:t>
            </a:r>
            <a:endParaRPr lang="en-US" sz="700" dirty="0"/>
          </a:p>
        </p:txBody>
      </p:sp>
      <p:sp>
        <p:nvSpPr>
          <p:cNvPr id="94" name="Text 92"/>
          <p:cNvSpPr/>
          <p:nvPr/>
        </p:nvSpPr>
        <p:spPr>
          <a:xfrm>
            <a:off x="9768078" y="2450592"/>
            <a:ext cx="222885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D97706"/>
                </a:solidFill>
              </a:rPr>
              <a:t>+181.7h</a:t>
            </a:r>
            <a:endParaRPr lang="en-US" sz="2400" dirty="0"/>
          </a:p>
        </p:txBody>
      </p:sp>
      <p:sp>
        <p:nvSpPr>
          <p:cNvPr id="95" name="Text 93"/>
          <p:cNvSpPr/>
          <p:nvPr/>
        </p:nvSpPr>
        <p:spPr>
          <a:xfrm>
            <a:off x="9768078" y="2779776"/>
            <a:ext cx="222885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00" dirty="0">
                <a:solidFill>
                  <a:srgbClr val="888888"/>
                </a:solidFill>
              </a:rPr>
              <a:t>projetado: 1430.7h (+15%)</a:t>
            </a:r>
            <a:endParaRPr lang="en-US" sz="700" dirty="0"/>
          </a:p>
        </p:txBody>
      </p:sp>
      <p:sp>
        <p:nvSpPr>
          <p:cNvPr id="96" name="Shape 94"/>
          <p:cNvSpPr/>
          <p:nvPr/>
        </p:nvSpPr>
        <p:spPr>
          <a:xfrm>
            <a:off x="2441448" y="2916936"/>
            <a:ext cx="8837784" cy="54864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97" name="Shape 95"/>
          <p:cNvSpPr/>
          <p:nvPr/>
        </p:nvSpPr>
        <p:spPr>
          <a:xfrm>
            <a:off x="11279232" y="2916936"/>
            <a:ext cx="809136" cy="54864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98" name="Shape 96"/>
          <p:cNvSpPr/>
          <p:nvPr/>
        </p:nvSpPr>
        <p:spPr>
          <a:xfrm>
            <a:off x="2441448" y="3008376"/>
            <a:ext cx="4777740" cy="877824"/>
          </a:xfrm>
          <a:prstGeom prst="rect">
            <a:avLst/>
          </a:prstGeom>
          <a:solidFill>
            <a:srgbClr val="FFFFFF"/>
          </a:solidFill>
          <a:ln w="12700">
            <a:solidFill>
              <a:srgbClr val="DDDDDD"/>
            </a:solidFill>
            <a:prstDash val="solid"/>
          </a:ln>
          <a:effectLst>
            <a:outerShdw sx="100000" sy="100000" kx="0" ky="0" algn="bl" rotWithShape="0" blurRad="38100" dist="25400" dir="5400000">
              <a:srgbClr val="CCCCCC">
                <a:alpha val="25000"/>
              </a:srgbClr>
            </a:outerShdw>
          </a:effectLst>
        </p:spPr>
      </p:sp>
      <p:sp>
        <p:nvSpPr>
          <p:cNvPr id="99" name="Text 97"/>
          <p:cNvSpPr/>
          <p:nvPr/>
        </p:nvSpPr>
        <p:spPr>
          <a:xfrm>
            <a:off x="2551176" y="3081528"/>
            <a:ext cx="400964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b="1" dirty="0">
                <a:solidFill>
                  <a:srgbClr val="1F2937"/>
                </a:solidFill>
              </a:rPr>
              <a:t>Entrega 1 · Resiliencia Sistemica</a:t>
            </a:r>
            <a:endParaRPr lang="en-US" sz="800" dirty="0"/>
          </a:p>
        </p:txBody>
      </p:sp>
      <p:sp>
        <p:nvSpPr>
          <p:cNvPr id="100" name="Shape 98"/>
          <p:cNvSpPr/>
          <p:nvPr/>
        </p:nvSpPr>
        <p:spPr>
          <a:xfrm>
            <a:off x="6560820" y="3072384"/>
            <a:ext cx="566928" cy="182880"/>
          </a:xfrm>
          <a:prstGeom prst="rect">
            <a:avLst>
              <a:gd name="adj" fmla="val 40000"/>
            </a:avLst>
          </a:prstGeom>
          <a:solidFill>
            <a:srgbClr val="E1F5EE"/>
          </a:solidFill>
          <a:ln w="12700">
            <a:solidFill>
              <a:srgbClr val="E1F5EE"/>
            </a:solidFill>
            <a:prstDash val="solid"/>
          </a:ln>
        </p:spPr>
      </p:sp>
      <p:sp>
        <p:nvSpPr>
          <p:cNvPr id="101" name="Text 99"/>
          <p:cNvSpPr/>
          <p:nvPr/>
        </p:nvSpPr>
        <p:spPr>
          <a:xfrm>
            <a:off x="6560820" y="3072384"/>
            <a:ext cx="56692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b="1" dirty="0">
                <a:solidFill>
                  <a:srgbClr val="0F6E56"/>
                </a:solidFill>
              </a:rPr>
              <a:t>97% concluido</a:t>
            </a:r>
            <a:endParaRPr lang="en-US" sz="650" dirty="0"/>
          </a:p>
        </p:txBody>
      </p:sp>
      <p:sp>
        <p:nvSpPr>
          <p:cNvPr id="102" name="Shape 100"/>
          <p:cNvSpPr/>
          <p:nvPr/>
        </p:nvSpPr>
        <p:spPr>
          <a:xfrm>
            <a:off x="2551176" y="3291840"/>
            <a:ext cx="4558284" cy="64008"/>
          </a:xfrm>
          <a:prstGeom prst="rect">
            <a:avLst/>
          </a:prstGeom>
          <a:solidFill>
            <a:srgbClr val="E1F5EE"/>
          </a:solidFill>
          <a:ln w="12700">
            <a:solidFill>
              <a:srgbClr val="E1F5EE"/>
            </a:solidFill>
            <a:prstDash val="solid"/>
          </a:ln>
        </p:spPr>
      </p:sp>
      <p:sp>
        <p:nvSpPr>
          <p:cNvPr id="103" name="Shape 101"/>
          <p:cNvSpPr/>
          <p:nvPr/>
        </p:nvSpPr>
        <p:spPr>
          <a:xfrm>
            <a:off x="2551176" y="3291840"/>
            <a:ext cx="4421535" cy="64008"/>
          </a:xfrm>
          <a:prstGeom prst="rect">
            <a:avLst/>
          </a:prstGeom>
          <a:solidFill>
            <a:srgbClr val="1D9E75"/>
          </a:solidFill>
          <a:ln w="12700">
            <a:solidFill>
              <a:srgbClr val="1D9E75"/>
            </a:solidFill>
            <a:prstDash val="solid"/>
          </a:ln>
        </p:spPr>
      </p:sp>
      <p:sp>
        <p:nvSpPr>
          <p:cNvPr id="104" name="Shape 102"/>
          <p:cNvSpPr/>
          <p:nvPr/>
        </p:nvSpPr>
        <p:spPr>
          <a:xfrm>
            <a:off x="2551176" y="3410712"/>
            <a:ext cx="1482852" cy="201168"/>
          </a:xfrm>
          <a:prstGeom prst="rect">
            <a:avLst/>
          </a:prstGeom>
          <a:solidFill>
            <a:srgbClr val="1D9E75"/>
          </a:solidFill>
          <a:ln w="12700">
            <a:solidFill>
              <a:srgbClr val="1D9E75"/>
            </a:solidFill>
            <a:prstDash val="solid"/>
          </a:ln>
        </p:spPr>
      </p:sp>
      <p:sp>
        <p:nvSpPr>
          <p:cNvPr id="105" name="Text 103"/>
          <p:cNvSpPr/>
          <p:nvPr/>
        </p:nvSpPr>
        <p:spPr>
          <a:xfrm>
            <a:off x="2551176" y="3410712"/>
            <a:ext cx="148285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b="1" dirty="0">
                <a:solidFill>
                  <a:srgbClr val="FFFFFF"/>
                </a:solidFill>
              </a:rPr>
              <a:t>PROJETADO</a:t>
            </a:r>
            <a:endParaRPr lang="en-US" sz="650" dirty="0"/>
          </a:p>
        </p:txBody>
      </p:sp>
      <p:sp>
        <p:nvSpPr>
          <p:cNvPr id="106" name="Text 104"/>
          <p:cNvSpPr/>
          <p:nvPr/>
        </p:nvSpPr>
        <p:spPr>
          <a:xfrm>
            <a:off x="2551176" y="3630168"/>
            <a:ext cx="148285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1D9E75"/>
                </a:solidFill>
              </a:rPr>
              <a:t>02/07/2026</a:t>
            </a:r>
            <a:endParaRPr lang="en-US" sz="1050" dirty="0"/>
          </a:p>
        </p:txBody>
      </p:sp>
      <p:sp>
        <p:nvSpPr>
          <p:cNvPr id="107" name="Shape 105"/>
          <p:cNvSpPr/>
          <p:nvPr/>
        </p:nvSpPr>
        <p:spPr>
          <a:xfrm>
            <a:off x="4070604" y="3410712"/>
            <a:ext cx="1482852" cy="201168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108" name="Text 106"/>
          <p:cNvSpPr/>
          <p:nvPr/>
        </p:nvSpPr>
        <p:spPr>
          <a:xfrm>
            <a:off x="4070604" y="3410712"/>
            <a:ext cx="148285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b="1" dirty="0">
                <a:solidFill>
                  <a:srgbClr val="FFFFFF"/>
                </a:solidFill>
              </a:rPr>
              <a:t>BASE</a:t>
            </a:r>
            <a:endParaRPr lang="en-US" sz="650" dirty="0"/>
          </a:p>
        </p:txBody>
      </p:sp>
      <p:sp>
        <p:nvSpPr>
          <p:cNvPr id="109" name="Text 107"/>
          <p:cNvSpPr/>
          <p:nvPr/>
        </p:nvSpPr>
        <p:spPr>
          <a:xfrm>
            <a:off x="4070604" y="3630168"/>
            <a:ext cx="148285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D97706"/>
                </a:solidFill>
              </a:rPr>
              <a:t>15/05/2026</a:t>
            </a:r>
            <a:endParaRPr lang="en-US" sz="1050" dirty="0"/>
          </a:p>
        </p:txBody>
      </p:sp>
      <p:sp>
        <p:nvSpPr>
          <p:cNvPr id="110" name="Shape 108"/>
          <p:cNvSpPr/>
          <p:nvPr/>
        </p:nvSpPr>
        <p:spPr>
          <a:xfrm>
            <a:off x="5590032" y="3410712"/>
            <a:ext cx="1482852" cy="201168"/>
          </a:xfrm>
          <a:prstGeom prst="rect">
            <a:avLst/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111" name="Text 109"/>
          <p:cNvSpPr/>
          <p:nvPr/>
        </p:nvSpPr>
        <p:spPr>
          <a:xfrm>
            <a:off x="5590032" y="3410712"/>
            <a:ext cx="148285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b="1" dirty="0">
                <a:solidFill>
                  <a:srgbClr val="FFFFFF"/>
                </a:solidFill>
              </a:rPr>
              <a:t>PESSIMISTA</a:t>
            </a:r>
            <a:endParaRPr lang="en-US" sz="650" dirty="0"/>
          </a:p>
        </p:txBody>
      </p:sp>
      <p:sp>
        <p:nvSpPr>
          <p:cNvPr id="112" name="Text 110"/>
          <p:cNvSpPr/>
          <p:nvPr/>
        </p:nvSpPr>
        <p:spPr>
          <a:xfrm>
            <a:off x="5590032" y="3630168"/>
            <a:ext cx="148285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DC2626"/>
                </a:solidFill>
              </a:rPr>
              <a:t>29/05/2026</a:t>
            </a:r>
            <a:endParaRPr lang="en-US" sz="1050" dirty="0"/>
          </a:p>
        </p:txBody>
      </p:sp>
      <p:sp>
        <p:nvSpPr>
          <p:cNvPr id="113" name="Shape 111"/>
          <p:cNvSpPr/>
          <p:nvPr/>
        </p:nvSpPr>
        <p:spPr>
          <a:xfrm>
            <a:off x="7310628" y="3008376"/>
            <a:ext cx="4777740" cy="877824"/>
          </a:xfrm>
          <a:prstGeom prst="rect">
            <a:avLst/>
          </a:prstGeom>
          <a:solidFill>
            <a:srgbClr val="FFFFFF"/>
          </a:solidFill>
          <a:ln w="12700">
            <a:solidFill>
              <a:srgbClr val="DDDDDD"/>
            </a:solidFill>
            <a:prstDash val="solid"/>
          </a:ln>
          <a:effectLst>
            <a:outerShdw sx="100000" sy="100000" kx="0" ky="0" algn="bl" rotWithShape="0" blurRad="38100" dist="25400" dir="5400000">
              <a:srgbClr val="CCCCCC">
                <a:alpha val="25000"/>
              </a:srgbClr>
            </a:outerShdw>
          </a:effectLst>
        </p:spPr>
      </p:sp>
      <p:sp>
        <p:nvSpPr>
          <p:cNvPr id="114" name="Text 112"/>
          <p:cNvSpPr/>
          <p:nvPr/>
        </p:nvSpPr>
        <p:spPr>
          <a:xfrm>
            <a:off x="7420356" y="3081528"/>
            <a:ext cx="400964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b="1" dirty="0">
                <a:solidFill>
                  <a:srgbClr val="1F2937"/>
                </a:solidFill>
              </a:rPr>
              <a:t>Entrega 2 · Observabilidade</a:t>
            </a:r>
            <a:endParaRPr lang="en-US" sz="800" dirty="0"/>
          </a:p>
        </p:txBody>
      </p:sp>
      <p:sp>
        <p:nvSpPr>
          <p:cNvPr id="115" name="Shape 113"/>
          <p:cNvSpPr/>
          <p:nvPr/>
        </p:nvSpPr>
        <p:spPr>
          <a:xfrm>
            <a:off x="11430000" y="3072384"/>
            <a:ext cx="566928" cy="182880"/>
          </a:xfrm>
          <a:prstGeom prst="rect">
            <a:avLst>
              <a:gd name="adj" fmla="val 40000"/>
            </a:avLst>
          </a:prstGeom>
          <a:solidFill>
            <a:srgbClr val="FEE2E2"/>
          </a:solidFill>
          <a:ln w="12700">
            <a:solidFill>
              <a:srgbClr val="FEE2E2"/>
            </a:solidFill>
            <a:prstDash val="solid"/>
          </a:ln>
        </p:spPr>
      </p:sp>
      <p:sp>
        <p:nvSpPr>
          <p:cNvPr id="116" name="Text 114"/>
          <p:cNvSpPr/>
          <p:nvPr/>
        </p:nvSpPr>
        <p:spPr>
          <a:xfrm>
            <a:off x="11430000" y="3072384"/>
            <a:ext cx="56692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b="1" dirty="0">
                <a:solidFill>
                  <a:srgbClr val="991B1B"/>
                </a:solidFill>
              </a:rPr>
              <a:t>74% concluido</a:t>
            </a:r>
            <a:endParaRPr lang="en-US" sz="650" dirty="0"/>
          </a:p>
        </p:txBody>
      </p:sp>
      <p:sp>
        <p:nvSpPr>
          <p:cNvPr id="117" name="Shape 115"/>
          <p:cNvSpPr/>
          <p:nvPr/>
        </p:nvSpPr>
        <p:spPr>
          <a:xfrm>
            <a:off x="7420356" y="3291840"/>
            <a:ext cx="4558284" cy="64008"/>
          </a:xfrm>
          <a:prstGeom prst="rect">
            <a:avLst/>
          </a:prstGeom>
          <a:solidFill>
            <a:srgbClr val="E6F1FB"/>
          </a:solidFill>
          <a:ln w="12700">
            <a:solidFill>
              <a:srgbClr val="E6F1FB"/>
            </a:solidFill>
            <a:prstDash val="solid"/>
          </a:ln>
        </p:spPr>
      </p:sp>
      <p:sp>
        <p:nvSpPr>
          <p:cNvPr id="118" name="Shape 116"/>
          <p:cNvSpPr/>
          <p:nvPr/>
        </p:nvSpPr>
        <p:spPr>
          <a:xfrm>
            <a:off x="7420356" y="3291840"/>
            <a:ext cx="3373130" cy="64008"/>
          </a:xfrm>
          <a:prstGeom prst="rect">
            <a:avLst/>
          </a:prstGeom>
          <a:solidFill>
            <a:srgbClr val="1E6FA8"/>
          </a:solidFill>
          <a:ln w="12700">
            <a:solidFill>
              <a:srgbClr val="1E6FA8"/>
            </a:solidFill>
            <a:prstDash val="solid"/>
          </a:ln>
        </p:spPr>
      </p:sp>
      <p:sp>
        <p:nvSpPr>
          <p:cNvPr id="119" name="Shape 117"/>
          <p:cNvSpPr/>
          <p:nvPr/>
        </p:nvSpPr>
        <p:spPr>
          <a:xfrm>
            <a:off x="7420356" y="3410712"/>
            <a:ext cx="1482852" cy="201168"/>
          </a:xfrm>
          <a:prstGeom prst="rect">
            <a:avLst/>
          </a:prstGeom>
          <a:solidFill>
            <a:srgbClr val="1D9E75"/>
          </a:solidFill>
          <a:ln w="12700">
            <a:solidFill>
              <a:srgbClr val="1D9E75"/>
            </a:solidFill>
            <a:prstDash val="solid"/>
          </a:ln>
        </p:spPr>
      </p:sp>
      <p:sp>
        <p:nvSpPr>
          <p:cNvPr id="120" name="Text 118"/>
          <p:cNvSpPr/>
          <p:nvPr/>
        </p:nvSpPr>
        <p:spPr>
          <a:xfrm>
            <a:off x="7420356" y="3410712"/>
            <a:ext cx="148285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b="1" dirty="0">
                <a:solidFill>
                  <a:srgbClr val="FFFFFF"/>
                </a:solidFill>
              </a:rPr>
              <a:t>PROJETADO</a:t>
            </a:r>
            <a:endParaRPr lang="en-US" sz="650" dirty="0"/>
          </a:p>
        </p:txBody>
      </p:sp>
      <p:sp>
        <p:nvSpPr>
          <p:cNvPr id="121" name="Text 119"/>
          <p:cNvSpPr/>
          <p:nvPr/>
        </p:nvSpPr>
        <p:spPr>
          <a:xfrm>
            <a:off x="7420356" y="3630168"/>
            <a:ext cx="148285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1D9E75"/>
                </a:solidFill>
              </a:rPr>
              <a:t>09/07/2026</a:t>
            </a:r>
            <a:endParaRPr lang="en-US" sz="1050" dirty="0"/>
          </a:p>
        </p:txBody>
      </p:sp>
      <p:sp>
        <p:nvSpPr>
          <p:cNvPr id="122" name="Shape 120"/>
          <p:cNvSpPr/>
          <p:nvPr/>
        </p:nvSpPr>
        <p:spPr>
          <a:xfrm>
            <a:off x="8939784" y="3410712"/>
            <a:ext cx="1482852" cy="201168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123" name="Text 121"/>
          <p:cNvSpPr/>
          <p:nvPr/>
        </p:nvSpPr>
        <p:spPr>
          <a:xfrm>
            <a:off x="8939784" y="3410712"/>
            <a:ext cx="148285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b="1" dirty="0">
                <a:solidFill>
                  <a:srgbClr val="FFFFFF"/>
                </a:solidFill>
              </a:rPr>
              <a:t>BASE</a:t>
            </a:r>
            <a:endParaRPr lang="en-US" sz="650" dirty="0"/>
          </a:p>
        </p:txBody>
      </p:sp>
      <p:sp>
        <p:nvSpPr>
          <p:cNvPr id="124" name="Text 122"/>
          <p:cNvSpPr/>
          <p:nvPr/>
        </p:nvSpPr>
        <p:spPr>
          <a:xfrm>
            <a:off x="8939784" y="3630168"/>
            <a:ext cx="148285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D97706"/>
                </a:solidFill>
              </a:rPr>
              <a:t>29/05/2026</a:t>
            </a:r>
            <a:endParaRPr lang="en-US" sz="1050" dirty="0"/>
          </a:p>
        </p:txBody>
      </p:sp>
      <p:sp>
        <p:nvSpPr>
          <p:cNvPr id="125" name="Shape 123"/>
          <p:cNvSpPr/>
          <p:nvPr/>
        </p:nvSpPr>
        <p:spPr>
          <a:xfrm>
            <a:off x="10459212" y="3410712"/>
            <a:ext cx="1482852" cy="201168"/>
          </a:xfrm>
          <a:prstGeom prst="rect">
            <a:avLst/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126" name="Text 124"/>
          <p:cNvSpPr/>
          <p:nvPr/>
        </p:nvSpPr>
        <p:spPr>
          <a:xfrm>
            <a:off x="10459212" y="3410712"/>
            <a:ext cx="148285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b="1" dirty="0">
                <a:solidFill>
                  <a:srgbClr val="FFFFFF"/>
                </a:solidFill>
              </a:rPr>
              <a:t>PESSIMISTA</a:t>
            </a:r>
            <a:endParaRPr lang="en-US" sz="650" dirty="0"/>
          </a:p>
        </p:txBody>
      </p:sp>
      <p:sp>
        <p:nvSpPr>
          <p:cNvPr id="127" name="Text 125"/>
          <p:cNvSpPr/>
          <p:nvPr/>
        </p:nvSpPr>
        <p:spPr>
          <a:xfrm>
            <a:off x="10459212" y="3630168"/>
            <a:ext cx="148285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DC2626"/>
                </a:solidFill>
              </a:rPr>
              <a:t>12/06/2026</a:t>
            </a:r>
            <a:endParaRPr lang="en-US" sz="1050" dirty="0"/>
          </a:p>
        </p:txBody>
      </p:sp>
      <p:sp>
        <p:nvSpPr>
          <p:cNvPr id="128" name="Shape 126"/>
          <p:cNvSpPr/>
          <p:nvPr/>
        </p:nvSpPr>
        <p:spPr>
          <a:xfrm>
            <a:off x="2441448" y="3913632"/>
            <a:ext cx="9646920" cy="822960"/>
          </a:xfrm>
          <a:prstGeom prst="rect">
            <a:avLst/>
          </a:prstGeom>
          <a:solidFill>
            <a:srgbClr val="FFFFFF"/>
          </a:solidFill>
          <a:ln w="12700">
            <a:solidFill>
              <a:srgbClr val="DDDDDD"/>
            </a:solidFill>
            <a:prstDash val="solid"/>
          </a:ln>
          <a:effectLst>
            <a:outerShdw sx="100000" sy="100000" kx="0" ky="0" algn="bl" rotWithShape="0" blurRad="38100" dist="25400" dir="5400000">
              <a:srgbClr val="CCCCCC">
                <a:alpha val="25000"/>
              </a:srgbClr>
            </a:outerShdw>
          </a:effectLst>
        </p:spPr>
      </p:sp>
      <p:sp>
        <p:nvSpPr>
          <p:cNvPr id="129" name="Text 127"/>
          <p:cNvSpPr/>
          <p:nvPr/>
        </p:nvSpPr>
        <p:spPr>
          <a:xfrm>
            <a:off x="2532888" y="3968496"/>
            <a:ext cx="946404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00" spc="200" kern="0" dirty="0">
                <a:solidFill>
                  <a:srgbClr val="888888"/>
                </a:solidFill>
              </a:rPr>
              <a:t>EFICIENCIA DA ENTREGA</a:t>
            </a:r>
            <a:endParaRPr lang="en-US" sz="700" dirty="0"/>
          </a:p>
        </p:txBody>
      </p:sp>
      <p:sp>
        <p:nvSpPr>
          <p:cNvPr id="130" name="Text 128"/>
          <p:cNvSpPr/>
          <p:nvPr/>
        </p:nvSpPr>
        <p:spPr>
          <a:xfrm>
            <a:off x="2532888" y="4059936"/>
            <a:ext cx="222885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D85A30"/>
                </a:solidFill>
              </a:rPr>
              <a:t>17.9%</a:t>
            </a:r>
            <a:endParaRPr lang="en-US" sz="2200" dirty="0"/>
          </a:p>
        </p:txBody>
      </p:sp>
      <p:sp>
        <p:nvSpPr>
          <p:cNvPr id="131" name="Text 129"/>
          <p:cNvSpPr/>
          <p:nvPr/>
        </p:nvSpPr>
        <p:spPr>
          <a:xfrm>
            <a:off x="2532888" y="4389120"/>
            <a:ext cx="222885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222222"/>
                </a:solidFill>
              </a:rPr>
              <a:t>Itens Estourados</a:t>
            </a:r>
            <a:endParaRPr lang="en-US" sz="800" dirty="0"/>
          </a:p>
        </p:txBody>
      </p:sp>
      <p:sp>
        <p:nvSpPr>
          <p:cNvPr id="132" name="Text 130"/>
          <p:cNvSpPr/>
          <p:nvPr/>
        </p:nvSpPr>
        <p:spPr>
          <a:xfrm>
            <a:off x="2532888" y="4553712"/>
            <a:ext cx="222885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888888"/>
                </a:solidFill>
              </a:rPr>
              <a:t>das subs com estimativa</a:t>
            </a:r>
            <a:endParaRPr lang="en-US" sz="700" dirty="0"/>
          </a:p>
        </p:txBody>
      </p:sp>
      <p:sp>
        <p:nvSpPr>
          <p:cNvPr id="133" name="Shape 131"/>
          <p:cNvSpPr/>
          <p:nvPr/>
        </p:nvSpPr>
        <p:spPr>
          <a:xfrm>
            <a:off x="4853178" y="4059936"/>
            <a:ext cx="9144" cy="621792"/>
          </a:xfrm>
          <a:prstGeom prst="rect">
            <a:avLst/>
          </a:prstGeom>
          <a:solidFill>
            <a:srgbClr val="E8EDF2"/>
          </a:solidFill>
          <a:ln w="12700">
            <a:solidFill>
              <a:srgbClr val="E8EDF2"/>
            </a:solidFill>
            <a:prstDash val="solid"/>
          </a:ln>
        </p:spPr>
      </p:sp>
      <p:sp>
        <p:nvSpPr>
          <p:cNvPr id="134" name="Text 132"/>
          <p:cNvSpPr/>
          <p:nvPr/>
        </p:nvSpPr>
        <p:spPr>
          <a:xfrm>
            <a:off x="4944618" y="4059936"/>
            <a:ext cx="222885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534AB7"/>
                </a:solidFill>
              </a:rPr>
              <a:t>11.1%</a:t>
            </a:r>
            <a:endParaRPr lang="en-US" sz="2200" dirty="0"/>
          </a:p>
        </p:txBody>
      </p:sp>
      <p:sp>
        <p:nvSpPr>
          <p:cNvPr id="135" name="Text 133"/>
          <p:cNvSpPr/>
          <p:nvPr/>
        </p:nvSpPr>
        <p:spPr>
          <a:xfrm>
            <a:off x="4944618" y="4389120"/>
            <a:ext cx="222885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222222"/>
                </a:solidFill>
              </a:rPr>
              <a:t>Retrabalho Registrado</a:t>
            </a:r>
            <a:endParaRPr lang="en-US" sz="800" dirty="0"/>
          </a:p>
        </p:txBody>
      </p:sp>
      <p:sp>
        <p:nvSpPr>
          <p:cNvPr id="136" name="Text 134"/>
          <p:cNvSpPr/>
          <p:nvPr/>
        </p:nvSpPr>
        <p:spPr>
          <a:xfrm>
            <a:off x="4944618" y="4553712"/>
            <a:ext cx="222885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888888"/>
                </a:solidFill>
              </a:rPr>
              <a:t>26 Sub Bug (ADO) · 136.8h</a:t>
            </a:r>
            <a:endParaRPr lang="en-US" sz="700" dirty="0"/>
          </a:p>
        </p:txBody>
      </p:sp>
      <p:sp>
        <p:nvSpPr>
          <p:cNvPr id="137" name="Shape 135"/>
          <p:cNvSpPr/>
          <p:nvPr/>
        </p:nvSpPr>
        <p:spPr>
          <a:xfrm>
            <a:off x="7264908" y="4059936"/>
            <a:ext cx="9144" cy="621792"/>
          </a:xfrm>
          <a:prstGeom prst="rect">
            <a:avLst/>
          </a:prstGeom>
          <a:solidFill>
            <a:srgbClr val="E8EDF2"/>
          </a:solidFill>
          <a:ln w="12700">
            <a:solidFill>
              <a:srgbClr val="E8EDF2"/>
            </a:solidFill>
            <a:prstDash val="solid"/>
          </a:ln>
        </p:spPr>
      </p:sp>
      <p:sp>
        <p:nvSpPr>
          <p:cNvPr id="138" name="Text 136"/>
          <p:cNvSpPr/>
          <p:nvPr/>
        </p:nvSpPr>
        <p:spPr>
          <a:xfrm>
            <a:off x="7356348" y="4059936"/>
            <a:ext cx="222885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DC2626"/>
                </a:solidFill>
              </a:rPr>
              <a:t>34</a:t>
            </a:r>
            <a:endParaRPr lang="en-US" sz="2200" dirty="0"/>
          </a:p>
        </p:txBody>
      </p:sp>
      <p:sp>
        <p:nvSpPr>
          <p:cNvPr id="139" name="Text 137"/>
          <p:cNvSpPr/>
          <p:nvPr/>
        </p:nvSpPr>
        <p:spPr>
          <a:xfrm>
            <a:off x="7356348" y="4389120"/>
            <a:ext cx="222885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222222"/>
                </a:solidFill>
              </a:rPr>
              <a:t>Retrabalho Oculto</a:t>
            </a:r>
            <a:endParaRPr lang="en-US" sz="800" dirty="0"/>
          </a:p>
        </p:txBody>
      </p:sp>
      <p:sp>
        <p:nvSpPr>
          <p:cNvPr id="140" name="Text 138"/>
          <p:cNvSpPr/>
          <p:nvPr/>
        </p:nvSpPr>
        <p:spPr>
          <a:xfrm>
            <a:off x="7356348" y="4553712"/>
            <a:ext cx="222885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888888"/>
                </a:solidFill>
              </a:rPr>
              <a:t>fixes sem card no Git · 47% do time com card</a:t>
            </a:r>
            <a:endParaRPr lang="en-US" sz="700" dirty="0"/>
          </a:p>
        </p:txBody>
      </p:sp>
      <p:sp>
        <p:nvSpPr>
          <p:cNvPr id="141" name="Shape 139"/>
          <p:cNvSpPr/>
          <p:nvPr/>
        </p:nvSpPr>
        <p:spPr>
          <a:xfrm>
            <a:off x="9676638" y="4059936"/>
            <a:ext cx="9144" cy="621792"/>
          </a:xfrm>
          <a:prstGeom prst="rect">
            <a:avLst/>
          </a:prstGeom>
          <a:solidFill>
            <a:srgbClr val="E8EDF2"/>
          </a:solidFill>
          <a:ln w="12700">
            <a:solidFill>
              <a:srgbClr val="E8EDF2"/>
            </a:solidFill>
            <a:prstDash val="solid"/>
          </a:ln>
        </p:spPr>
      </p:sp>
      <p:sp>
        <p:nvSpPr>
          <p:cNvPr id="142" name="Text 140"/>
          <p:cNvSpPr/>
          <p:nvPr/>
        </p:nvSpPr>
        <p:spPr>
          <a:xfrm>
            <a:off x="9768078" y="4059936"/>
            <a:ext cx="222885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1D9E75"/>
                </a:solidFill>
              </a:rPr>
              <a:t>82.1%</a:t>
            </a:r>
            <a:endParaRPr lang="en-US" sz="2200" dirty="0"/>
          </a:p>
        </p:txBody>
      </p:sp>
      <p:sp>
        <p:nvSpPr>
          <p:cNvPr id="143" name="Text 141"/>
          <p:cNvSpPr/>
          <p:nvPr/>
        </p:nvSpPr>
        <p:spPr>
          <a:xfrm>
            <a:off x="9768078" y="4389120"/>
            <a:ext cx="222885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222222"/>
                </a:solidFill>
              </a:rPr>
              <a:t>Dentro da Estimativa</a:t>
            </a:r>
            <a:endParaRPr lang="en-US" sz="800" dirty="0"/>
          </a:p>
        </p:txBody>
      </p:sp>
      <p:sp>
        <p:nvSpPr>
          <p:cNvPr id="144" name="Text 142"/>
          <p:cNvSpPr/>
          <p:nvPr/>
        </p:nvSpPr>
        <p:spPr>
          <a:xfrm>
            <a:off x="9768078" y="4553712"/>
            <a:ext cx="222885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888888"/>
                </a:solidFill>
              </a:rPr>
              <a:t>entregues dentro do planejado</a:t>
            </a:r>
            <a:endParaRPr lang="en-US" sz="700" dirty="0"/>
          </a:p>
        </p:txBody>
      </p:sp>
      <p:sp>
        <p:nvSpPr>
          <p:cNvPr id="145" name="Text 143"/>
          <p:cNvSpPr/>
          <p:nvPr/>
        </p:nvSpPr>
        <p:spPr>
          <a:xfrm>
            <a:off x="2441448" y="4754880"/>
            <a:ext cx="964692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650" spc="300" kern="0" dirty="0">
                <a:solidFill>
                  <a:srgbClr val="888888"/>
                </a:solidFill>
              </a:rPr>
              <a:t>R I S C O S</a:t>
            </a:r>
            <a:endParaRPr lang="en-US" sz="650" dirty="0"/>
          </a:p>
        </p:txBody>
      </p:sp>
      <p:sp>
        <p:nvSpPr>
          <p:cNvPr id="146" name="Shape 144"/>
          <p:cNvSpPr/>
          <p:nvPr/>
        </p:nvSpPr>
        <p:spPr>
          <a:xfrm>
            <a:off x="2441448" y="4873752"/>
            <a:ext cx="2350008" cy="877824"/>
          </a:xfrm>
          <a:prstGeom prst="rect">
            <a:avLst/>
          </a:prstGeom>
          <a:solidFill>
            <a:srgbClr val="F0FDF4"/>
          </a:solidFill>
          <a:ln w="12700">
            <a:solidFill>
              <a:srgbClr val="1D9E75"/>
            </a:solidFill>
            <a:prstDash val="solid"/>
          </a:ln>
          <a:effectLst>
            <a:outerShdw sx="100000" sy="100000" kx="0" ky="0" algn="bl" rotWithShape="0" blurRad="38100" dist="25400" dir="5400000">
              <a:srgbClr val="CCCCCC">
                <a:alpha val="25000"/>
              </a:srgbClr>
            </a:outerShdw>
          </a:effectLst>
        </p:spPr>
      </p:sp>
      <p:sp>
        <p:nvSpPr>
          <p:cNvPr id="147" name="Text 145"/>
          <p:cNvSpPr/>
          <p:nvPr/>
        </p:nvSpPr>
        <p:spPr>
          <a:xfrm>
            <a:off x="2514600" y="4937760"/>
            <a:ext cx="175564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00" b="1" dirty="0">
                <a:solidFill>
                  <a:srgbClr val="1D9E75"/>
                </a:solidFill>
              </a:rPr>
              <a:t>SEM RISCO</a:t>
            </a:r>
            <a:endParaRPr lang="en-US" sz="700" dirty="0"/>
          </a:p>
        </p:txBody>
      </p:sp>
      <p:sp>
        <p:nvSpPr>
          <p:cNvPr id="148" name="Shape 146"/>
          <p:cNvSpPr/>
          <p:nvPr/>
        </p:nvSpPr>
        <p:spPr>
          <a:xfrm>
            <a:off x="4261104" y="4928616"/>
            <a:ext cx="475488" cy="292608"/>
          </a:xfrm>
          <a:prstGeom prst="rect">
            <a:avLst/>
          </a:prstGeom>
          <a:solidFill>
            <a:srgbClr val="1D9E75"/>
          </a:solidFill>
          <a:ln w="12700">
            <a:solidFill>
              <a:srgbClr val="1D9E75"/>
            </a:solidFill>
            <a:prstDash val="solid"/>
          </a:ln>
        </p:spPr>
      </p:sp>
      <p:sp>
        <p:nvSpPr>
          <p:cNvPr id="149" name="Text 147"/>
          <p:cNvSpPr/>
          <p:nvPr/>
        </p:nvSpPr>
        <p:spPr>
          <a:xfrm>
            <a:off x="4261104" y="4928616"/>
            <a:ext cx="47548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b="1" dirty="0">
                <a:solidFill>
                  <a:srgbClr val="FFFFFF"/>
                </a:solidFill>
              </a:rPr>
              <a:t>0</a:t>
            </a:r>
            <a:endParaRPr lang="en-US" sz="650" dirty="0"/>
          </a:p>
          <a:p>
            <a:pPr algn="ctr" indent="0" marL="0">
              <a:buNone/>
            </a:pPr>
            <a:r>
              <a:rPr lang="en-US" sz="650" b="1" dirty="0">
                <a:solidFill>
                  <a:srgbClr val="FFFFFF"/>
                </a:solidFill>
              </a:rPr>
              <a:t>riscos</a:t>
            </a:r>
            <a:endParaRPr lang="en-US" sz="650" dirty="0"/>
          </a:p>
        </p:txBody>
      </p:sp>
      <p:sp>
        <p:nvSpPr>
          <p:cNvPr id="150" name="Text 148"/>
          <p:cNvSpPr/>
          <p:nvPr/>
        </p:nvSpPr>
        <p:spPr>
          <a:xfrm>
            <a:off x="2514600" y="5184648"/>
            <a:ext cx="220370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50" dirty="0">
                <a:solidFill>
                  <a:srgbClr val="222222"/>
                </a:solidFill>
              </a:rPr>
              <a:t>Nenhum estouro ou refinamento pendente</a:t>
            </a:r>
            <a:endParaRPr lang="en-US" sz="750" dirty="0"/>
          </a:p>
        </p:txBody>
      </p:sp>
      <p:sp>
        <p:nvSpPr>
          <p:cNvPr id="151" name="Text 149"/>
          <p:cNvSpPr/>
          <p:nvPr/>
        </p:nvSpPr>
        <p:spPr>
          <a:xfrm>
            <a:off x="2514600" y="5367528"/>
            <a:ext cx="220370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endParaRPr lang="en-US" sz="750" dirty="0"/>
          </a:p>
        </p:txBody>
      </p:sp>
      <p:sp>
        <p:nvSpPr>
          <p:cNvPr id="152" name="Shape 150"/>
          <p:cNvSpPr/>
          <p:nvPr/>
        </p:nvSpPr>
        <p:spPr>
          <a:xfrm>
            <a:off x="4873752" y="4873752"/>
            <a:ext cx="2350008" cy="877824"/>
          </a:xfrm>
          <a:prstGeom prst="rect">
            <a:avLst/>
          </a:prstGeom>
          <a:solidFill>
            <a:srgbClr val="F5F3FF"/>
          </a:solidFill>
          <a:ln w="12700">
            <a:solidFill>
              <a:srgbClr val="6B3FA0"/>
            </a:solidFill>
            <a:prstDash val="solid"/>
          </a:ln>
          <a:effectLst>
            <a:outerShdw sx="100000" sy="100000" kx="0" ky="0" algn="bl" rotWithShape="0" blurRad="38100" dist="25400" dir="5400000">
              <a:srgbClr val="CCCCCC">
                <a:alpha val="25000"/>
              </a:srgbClr>
            </a:outerShdw>
          </a:effectLst>
        </p:spPr>
      </p:sp>
      <p:sp>
        <p:nvSpPr>
          <p:cNvPr id="153" name="Text 151"/>
          <p:cNvSpPr/>
          <p:nvPr/>
        </p:nvSpPr>
        <p:spPr>
          <a:xfrm>
            <a:off x="4946904" y="4937760"/>
            <a:ext cx="175564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00" b="1" dirty="0">
                <a:solidFill>
                  <a:srgbClr val="6B3FA0"/>
                </a:solidFill>
              </a:rPr>
              <a:t>ATENCAO · Janela de Entrega</a:t>
            </a:r>
            <a:endParaRPr lang="en-US" sz="700" dirty="0"/>
          </a:p>
        </p:txBody>
      </p:sp>
      <p:sp>
        <p:nvSpPr>
          <p:cNvPr id="154" name="Shape 152"/>
          <p:cNvSpPr/>
          <p:nvPr/>
        </p:nvSpPr>
        <p:spPr>
          <a:xfrm>
            <a:off x="6693408" y="4928616"/>
            <a:ext cx="475488" cy="292608"/>
          </a:xfrm>
          <a:prstGeom prst="rect">
            <a:avLst/>
          </a:prstGeom>
          <a:solidFill>
            <a:srgbClr val="6B3FA0"/>
          </a:solidFill>
          <a:ln w="12700">
            <a:solidFill>
              <a:srgbClr val="6B3FA0"/>
            </a:solidFill>
            <a:prstDash val="solid"/>
          </a:ln>
        </p:spPr>
      </p:sp>
      <p:sp>
        <p:nvSpPr>
          <p:cNvPr id="155" name="Text 153"/>
          <p:cNvSpPr/>
          <p:nvPr/>
        </p:nvSpPr>
        <p:spPr>
          <a:xfrm>
            <a:off x="6693408" y="4928616"/>
            <a:ext cx="47548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b="1" dirty="0">
                <a:solidFill>
                  <a:srgbClr val="FFFFFF"/>
                </a:solidFill>
              </a:rPr>
              <a:t>~7 dias</a:t>
            </a:r>
            <a:endParaRPr lang="en-US" sz="650" dirty="0"/>
          </a:p>
          <a:p>
            <a:pPr algn="ctr" indent="0" marL="0">
              <a:buNone/>
            </a:pPr>
            <a:r>
              <a:rPr lang="en-US" sz="650" b="1" dirty="0">
                <a:solidFill>
                  <a:srgbClr val="FFFFFF"/>
                </a:solidFill>
              </a:rPr>
              <a:t>uteis</a:t>
            </a:r>
            <a:endParaRPr lang="en-US" sz="650" dirty="0"/>
          </a:p>
        </p:txBody>
      </p:sp>
      <p:sp>
        <p:nvSpPr>
          <p:cNvPr id="156" name="Text 154"/>
          <p:cNvSpPr/>
          <p:nvPr/>
        </p:nvSpPr>
        <p:spPr>
          <a:xfrm>
            <a:off x="4946904" y="5184648"/>
            <a:ext cx="220370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50" dirty="0">
                <a:solidFill>
                  <a:srgbClr val="222222"/>
                </a:solidFill>
              </a:rPr>
              <a:t>Observabilidade: Proj 09/07/2026 · Base 29/05/2026</a:t>
            </a:r>
            <a:endParaRPr lang="en-US" sz="750" dirty="0"/>
          </a:p>
        </p:txBody>
      </p:sp>
      <p:sp>
        <p:nvSpPr>
          <p:cNvPr id="157" name="Text 155"/>
          <p:cNvSpPr/>
          <p:nvPr/>
        </p:nvSpPr>
        <p:spPr>
          <a:xfrm>
            <a:off x="4946904" y="5367528"/>
            <a:ext cx="220370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endParaRPr lang="en-US" sz="750" dirty="0"/>
          </a:p>
        </p:txBody>
      </p:sp>
      <p:sp>
        <p:nvSpPr>
          <p:cNvPr id="158" name="Shape 156"/>
          <p:cNvSpPr/>
          <p:nvPr/>
        </p:nvSpPr>
        <p:spPr>
          <a:xfrm>
            <a:off x="7306056" y="4873752"/>
            <a:ext cx="2350008" cy="877824"/>
          </a:xfrm>
          <a:prstGeom prst="rect">
            <a:avLst/>
          </a:prstGeom>
          <a:solidFill>
            <a:srgbClr val="FFF1F2"/>
          </a:solidFill>
          <a:ln w="12700">
            <a:solidFill>
              <a:srgbClr val="DC2626"/>
            </a:solidFill>
            <a:prstDash val="solid"/>
          </a:ln>
          <a:effectLst>
            <a:outerShdw sx="100000" sy="100000" kx="0" ky="0" algn="bl" rotWithShape="0" blurRad="38100" dist="25400" dir="5400000">
              <a:srgbClr val="CCCCCC">
                <a:alpha val="25000"/>
              </a:srgbClr>
            </a:outerShdw>
          </a:effectLst>
        </p:spPr>
      </p:sp>
      <p:sp>
        <p:nvSpPr>
          <p:cNvPr id="159" name="Text 157"/>
          <p:cNvSpPr/>
          <p:nvPr/>
        </p:nvSpPr>
        <p:spPr>
          <a:xfrm>
            <a:off x="7379208" y="4937760"/>
            <a:ext cx="175564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00" b="1" dirty="0">
                <a:solidFill>
                  <a:srgbClr val="DC2626"/>
                </a:solidFill>
              </a:rPr>
              <a:t>BUG / SUSTENTACAO</a:t>
            </a:r>
            <a:endParaRPr lang="en-US" sz="700" dirty="0"/>
          </a:p>
        </p:txBody>
      </p:sp>
      <p:sp>
        <p:nvSpPr>
          <p:cNvPr id="160" name="Shape 158"/>
          <p:cNvSpPr/>
          <p:nvPr/>
        </p:nvSpPr>
        <p:spPr>
          <a:xfrm>
            <a:off x="9125712" y="4928616"/>
            <a:ext cx="475488" cy="292608"/>
          </a:xfrm>
          <a:prstGeom prst="rect">
            <a:avLst/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161" name="Text 159"/>
          <p:cNvSpPr/>
          <p:nvPr/>
        </p:nvSpPr>
        <p:spPr>
          <a:xfrm>
            <a:off x="9125712" y="4928616"/>
            <a:ext cx="47548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b="1" dirty="0">
                <a:solidFill>
                  <a:srgbClr val="FFFFFF"/>
                </a:solidFill>
              </a:rPr>
              <a:t>106.3h</a:t>
            </a:r>
            <a:endParaRPr lang="en-US" sz="650" dirty="0"/>
          </a:p>
          <a:p>
            <a:pPr algn="ctr" indent="0" marL="0">
              <a:buNone/>
            </a:pPr>
            <a:r>
              <a:rPr lang="en-US" sz="650" b="1" dirty="0">
                <a:solidFill>
                  <a:srgbClr val="FFFFFF"/>
                </a:solidFill>
              </a:rPr>
              <a:t>realizadas</a:t>
            </a:r>
            <a:endParaRPr lang="en-US" sz="650" dirty="0"/>
          </a:p>
        </p:txBody>
      </p:sp>
      <p:sp>
        <p:nvSpPr>
          <p:cNvPr id="162" name="Text 160"/>
          <p:cNvSpPr/>
          <p:nvPr/>
        </p:nvSpPr>
        <p:spPr>
          <a:xfrm>
            <a:off x="7379208" y="5184648"/>
            <a:ext cx="220370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50" dirty="0">
                <a:solidFill>
                  <a:srgbClr val="222222"/>
                </a:solidFill>
              </a:rPr>
              <a:t>7 Bugs · 6 SRs no periodo</a:t>
            </a:r>
            <a:endParaRPr lang="en-US" sz="750" dirty="0"/>
          </a:p>
        </p:txBody>
      </p:sp>
      <p:sp>
        <p:nvSpPr>
          <p:cNvPr id="163" name="Text 161"/>
          <p:cNvSpPr/>
          <p:nvPr/>
        </p:nvSpPr>
        <p:spPr>
          <a:xfrm>
            <a:off x="7379208" y="5367528"/>
            <a:ext cx="220370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50" dirty="0">
                <a:solidFill>
                  <a:srgbClr val="222222"/>
                </a:solidFill>
              </a:rPr>
              <a:t>Horas nao planejadas: 106.3h</a:t>
            </a:r>
            <a:endParaRPr lang="en-US" sz="750" dirty="0"/>
          </a:p>
        </p:txBody>
      </p:sp>
      <p:sp>
        <p:nvSpPr>
          <p:cNvPr id="164" name="Shape 162"/>
          <p:cNvSpPr/>
          <p:nvPr/>
        </p:nvSpPr>
        <p:spPr>
          <a:xfrm>
            <a:off x="9738360" y="4873752"/>
            <a:ext cx="2350008" cy="877824"/>
          </a:xfrm>
          <a:prstGeom prst="rect">
            <a:avLst/>
          </a:prstGeom>
          <a:solidFill>
            <a:srgbClr val="FFFBEB"/>
          </a:solidFill>
          <a:ln w="12700">
            <a:solidFill>
              <a:srgbClr val="D97706"/>
            </a:solidFill>
            <a:prstDash val="solid"/>
          </a:ln>
          <a:effectLst>
            <a:outerShdw sx="100000" sy="100000" kx="0" ky="0" algn="bl" rotWithShape="0" blurRad="38100" dist="25400" dir="5400000">
              <a:srgbClr val="CCCCCC">
                <a:alpha val="25000"/>
              </a:srgbClr>
            </a:outerShdw>
          </a:effectLst>
        </p:spPr>
      </p:sp>
      <p:sp>
        <p:nvSpPr>
          <p:cNvPr id="165" name="Text 163"/>
          <p:cNvSpPr/>
          <p:nvPr/>
        </p:nvSpPr>
        <p:spPr>
          <a:xfrm>
            <a:off x="9811512" y="4937760"/>
            <a:ext cx="175564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00" b="1" dirty="0">
                <a:solidFill>
                  <a:srgbClr val="D97706"/>
                </a:solidFill>
              </a:rPr>
              <a:t>EXPANSAO DE ESCOPO</a:t>
            </a:r>
            <a:endParaRPr lang="en-US" sz="700" dirty="0"/>
          </a:p>
        </p:txBody>
      </p:sp>
      <p:sp>
        <p:nvSpPr>
          <p:cNvPr id="166" name="Shape 164"/>
          <p:cNvSpPr/>
          <p:nvPr/>
        </p:nvSpPr>
        <p:spPr>
          <a:xfrm>
            <a:off x="11558016" y="4928616"/>
            <a:ext cx="475488" cy="292608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167" name="Text 165"/>
          <p:cNvSpPr/>
          <p:nvPr/>
        </p:nvSpPr>
        <p:spPr>
          <a:xfrm>
            <a:off x="11558016" y="4928616"/>
            <a:ext cx="47548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b="1" dirty="0">
                <a:solidFill>
                  <a:srgbClr val="FFFFFF"/>
                </a:solidFill>
              </a:rPr>
              <a:t>130</a:t>
            </a:r>
            <a:endParaRPr lang="en-US" sz="650" dirty="0"/>
          </a:p>
          <a:p>
            <a:pPr algn="ctr" indent="0" marL="0">
              <a:buNone/>
            </a:pPr>
            <a:r>
              <a:rPr lang="en-US" sz="650" b="1" dirty="0">
                <a:solidFill>
                  <a:srgbClr val="FFFFFF"/>
                </a:solidFill>
              </a:rPr>
              <a:t>itens</a:t>
            </a:r>
            <a:endParaRPr lang="en-US" sz="650" dirty="0"/>
          </a:p>
        </p:txBody>
      </p:sp>
      <p:sp>
        <p:nvSpPr>
          <p:cNvPr id="168" name="Text 166"/>
          <p:cNvSpPr/>
          <p:nvPr/>
        </p:nvSpPr>
        <p:spPr>
          <a:xfrm>
            <a:off x="9811512" y="5184648"/>
            <a:ext cx="220370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50" dirty="0">
                <a:solidFill>
                  <a:srgbClr val="222222"/>
                </a:solidFill>
              </a:rPr>
              <a:t>130 itens criados pos 01/05</a:t>
            </a:r>
            <a:endParaRPr lang="en-US" sz="750" dirty="0"/>
          </a:p>
        </p:txBody>
      </p:sp>
      <p:sp>
        <p:nvSpPr>
          <p:cNvPr id="169" name="Text 167"/>
          <p:cNvSpPr/>
          <p:nvPr/>
        </p:nvSpPr>
        <p:spPr>
          <a:xfrm>
            <a:off x="9811512" y="5367528"/>
            <a:ext cx="220370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50" dirty="0">
                <a:solidFill>
                  <a:srgbClr val="222222"/>
                </a:solidFill>
              </a:rPr>
              <a:t>Princ +55h · Redund +169h · Obs +20h</a:t>
            </a:r>
            <a:endParaRPr lang="en-US" sz="750" dirty="0"/>
          </a:p>
        </p:txBody>
      </p:sp>
      <p:sp>
        <p:nvSpPr>
          <p:cNvPr id="170" name="Shape 168"/>
          <p:cNvSpPr/>
          <p:nvPr/>
        </p:nvSpPr>
        <p:spPr>
          <a:xfrm>
            <a:off x="2441448" y="5797296"/>
            <a:ext cx="7214616" cy="73152"/>
          </a:xfrm>
          <a:prstGeom prst="rect">
            <a:avLst/>
          </a:prstGeom>
          <a:solidFill>
            <a:srgbClr val="374151"/>
          </a:solidFill>
          <a:ln w="12700">
            <a:solidFill>
              <a:srgbClr val="374151"/>
            </a:solidFill>
            <a:prstDash val="solid"/>
          </a:ln>
        </p:spPr>
      </p:sp>
      <p:sp>
        <p:nvSpPr>
          <p:cNvPr id="171" name="Text 169"/>
          <p:cNvSpPr/>
          <p:nvPr/>
        </p:nvSpPr>
        <p:spPr>
          <a:xfrm>
            <a:off x="2441448" y="5797296"/>
            <a:ext cx="7214616" cy="731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FFFFFF"/>
                </a:solidFill>
              </a:rPr>
              <a:t>D E V S</a:t>
            </a:r>
            <a:endParaRPr lang="en-US" sz="700" dirty="0"/>
          </a:p>
        </p:txBody>
      </p:sp>
      <p:sp>
        <p:nvSpPr>
          <p:cNvPr id="172" name="Shape 170"/>
          <p:cNvSpPr/>
          <p:nvPr/>
        </p:nvSpPr>
        <p:spPr>
          <a:xfrm>
            <a:off x="9738360" y="5797296"/>
            <a:ext cx="1133856" cy="73152"/>
          </a:xfrm>
          <a:prstGeom prst="rect">
            <a:avLst/>
          </a:prstGeom>
          <a:solidFill>
            <a:srgbClr val="1E6FA8"/>
          </a:solidFill>
          <a:ln w="12700">
            <a:solidFill>
              <a:srgbClr val="1E6FA8"/>
            </a:solidFill>
            <a:prstDash val="solid"/>
          </a:ln>
        </p:spPr>
      </p:sp>
      <p:sp>
        <p:nvSpPr>
          <p:cNvPr id="173" name="Text 171"/>
          <p:cNvSpPr/>
          <p:nvPr/>
        </p:nvSpPr>
        <p:spPr>
          <a:xfrm>
            <a:off x="9738360" y="5797296"/>
            <a:ext cx="1133856" cy="731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FFFFFF"/>
                </a:solidFill>
              </a:rPr>
              <a:t>Q A</a:t>
            </a:r>
            <a:endParaRPr lang="en-US" sz="700" dirty="0"/>
          </a:p>
        </p:txBody>
      </p:sp>
      <p:sp>
        <p:nvSpPr>
          <p:cNvPr id="174" name="Shape 172"/>
          <p:cNvSpPr/>
          <p:nvPr/>
        </p:nvSpPr>
        <p:spPr>
          <a:xfrm>
            <a:off x="10954512" y="5797296"/>
            <a:ext cx="1133856" cy="73152"/>
          </a:xfrm>
          <a:prstGeom prst="rect">
            <a:avLst/>
          </a:prstGeom>
          <a:solidFill>
            <a:srgbClr val="6B3FA0"/>
          </a:solidFill>
          <a:ln w="12700">
            <a:solidFill>
              <a:srgbClr val="6B3FA0"/>
            </a:solidFill>
            <a:prstDash val="solid"/>
          </a:ln>
        </p:spPr>
      </p:sp>
      <p:sp>
        <p:nvSpPr>
          <p:cNvPr id="175" name="Text 173"/>
          <p:cNvSpPr/>
          <p:nvPr/>
        </p:nvSpPr>
        <p:spPr>
          <a:xfrm>
            <a:off x="10954512" y="5797296"/>
            <a:ext cx="1133856" cy="731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FFFFFF"/>
                </a:solidFill>
              </a:rPr>
              <a:t>LIDERANCA TECNICA</a:t>
            </a:r>
            <a:endParaRPr lang="en-US" sz="700" dirty="0"/>
          </a:p>
        </p:txBody>
      </p:sp>
      <p:sp>
        <p:nvSpPr>
          <p:cNvPr id="176" name="Shape 174"/>
          <p:cNvSpPr/>
          <p:nvPr/>
        </p:nvSpPr>
        <p:spPr>
          <a:xfrm>
            <a:off x="2441448" y="5879592"/>
            <a:ext cx="1133856" cy="932688"/>
          </a:xfrm>
          <a:prstGeom prst="rect">
            <a:avLst/>
          </a:prstGeom>
          <a:solidFill>
            <a:srgbClr val="FFFFFF"/>
          </a:solidFill>
          <a:ln w="12700">
            <a:solidFill>
              <a:srgbClr val="FCA5A5"/>
            </a:solidFill>
            <a:prstDash val="solid"/>
          </a:ln>
          <a:effectLst>
            <a:outerShdw sx="100000" sy="100000" kx="0" ky="0" algn="bl" rotWithShape="0" blurRad="38100" dist="25400" dir="5400000">
              <a:srgbClr val="CCCCCC">
                <a:alpha val="25000"/>
              </a:srgbClr>
            </a:outerShdw>
          </a:effectLst>
        </p:spPr>
      </p:sp>
      <p:sp>
        <p:nvSpPr>
          <p:cNvPr id="177" name="Text 175"/>
          <p:cNvSpPr/>
          <p:nvPr/>
        </p:nvSpPr>
        <p:spPr>
          <a:xfrm>
            <a:off x="2496312" y="5952744"/>
            <a:ext cx="102412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222222"/>
                </a:solidFill>
              </a:rPr>
              <a:t>Gabriel Pigatto</a:t>
            </a:r>
            <a:endParaRPr lang="en-US" sz="850" dirty="0"/>
          </a:p>
        </p:txBody>
      </p:sp>
      <p:sp>
        <p:nvSpPr>
          <p:cNvPr id="178" name="Shape 176"/>
          <p:cNvSpPr/>
          <p:nvPr/>
        </p:nvSpPr>
        <p:spPr>
          <a:xfrm>
            <a:off x="2496312" y="6153912"/>
            <a:ext cx="1024128" cy="73152"/>
          </a:xfrm>
          <a:prstGeom prst="rect">
            <a:avLst/>
          </a:prstGeom>
          <a:solidFill>
            <a:srgbClr val="E8EDF2"/>
          </a:solidFill>
          <a:ln w="12700">
            <a:solidFill>
              <a:srgbClr val="E8EDF2"/>
            </a:solidFill>
            <a:prstDash val="solid"/>
          </a:ln>
        </p:spPr>
      </p:sp>
      <p:sp>
        <p:nvSpPr>
          <p:cNvPr id="179" name="Shape 177"/>
          <p:cNvSpPr/>
          <p:nvPr/>
        </p:nvSpPr>
        <p:spPr>
          <a:xfrm>
            <a:off x="2496312" y="6153912"/>
            <a:ext cx="1024128" cy="73152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180" name="Text 178"/>
          <p:cNvSpPr/>
          <p:nvPr/>
        </p:nvSpPr>
        <p:spPr>
          <a:xfrm>
            <a:off x="2496312" y="6245352"/>
            <a:ext cx="102412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D97706"/>
                </a:solidFill>
              </a:rPr>
              <a:t>245.6h · 44 subs finalizadas</a:t>
            </a:r>
            <a:endParaRPr lang="en-US" sz="950" dirty="0"/>
          </a:p>
        </p:txBody>
      </p:sp>
      <p:sp>
        <p:nvSpPr>
          <p:cNvPr id="181" name="Text 179"/>
          <p:cNvSpPr/>
          <p:nvPr/>
        </p:nvSpPr>
        <p:spPr>
          <a:xfrm>
            <a:off x="2496312" y="6464808"/>
            <a:ext cx="102412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888888"/>
                </a:solidFill>
              </a:rPr>
              <a:t>214h estimadas</a:t>
            </a:r>
            <a:endParaRPr lang="en-US" sz="850" dirty="0"/>
          </a:p>
        </p:txBody>
      </p:sp>
      <p:sp>
        <p:nvSpPr>
          <p:cNvPr id="182" name="Shape 180"/>
          <p:cNvSpPr/>
          <p:nvPr/>
        </p:nvSpPr>
        <p:spPr>
          <a:xfrm>
            <a:off x="2496312" y="6647688"/>
            <a:ext cx="1024128" cy="201168"/>
          </a:xfrm>
          <a:prstGeom prst="rect">
            <a:avLst/>
          </a:prstGeom>
          <a:solidFill>
            <a:srgbClr val="FEE2E2"/>
          </a:solidFill>
          <a:ln w="12700">
            <a:solidFill>
              <a:srgbClr val="FCA5A5"/>
            </a:solidFill>
            <a:prstDash val="solid"/>
          </a:ln>
        </p:spPr>
      </p:sp>
      <p:sp>
        <p:nvSpPr>
          <p:cNvPr id="183" name="Text 181"/>
          <p:cNvSpPr/>
          <p:nvPr/>
        </p:nvSpPr>
        <p:spPr>
          <a:xfrm>
            <a:off x="2496312" y="6647688"/>
            <a:ext cx="102412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DC2626"/>
                </a:solidFill>
              </a:rPr>
              <a:t>⚠ 1 fix(s) sem card</a:t>
            </a:r>
            <a:endParaRPr lang="en-US" sz="750" dirty="0"/>
          </a:p>
        </p:txBody>
      </p:sp>
      <p:sp>
        <p:nvSpPr>
          <p:cNvPr id="184" name="Shape 182"/>
          <p:cNvSpPr/>
          <p:nvPr/>
        </p:nvSpPr>
        <p:spPr>
          <a:xfrm>
            <a:off x="3657600" y="5879592"/>
            <a:ext cx="1133856" cy="932688"/>
          </a:xfrm>
          <a:prstGeom prst="rect">
            <a:avLst/>
          </a:prstGeom>
          <a:solidFill>
            <a:srgbClr val="FFFFFF"/>
          </a:solidFill>
          <a:ln w="12700">
            <a:solidFill>
              <a:srgbClr val="FCA5A5"/>
            </a:solidFill>
            <a:prstDash val="solid"/>
          </a:ln>
          <a:effectLst>
            <a:outerShdw sx="100000" sy="100000" kx="0" ky="0" algn="bl" rotWithShape="0" blurRad="38100" dist="25400" dir="5400000">
              <a:srgbClr val="CCCCCC">
                <a:alpha val="25000"/>
              </a:srgbClr>
            </a:outerShdw>
          </a:effectLst>
        </p:spPr>
      </p:sp>
      <p:sp>
        <p:nvSpPr>
          <p:cNvPr id="185" name="Text 183"/>
          <p:cNvSpPr/>
          <p:nvPr/>
        </p:nvSpPr>
        <p:spPr>
          <a:xfrm>
            <a:off x="3712464" y="5952744"/>
            <a:ext cx="102412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222222"/>
                </a:solidFill>
              </a:rPr>
              <a:t>Artur Silva</a:t>
            </a:r>
            <a:endParaRPr lang="en-US" sz="850" dirty="0"/>
          </a:p>
        </p:txBody>
      </p:sp>
      <p:sp>
        <p:nvSpPr>
          <p:cNvPr id="186" name="Shape 184"/>
          <p:cNvSpPr/>
          <p:nvPr/>
        </p:nvSpPr>
        <p:spPr>
          <a:xfrm>
            <a:off x="3712464" y="6153912"/>
            <a:ext cx="1024128" cy="73152"/>
          </a:xfrm>
          <a:prstGeom prst="rect">
            <a:avLst/>
          </a:prstGeom>
          <a:solidFill>
            <a:srgbClr val="E8EDF2"/>
          </a:solidFill>
          <a:ln w="12700">
            <a:solidFill>
              <a:srgbClr val="E8EDF2"/>
            </a:solidFill>
            <a:prstDash val="solid"/>
          </a:ln>
        </p:spPr>
      </p:sp>
      <p:sp>
        <p:nvSpPr>
          <p:cNvPr id="187" name="Shape 185"/>
          <p:cNvSpPr/>
          <p:nvPr/>
        </p:nvSpPr>
        <p:spPr>
          <a:xfrm>
            <a:off x="3712464" y="6153912"/>
            <a:ext cx="1024128" cy="73152"/>
          </a:xfrm>
          <a:prstGeom prst="rect">
            <a:avLst/>
          </a:prstGeom>
          <a:solidFill>
            <a:srgbClr val="D85A30"/>
          </a:solidFill>
          <a:ln w="12700">
            <a:solidFill>
              <a:srgbClr val="D85A30"/>
            </a:solidFill>
            <a:prstDash val="solid"/>
          </a:ln>
        </p:spPr>
      </p:sp>
      <p:sp>
        <p:nvSpPr>
          <p:cNvPr id="188" name="Text 186"/>
          <p:cNvSpPr/>
          <p:nvPr/>
        </p:nvSpPr>
        <p:spPr>
          <a:xfrm>
            <a:off x="3712464" y="6245352"/>
            <a:ext cx="102412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D85A30"/>
                </a:solidFill>
              </a:rPr>
              <a:t>335h · 53 subs finalizadas</a:t>
            </a:r>
            <a:endParaRPr lang="en-US" sz="950" dirty="0"/>
          </a:p>
        </p:txBody>
      </p:sp>
      <p:sp>
        <p:nvSpPr>
          <p:cNvPr id="189" name="Text 187"/>
          <p:cNvSpPr/>
          <p:nvPr/>
        </p:nvSpPr>
        <p:spPr>
          <a:xfrm>
            <a:off x="3712464" y="6464808"/>
            <a:ext cx="102412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888888"/>
                </a:solidFill>
              </a:rPr>
              <a:t>168h estimadas</a:t>
            </a:r>
            <a:endParaRPr lang="en-US" sz="850" dirty="0"/>
          </a:p>
        </p:txBody>
      </p:sp>
      <p:sp>
        <p:nvSpPr>
          <p:cNvPr id="190" name="Shape 188"/>
          <p:cNvSpPr/>
          <p:nvPr/>
        </p:nvSpPr>
        <p:spPr>
          <a:xfrm>
            <a:off x="3712464" y="6647688"/>
            <a:ext cx="1024128" cy="201168"/>
          </a:xfrm>
          <a:prstGeom prst="rect">
            <a:avLst/>
          </a:prstGeom>
          <a:solidFill>
            <a:srgbClr val="FEE2E2"/>
          </a:solidFill>
          <a:ln w="12700">
            <a:solidFill>
              <a:srgbClr val="FCA5A5"/>
            </a:solidFill>
            <a:prstDash val="solid"/>
          </a:ln>
        </p:spPr>
      </p:sp>
      <p:sp>
        <p:nvSpPr>
          <p:cNvPr id="191" name="Text 189"/>
          <p:cNvSpPr/>
          <p:nvPr/>
        </p:nvSpPr>
        <p:spPr>
          <a:xfrm>
            <a:off x="3712464" y="6647688"/>
            <a:ext cx="102412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DC2626"/>
                </a:solidFill>
              </a:rPr>
              <a:t>⚠ 3 fix(s) sem card</a:t>
            </a:r>
            <a:endParaRPr lang="en-US" sz="750" dirty="0"/>
          </a:p>
        </p:txBody>
      </p:sp>
      <p:sp>
        <p:nvSpPr>
          <p:cNvPr id="192" name="Shape 190"/>
          <p:cNvSpPr/>
          <p:nvPr/>
        </p:nvSpPr>
        <p:spPr>
          <a:xfrm>
            <a:off x="4873752" y="5879592"/>
            <a:ext cx="1133856" cy="932688"/>
          </a:xfrm>
          <a:prstGeom prst="rect">
            <a:avLst/>
          </a:prstGeom>
          <a:solidFill>
            <a:srgbClr val="FFFFFF"/>
          </a:solidFill>
          <a:ln w="12700">
            <a:solidFill>
              <a:srgbClr val="FCA5A5"/>
            </a:solidFill>
            <a:prstDash val="solid"/>
          </a:ln>
          <a:effectLst>
            <a:outerShdw sx="100000" sy="100000" kx="0" ky="0" algn="bl" rotWithShape="0" blurRad="38100" dist="25400" dir="5400000">
              <a:srgbClr val="CCCCCC">
                <a:alpha val="25000"/>
              </a:srgbClr>
            </a:outerShdw>
          </a:effectLst>
        </p:spPr>
      </p:sp>
      <p:sp>
        <p:nvSpPr>
          <p:cNvPr id="193" name="Text 191"/>
          <p:cNvSpPr/>
          <p:nvPr/>
        </p:nvSpPr>
        <p:spPr>
          <a:xfrm>
            <a:off x="4928616" y="5952744"/>
            <a:ext cx="102412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222222"/>
                </a:solidFill>
              </a:rPr>
              <a:t>Carlos H. Almeida</a:t>
            </a:r>
            <a:endParaRPr lang="en-US" sz="850" dirty="0"/>
          </a:p>
        </p:txBody>
      </p:sp>
      <p:sp>
        <p:nvSpPr>
          <p:cNvPr id="194" name="Shape 192"/>
          <p:cNvSpPr/>
          <p:nvPr/>
        </p:nvSpPr>
        <p:spPr>
          <a:xfrm>
            <a:off x="4928616" y="6153912"/>
            <a:ext cx="1024128" cy="73152"/>
          </a:xfrm>
          <a:prstGeom prst="rect">
            <a:avLst/>
          </a:prstGeom>
          <a:solidFill>
            <a:srgbClr val="E8EDF2"/>
          </a:solidFill>
          <a:ln w="12700">
            <a:solidFill>
              <a:srgbClr val="E8EDF2"/>
            </a:solidFill>
            <a:prstDash val="solid"/>
          </a:ln>
        </p:spPr>
      </p:sp>
      <p:sp>
        <p:nvSpPr>
          <p:cNvPr id="195" name="Shape 193"/>
          <p:cNvSpPr/>
          <p:nvPr/>
        </p:nvSpPr>
        <p:spPr>
          <a:xfrm>
            <a:off x="4928616" y="6153912"/>
            <a:ext cx="1024128" cy="73152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196" name="Text 194"/>
          <p:cNvSpPr/>
          <p:nvPr/>
        </p:nvSpPr>
        <p:spPr>
          <a:xfrm>
            <a:off x="4928616" y="6245352"/>
            <a:ext cx="102412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D97706"/>
                </a:solidFill>
              </a:rPr>
              <a:t>268.2h · 34 subs finalizadas</a:t>
            </a:r>
            <a:endParaRPr lang="en-US" sz="950" dirty="0"/>
          </a:p>
        </p:txBody>
      </p:sp>
      <p:sp>
        <p:nvSpPr>
          <p:cNvPr id="197" name="Text 195"/>
          <p:cNvSpPr/>
          <p:nvPr/>
        </p:nvSpPr>
        <p:spPr>
          <a:xfrm>
            <a:off x="4928616" y="6464808"/>
            <a:ext cx="102412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888888"/>
                </a:solidFill>
              </a:rPr>
              <a:t>217h estimadas</a:t>
            </a:r>
            <a:endParaRPr lang="en-US" sz="850" dirty="0"/>
          </a:p>
        </p:txBody>
      </p:sp>
      <p:sp>
        <p:nvSpPr>
          <p:cNvPr id="198" name="Shape 196"/>
          <p:cNvSpPr/>
          <p:nvPr/>
        </p:nvSpPr>
        <p:spPr>
          <a:xfrm>
            <a:off x="4928616" y="6647688"/>
            <a:ext cx="1024128" cy="201168"/>
          </a:xfrm>
          <a:prstGeom prst="rect">
            <a:avLst/>
          </a:prstGeom>
          <a:solidFill>
            <a:srgbClr val="FEE2E2"/>
          </a:solidFill>
          <a:ln w="12700">
            <a:solidFill>
              <a:srgbClr val="FCA5A5"/>
            </a:solidFill>
            <a:prstDash val="solid"/>
          </a:ln>
        </p:spPr>
      </p:sp>
      <p:sp>
        <p:nvSpPr>
          <p:cNvPr id="199" name="Text 197"/>
          <p:cNvSpPr/>
          <p:nvPr/>
        </p:nvSpPr>
        <p:spPr>
          <a:xfrm>
            <a:off x="4928616" y="6647688"/>
            <a:ext cx="102412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DC2626"/>
                </a:solidFill>
              </a:rPr>
              <a:t>⚠ 6 fix(s) sem card</a:t>
            </a:r>
            <a:endParaRPr lang="en-US" sz="750" dirty="0"/>
          </a:p>
        </p:txBody>
      </p:sp>
      <p:sp>
        <p:nvSpPr>
          <p:cNvPr id="200" name="Shape 198"/>
          <p:cNvSpPr/>
          <p:nvPr/>
        </p:nvSpPr>
        <p:spPr>
          <a:xfrm>
            <a:off x="6089904" y="5879592"/>
            <a:ext cx="1133856" cy="932688"/>
          </a:xfrm>
          <a:prstGeom prst="rect">
            <a:avLst/>
          </a:prstGeom>
          <a:solidFill>
            <a:srgbClr val="FFFFFF"/>
          </a:solidFill>
          <a:ln w="12700">
            <a:solidFill>
              <a:srgbClr val="DDDDDD"/>
            </a:solidFill>
            <a:prstDash val="solid"/>
          </a:ln>
          <a:effectLst>
            <a:outerShdw sx="100000" sy="100000" kx="0" ky="0" algn="bl" rotWithShape="0" blurRad="38100" dist="25400" dir="5400000">
              <a:srgbClr val="CCCCCC">
                <a:alpha val="25000"/>
              </a:srgbClr>
            </a:outerShdw>
          </a:effectLst>
        </p:spPr>
      </p:sp>
      <p:sp>
        <p:nvSpPr>
          <p:cNvPr id="201" name="Text 199"/>
          <p:cNvSpPr/>
          <p:nvPr/>
        </p:nvSpPr>
        <p:spPr>
          <a:xfrm>
            <a:off x="6144768" y="5952744"/>
            <a:ext cx="102412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222222"/>
                </a:solidFill>
              </a:rPr>
              <a:t>Maria E. Muniz</a:t>
            </a:r>
            <a:endParaRPr lang="en-US" sz="850" dirty="0"/>
          </a:p>
        </p:txBody>
      </p:sp>
      <p:sp>
        <p:nvSpPr>
          <p:cNvPr id="202" name="Shape 200"/>
          <p:cNvSpPr/>
          <p:nvPr/>
        </p:nvSpPr>
        <p:spPr>
          <a:xfrm>
            <a:off x="6144768" y="6153912"/>
            <a:ext cx="1024128" cy="73152"/>
          </a:xfrm>
          <a:prstGeom prst="rect">
            <a:avLst/>
          </a:prstGeom>
          <a:solidFill>
            <a:srgbClr val="E8EDF2"/>
          </a:solidFill>
          <a:ln w="12700">
            <a:solidFill>
              <a:srgbClr val="E8EDF2"/>
            </a:solidFill>
            <a:prstDash val="solid"/>
          </a:ln>
        </p:spPr>
      </p:sp>
      <p:sp>
        <p:nvSpPr>
          <p:cNvPr id="203" name="Shape 201"/>
          <p:cNvSpPr/>
          <p:nvPr/>
        </p:nvSpPr>
        <p:spPr>
          <a:xfrm>
            <a:off x="6144768" y="6153912"/>
            <a:ext cx="1024128" cy="73152"/>
          </a:xfrm>
          <a:prstGeom prst="rect">
            <a:avLst/>
          </a:prstGeom>
          <a:solidFill>
            <a:srgbClr val="D85A30"/>
          </a:solidFill>
          <a:ln w="12700">
            <a:solidFill>
              <a:srgbClr val="D85A30"/>
            </a:solidFill>
            <a:prstDash val="solid"/>
          </a:ln>
        </p:spPr>
      </p:sp>
      <p:sp>
        <p:nvSpPr>
          <p:cNvPr id="204" name="Text 202"/>
          <p:cNvSpPr/>
          <p:nvPr/>
        </p:nvSpPr>
        <p:spPr>
          <a:xfrm>
            <a:off x="6144768" y="6245352"/>
            <a:ext cx="102412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D85A30"/>
                </a:solidFill>
              </a:rPr>
              <a:t>91.5h · 21 subs finalizadas</a:t>
            </a:r>
            <a:endParaRPr lang="en-US" sz="950" dirty="0"/>
          </a:p>
        </p:txBody>
      </p:sp>
      <p:sp>
        <p:nvSpPr>
          <p:cNvPr id="205" name="Text 203"/>
          <p:cNvSpPr/>
          <p:nvPr/>
        </p:nvSpPr>
        <p:spPr>
          <a:xfrm>
            <a:off x="6144768" y="6464808"/>
            <a:ext cx="102412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888888"/>
                </a:solidFill>
              </a:rPr>
              <a:t>53h estimadas</a:t>
            </a:r>
            <a:endParaRPr lang="en-US" sz="850" dirty="0"/>
          </a:p>
        </p:txBody>
      </p:sp>
      <p:sp>
        <p:nvSpPr>
          <p:cNvPr id="206" name="Shape 204"/>
          <p:cNvSpPr/>
          <p:nvPr/>
        </p:nvSpPr>
        <p:spPr>
          <a:xfrm>
            <a:off x="7306056" y="5879592"/>
            <a:ext cx="1133856" cy="932688"/>
          </a:xfrm>
          <a:prstGeom prst="rect">
            <a:avLst/>
          </a:prstGeom>
          <a:solidFill>
            <a:srgbClr val="FFFFFF"/>
          </a:solidFill>
          <a:ln w="12700">
            <a:solidFill>
              <a:srgbClr val="FCA5A5"/>
            </a:solidFill>
            <a:prstDash val="solid"/>
          </a:ln>
          <a:effectLst>
            <a:outerShdw sx="100000" sy="100000" kx="0" ky="0" algn="bl" rotWithShape="0" blurRad="38100" dist="25400" dir="5400000">
              <a:srgbClr val="CCCCCC">
                <a:alpha val="25000"/>
              </a:srgbClr>
            </a:outerShdw>
          </a:effectLst>
        </p:spPr>
      </p:sp>
      <p:sp>
        <p:nvSpPr>
          <p:cNvPr id="207" name="Text 205"/>
          <p:cNvSpPr/>
          <p:nvPr/>
        </p:nvSpPr>
        <p:spPr>
          <a:xfrm>
            <a:off x="7360920" y="5952744"/>
            <a:ext cx="102412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222222"/>
                </a:solidFill>
              </a:rPr>
              <a:t>Fabio Santos</a:t>
            </a:r>
            <a:endParaRPr lang="en-US" sz="850" dirty="0"/>
          </a:p>
        </p:txBody>
      </p:sp>
      <p:sp>
        <p:nvSpPr>
          <p:cNvPr id="208" name="Shape 206"/>
          <p:cNvSpPr/>
          <p:nvPr/>
        </p:nvSpPr>
        <p:spPr>
          <a:xfrm>
            <a:off x="7360920" y="6153912"/>
            <a:ext cx="1024128" cy="73152"/>
          </a:xfrm>
          <a:prstGeom prst="rect">
            <a:avLst/>
          </a:prstGeom>
          <a:solidFill>
            <a:srgbClr val="E8EDF2"/>
          </a:solidFill>
          <a:ln w="12700">
            <a:solidFill>
              <a:srgbClr val="E8EDF2"/>
            </a:solidFill>
            <a:prstDash val="solid"/>
          </a:ln>
        </p:spPr>
      </p:sp>
      <p:sp>
        <p:nvSpPr>
          <p:cNvPr id="209" name="Shape 207"/>
          <p:cNvSpPr/>
          <p:nvPr/>
        </p:nvSpPr>
        <p:spPr>
          <a:xfrm>
            <a:off x="7360920" y="6153912"/>
            <a:ext cx="731804" cy="73152"/>
          </a:xfrm>
          <a:prstGeom prst="rect">
            <a:avLst/>
          </a:prstGeom>
          <a:solidFill>
            <a:srgbClr val="1D9E75"/>
          </a:solidFill>
          <a:ln w="12700">
            <a:solidFill>
              <a:srgbClr val="1D9E75"/>
            </a:solidFill>
            <a:prstDash val="solid"/>
          </a:ln>
        </p:spPr>
      </p:sp>
      <p:sp>
        <p:nvSpPr>
          <p:cNvPr id="210" name="Text 208"/>
          <p:cNvSpPr/>
          <p:nvPr/>
        </p:nvSpPr>
        <p:spPr>
          <a:xfrm>
            <a:off x="7360920" y="6245352"/>
            <a:ext cx="102412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1D9E75"/>
                </a:solidFill>
              </a:rPr>
              <a:t>220.8h · 54 subs finalizadas</a:t>
            </a:r>
            <a:endParaRPr lang="en-US" sz="950" dirty="0"/>
          </a:p>
        </p:txBody>
      </p:sp>
      <p:sp>
        <p:nvSpPr>
          <p:cNvPr id="211" name="Text 209"/>
          <p:cNvSpPr/>
          <p:nvPr/>
        </p:nvSpPr>
        <p:spPr>
          <a:xfrm>
            <a:off x="7360920" y="6464808"/>
            <a:ext cx="102412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888888"/>
                </a:solidFill>
              </a:rPr>
              <a:t>309h estimadas</a:t>
            </a:r>
            <a:endParaRPr lang="en-US" sz="850" dirty="0"/>
          </a:p>
        </p:txBody>
      </p:sp>
      <p:sp>
        <p:nvSpPr>
          <p:cNvPr id="212" name="Shape 210"/>
          <p:cNvSpPr/>
          <p:nvPr/>
        </p:nvSpPr>
        <p:spPr>
          <a:xfrm>
            <a:off x="7360920" y="6647688"/>
            <a:ext cx="1024128" cy="201168"/>
          </a:xfrm>
          <a:prstGeom prst="rect">
            <a:avLst/>
          </a:prstGeom>
          <a:solidFill>
            <a:srgbClr val="FEE2E2"/>
          </a:solidFill>
          <a:ln w="12700">
            <a:solidFill>
              <a:srgbClr val="FCA5A5"/>
            </a:solidFill>
            <a:prstDash val="solid"/>
          </a:ln>
        </p:spPr>
      </p:sp>
      <p:sp>
        <p:nvSpPr>
          <p:cNvPr id="213" name="Text 211"/>
          <p:cNvSpPr/>
          <p:nvPr/>
        </p:nvSpPr>
        <p:spPr>
          <a:xfrm>
            <a:off x="7360920" y="6647688"/>
            <a:ext cx="102412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DC2626"/>
                </a:solidFill>
              </a:rPr>
              <a:t>⚠ 19 fix(s) sem card</a:t>
            </a:r>
            <a:endParaRPr lang="en-US" sz="750" dirty="0"/>
          </a:p>
        </p:txBody>
      </p:sp>
      <p:sp>
        <p:nvSpPr>
          <p:cNvPr id="214" name="Shape 212"/>
          <p:cNvSpPr/>
          <p:nvPr/>
        </p:nvSpPr>
        <p:spPr>
          <a:xfrm>
            <a:off x="8522208" y="5879592"/>
            <a:ext cx="1133856" cy="932688"/>
          </a:xfrm>
          <a:prstGeom prst="rect">
            <a:avLst/>
          </a:prstGeom>
          <a:solidFill>
            <a:srgbClr val="FFFFFF"/>
          </a:solidFill>
          <a:ln w="12700">
            <a:solidFill>
              <a:srgbClr val="FCA5A5"/>
            </a:solidFill>
            <a:prstDash val="solid"/>
          </a:ln>
          <a:effectLst>
            <a:outerShdw sx="100000" sy="100000" kx="0" ky="0" algn="bl" rotWithShape="0" blurRad="38100" dist="25400" dir="5400000">
              <a:srgbClr val="CCCCCC">
                <a:alpha val="25000"/>
              </a:srgbClr>
            </a:outerShdw>
          </a:effectLst>
        </p:spPr>
      </p:sp>
      <p:sp>
        <p:nvSpPr>
          <p:cNvPr id="215" name="Text 213"/>
          <p:cNvSpPr/>
          <p:nvPr/>
        </p:nvSpPr>
        <p:spPr>
          <a:xfrm>
            <a:off x="8577072" y="5952744"/>
            <a:ext cx="102412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222222"/>
                </a:solidFill>
              </a:rPr>
              <a:t>Albert V. Foureaux</a:t>
            </a:r>
            <a:endParaRPr lang="en-US" sz="850" dirty="0"/>
          </a:p>
        </p:txBody>
      </p:sp>
      <p:sp>
        <p:nvSpPr>
          <p:cNvPr id="216" name="Shape 214"/>
          <p:cNvSpPr/>
          <p:nvPr/>
        </p:nvSpPr>
        <p:spPr>
          <a:xfrm>
            <a:off x="8577072" y="6153912"/>
            <a:ext cx="1024128" cy="73152"/>
          </a:xfrm>
          <a:prstGeom prst="rect">
            <a:avLst/>
          </a:prstGeom>
          <a:solidFill>
            <a:srgbClr val="E8EDF2"/>
          </a:solidFill>
          <a:ln w="12700">
            <a:solidFill>
              <a:srgbClr val="E8EDF2"/>
            </a:solidFill>
            <a:prstDash val="solid"/>
          </a:ln>
        </p:spPr>
      </p:sp>
      <p:sp>
        <p:nvSpPr>
          <p:cNvPr id="217" name="Shape 215"/>
          <p:cNvSpPr/>
          <p:nvPr/>
        </p:nvSpPr>
        <p:spPr>
          <a:xfrm>
            <a:off x="8577072" y="6153912"/>
            <a:ext cx="1024128" cy="73152"/>
          </a:xfrm>
          <a:prstGeom prst="rect">
            <a:avLst/>
          </a:prstGeom>
          <a:solidFill>
            <a:srgbClr val="1D9E75"/>
          </a:solidFill>
          <a:ln w="12700">
            <a:solidFill>
              <a:srgbClr val="1D9E75"/>
            </a:solidFill>
            <a:prstDash val="solid"/>
          </a:ln>
        </p:spPr>
      </p:sp>
      <p:sp>
        <p:nvSpPr>
          <p:cNvPr id="218" name="Text 216"/>
          <p:cNvSpPr/>
          <p:nvPr/>
        </p:nvSpPr>
        <p:spPr>
          <a:xfrm>
            <a:off x="8577072" y="6245352"/>
            <a:ext cx="102412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1D9E75"/>
                </a:solidFill>
              </a:rPr>
              <a:t>6.5h · 1 subs finalizadas</a:t>
            </a:r>
            <a:endParaRPr lang="en-US" sz="950" dirty="0"/>
          </a:p>
        </p:txBody>
      </p:sp>
      <p:sp>
        <p:nvSpPr>
          <p:cNvPr id="219" name="Text 217"/>
          <p:cNvSpPr/>
          <p:nvPr/>
        </p:nvSpPr>
        <p:spPr>
          <a:xfrm>
            <a:off x="8577072" y="6464808"/>
            <a:ext cx="102412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888888"/>
                </a:solidFill>
              </a:rPr>
              <a:t>6.5h estimadas</a:t>
            </a:r>
            <a:endParaRPr lang="en-US" sz="850" dirty="0"/>
          </a:p>
        </p:txBody>
      </p:sp>
      <p:sp>
        <p:nvSpPr>
          <p:cNvPr id="220" name="Shape 218"/>
          <p:cNvSpPr/>
          <p:nvPr/>
        </p:nvSpPr>
        <p:spPr>
          <a:xfrm>
            <a:off x="8577072" y="6647688"/>
            <a:ext cx="1024128" cy="201168"/>
          </a:xfrm>
          <a:prstGeom prst="rect">
            <a:avLst/>
          </a:prstGeom>
          <a:solidFill>
            <a:srgbClr val="FEE2E2"/>
          </a:solidFill>
          <a:ln w="12700">
            <a:solidFill>
              <a:srgbClr val="FCA5A5"/>
            </a:solidFill>
            <a:prstDash val="solid"/>
          </a:ln>
        </p:spPr>
      </p:sp>
      <p:sp>
        <p:nvSpPr>
          <p:cNvPr id="221" name="Text 219"/>
          <p:cNvSpPr/>
          <p:nvPr/>
        </p:nvSpPr>
        <p:spPr>
          <a:xfrm>
            <a:off x="8577072" y="6647688"/>
            <a:ext cx="102412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DC2626"/>
                </a:solidFill>
              </a:rPr>
              <a:t>⚠ 5 fix(s) sem card</a:t>
            </a:r>
            <a:endParaRPr lang="en-US" sz="750" dirty="0"/>
          </a:p>
        </p:txBody>
      </p:sp>
      <p:sp>
        <p:nvSpPr>
          <p:cNvPr id="222" name="Shape 220"/>
          <p:cNvSpPr/>
          <p:nvPr/>
        </p:nvSpPr>
        <p:spPr>
          <a:xfrm>
            <a:off x="9738360" y="5879592"/>
            <a:ext cx="1133856" cy="932688"/>
          </a:xfrm>
          <a:prstGeom prst="rect">
            <a:avLst/>
          </a:prstGeom>
          <a:solidFill>
            <a:srgbClr val="FFFFFF"/>
          </a:solidFill>
          <a:ln w="12700">
            <a:solidFill>
              <a:srgbClr val="DDDDDD"/>
            </a:solidFill>
            <a:prstDash val="solid"/>
          </a:ln>
          <a:effectLst>
            <a:outerShdw sx="100000" sy="100000" kx="0" ky="0" algn="bl" rotWithShape="0" blurRad="38100" dist="25400" dir="5400000">
              <a:srgbClr val="CCCCCC">
                <a:alpha val="25000"/>
              </a:srgbClr>
            </a:outerShdw>
          </a:effectLst>
        </p:spPr>
      </p:sp>
      <p:sp>
        <p:nvSpPr>
          <p:cNvPr id="223" name="Text 221"/>
          <p:cNvSpPr/>
          <p:nvPr/>
        </p:nvSpPr>
        <p:spPr>
          <a:xfrm>
            <a:off x="9793224" y="5952744"/>
            <a:ext cx="102412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222222"/>
                </a:solidFill>
              </a:rPr>
              <a:t>James G. Pereira</a:t>
            </a:r>
            <a:endParaRPr lang="en-US" sz="850" dirty="0"/>
          </a:p>
        </p:txBody>
      </p:sp>
      <p:sp>
        <p:nvSpPr>
          <p:cNvPr id="224" name="Shape 222"/>
          <p:cNvSpPr/>
          <p:nvPr/>
        </p:nvSpPr>
        <p:spPr>
          <a:xfrm>
            <a:off x="9793224" y="6153912"/>
            <a:ext cx="1024128" cy="73152"/>
          </a:xfrm>
          <a:prstGeom prst="rect">
            <a:avLst/>
          </a:prstGeom>
          <a:solidFill>
            <a:srgbClr val="E8EDF2"/>
          </a:solidFill>
          <a:ln w="12700">
            <a:solidFill>
              <a:srgbClr val="E8EDF2"/>
            </a:solidFill>
            <a:prstDash val="solid"/>
          </a:ln>
        </p:spPr>
      </p:sp>
      <p:sp>
        <p:nvSpPr>
          <p:cNvPr id="225" name="Shape 223"/>
          <p:cNvSpPr/>
          <p:nvPr/>
        </p:nvSpPr>
        <p:spPr>
          <a:xfrm>
            <a:off x="9793224" y="6153912"/>
            <a:ext cx="931025" cy="73152"/>
          </a:xfrm>
          <a:prstGeom prst="rect">
            <a:avLst/>
          </a:prstGeom>
          <a:solidFill>
            <a:srgbClr val="1D9E75"/>
          </a:solidFill>
          <a:ln w="12700">
            <a:solidFill>
              <a:srgbClr val="1D9E75"/>
            </a:solidFill>
            <a:prstDash val="solid"/>
          </a:ln>
        </p:spPr>
      </p:sp>
      <p:sp>
        <p:nvSpPr>
          <p:cNvPr id="226" name="Text 224"/>
          <p:cNvSpPr/>
          <p:nvPr/>
        </p:nvSpPr>
        <p:spPr>
          <a:xfrm>
            <a:off x="9793224" y="6245352"/>
            <a:ext cx="102412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1D9E75"/>
                </a:solidFill>
              </a:rPr>
              <a:t>30h · 5 subs finalizadas</a:t>
            </a:r>
            <a:endParaRPr lang="en-US" sz="950" dirty="0"/>
          </a:p>
        </p:txBody>
      </p:sp>
      <p:sp>
        <p:nvSpPr>
          <p:cNvPr id="227" name="Text 225"/>
          <p:cNvSpPr/>
          <p:nvPr/>
        </p:nvSpPr>
        <p:spPr>
          <a:xfrm>
            <a:off x="9793224" y="6464808"/>
            <a:ext cx="102412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888888"/>
                </a:solidFill>
              </a:rPr>
              <a:t>33h estimadas</a:t>
            </a:r>
            <a:endParaRPr lang="en-US" sz="850" dirty="0"/>
          </a:p>
        </p:txBody>
      </p:sp>
      <p:sp>
        <p:nvSpPr>
          <p:cNvPr id="228" name="Shape 226"/>
          <p:cNvSpPr/>
          <p:nvPr/>
        </p:nvSpPr>
        <p:spPr>
          <a:xfrm>
            <a:off x="10954512" y="5879592"/>
            <a:ext cx="1133856" cy="932688"/>
          </a:xfrm>
          <a:prstGeom prst="rect">
            <a:avLst/>
          </a:prstGeom>
          <a:solidFill>
            <a:srgbClr val="FFFFFF"/>
          </a:solidFill>
          <a:ln w="12700">
            <a:solidFill>
              <a:srgbClr val="DDDDDD"/>
            </a:solidFill>
            <a:prstDash val="solid"/>
          </a:ln>
          <a:effectLst>
            <a:outerShdw sx="100000" sy="100000" kx="0" ky="0" algn="bl" rotWithShape="0" blurRad="38100" dist="25400" dir="5400000">
              <a:srgbClr val="CCCCCC">
                <a:alpha val="25000"/>
              </a:srgbClr>
            </a:outerShdw>
          </a:effectLst>
        </p:spPr>
      </p:sp>
      <p:sp>
        <p:nvSpPr>
          <p:cNvPr id="229" name="Text 227"/>
          <p:cNvSpPr/>
          <p:nvPr/>
        </p:nvSpPr>
        <p:spPr>
          <a:xfrm>
            <a:off x="11009376" y="5952744"/>
            <a:ext cx="102412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222222"/>
                </a:solidFill>
              </a:rPr>
              <a:t>Ricardo Cardoso</a:t>
            </a:r>
            <a:endParaRPr lang="en-US" sz="850" dirty="0"/>
          </a:p>
        </p:txBody>
      </p:sp>
      <p:sp>
        <p:nvSpPr>
          <p:cNvPr id="230" name="Shape 228"/>
          <p:cNvSpPr/>
          <p:nvPr/>
        </p:nvSpPr>
        <p:spPr>
          <a:xfrm>
            <a:off x="11009376" y="6153912"/>
            <a:ext cx="1024128" cy="73152"/>
          </a:xfrm>
          <a:prstGeom prst="rect">
            <a:avLst/>
          </a:prstGeom>
          <a:solidFill>
            <a:srgbClr val="E8EDF2"/>
          </a:solidFill>
          <a:ln w="12700">
            <a:solidFill>
              <a:srgbClr val="E8EDF2"/>
            </a:solidFill>
            <a:prstDash val="solid"/>
          </a:ln>
        </p:spPr>
      </p:sp>
      <p:sp>
        <p:nvSpPr>
          <p:cNvPr id="231" name="Shape 229"/>
          <p:cNvSpPr/>
          <p:nvPr/>
        </p:nvSpPr>
        <p:spPr>
          <a:xfrm>
            <a:off x="11009376" y="6153912"/>
            <a:ext cx="885444" cy="73152"/>
          </a:xfrm>
          <a:prstGeom prst="rect">
            <a:avLst/>
          </a:prstGeom>
          <a:solidFill>
            <a:srgbClr val="1D9E75"/>
          </a:solidFill>
          <a:ln w="12700">
            <a:solidFill>
              <a:srgbClr val="1D9E75"/>
            </a:solidFill>
            <a:prstDash val="solid"/>
          </a:ln>
        </p:spPr>
      </p:sp>
      <p:sp>
        <p:nvSpPr>
          <p:cNvPr id="232" name="Text 230"/>
          <p:cNvSpPr/>
          <p:nvPr/>
        </p:nvSpPr>
        <p:spPr>
          <a:xfrm>
            <a:off x="11009376" y="6245352"/>
            <a:ext cx="102412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1D9E75"/>
                </a:solidFill>
              </a:rPr>
              <a:t>124.5h · 89 subs finalizadas</a:t>
            </a:r>
            <a:endParaRPr lang="en-US" sz="950" dirty="0"/>
          </a:p>
        </p:txBody>
      </p:sp>
      <p:sp>
        <p:nvSpPr>
          <p:cNvPr id="233" name="Text 231"/>
          <p:cNvSpPr/>
          <p:nvPr/>
        </p:nvSpPr>
        <p:spPr>
          <a:xfrm>
            <a:off x="11009376" y="6464808"/>
            <a:ext cx="102412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888888"/>
                </a:solidFill>
              </a:rPr>
              <a:t>144h estimadas</a:t>
            </a:r>
            <a:endParaRPr lang="en-US" sz="8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Slide 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Status Report — Quadro de Aulas</dc:title>
  <dc:subject>PptxGenJS Presentation</dc:subject>
  <dc:creator>PptxGenJS</dc:creator>
  <cp:lastModifiedBy>PptxGenJS</cp:lastModifiedBy>
  <cp:revision>1</cp:revision>
  <dcterms:created xsi:type="dcterms:W3CDTF">2026-07-01T11:40:26Z</dcterms:created>
  <dcterms:modified xsi:type="dcterms:W3CDTF">2026-07-01T11:40:26Z</dcterms:modified>
</cp:coreProperties>
</file>