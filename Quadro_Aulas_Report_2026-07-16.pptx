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16459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400" kern="0" dirty="0">
                <a:solidFill>
                  <a:srgbClr val="8FA3C0"/>
                </a:solidFill>
              </a:rPr>
              <a:t>STATUS REPORT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37160" y="32918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Quadro de Aulas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37160" y="64008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FA3C0"/>
                </a:solidFill>
              </a:rPr>
              <a:t>Resiliencia Sistemica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7160" y="82296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16 de Julho de 2026 as 09:30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37160" y="1005840"/>
            <a:ext cx="2057400" cy="13716"/>
          </a:xfrm>
          <a:prstGeom prst="rect">
            <a:avLst/>
          </a:prstGeom>
          <a:solidFill>
            <a:srgbClr val="2D4A73"/>
          </a:solidFill>
          <a:ln w="12700">
            <a:solidFill>
              <a:srgbClr val="2D4A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1078992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TOTAL DE ITENS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37160" y="12252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394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" y="164592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CONCLUIDOS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37160" y="179222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ADE80"/>
                </a:solidFill>
              </a:rPr>
              <a:t>339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" y="221284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EM PROGRESSO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37160" y="235915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CD34D"/>
                </a:solidFill>
              </a:rPr>
              <a:t>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" y="277977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A FAZER / BACKLOG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37160" y="29260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31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7160" y="338328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PROGRESSO GERAL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137160" y="3538728"/>
            <a:ext cx="205740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3538728"/>
            <a:ext cx="1769364" cy="914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364845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86% concluido  .  339 de 394 itens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37160" y="3794760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Cancelados excluidos do escopo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37160" y="397764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VELOCIDADE RECENTE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37160" y="411480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CD34D"/>
                </a:solidFill>
              </a:rPr>
              <a:t>18h/dia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7160" y="4425696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velocidade fixada pelo time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37160" y="649224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Squad Lecionar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37160" y="664768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Cintia Baricatti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PRINCIPAL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441448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514600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5 Stories · 3 NFT · 71 itens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514600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1 . Em progresso: 0 . Finalizados: 70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514600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274h . Real: 294.3h . Rem: 1h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514600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14600" y="859536"/>
            <a:ext cx="1939260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14600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88% · 7 de 8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2514600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14600" y="1033272"/>
            <a:ext cx="2181667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14600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99% · 70 de 71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2514600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295.3h (+21.3h / +8%)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REDUNDANTE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73752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946904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Stories · 4 NFT · 114 itens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946904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2 . Em progresso: 0 . Finalizados: 112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946904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432.5h . Real: 596.6h . Rem: 3h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946904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46904" y="859536"/>
            <a:ext cx="2005371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46904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91% · 10 de 11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4946904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46904" y="1033272"/>
            <a:ext cx="2159630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46904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98% · 112 de 114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4946904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Projetado: 599.6h (+167.1h / +39%)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306056" y="73152"/>
            <a:ext cx="2350008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06056" y="73152"/>
            <a:ext cx="14570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COMPLEMENTARES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8786561" y="73152"/>
            <a:ext cx="8695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5D5"/>
                </a:solidFill>
              </a:rPr>
              <a:t>CANCELADO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7306056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7379208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 Story · 9 itens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7379208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0 . Em progresso: 0 . Finalizados: 9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7379208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27h . Real: 75.5h . Rem: 0h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79208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100% · 1 de 1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379208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100% · 9 de 9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7379208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Projetado: 75.5h (+48.5h / +180%)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OBSERVABILIDADE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9738360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9811512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17 Stories · 1 NFT · 124 itens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9811512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27 . Em progresso: 5 . Finalizados: 92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9811512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499.5h . Real: 264.8h . Rem: 111h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9811512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811512" y="859536"/>
            <a:ext cx="0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811512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0% · 0 de 18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9811512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811512" y="1033272"/>
            <a:ext cx="1630741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811512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74% · 92 de 124</a:t>
            </a:r>
            <a:endParaRPr lang="en-US" sz="650" dirty="0"/>
          </a:p>
        </p:txBody>
      </p:sp>
      <p:sp>
        <p:nvSpPr>
          <p:cNvPr id="78" name="Text 76"/>
          <p:cNvSpPr/>
          <p:nvPr/>
        </p:nvSpPr>
        <p:spPr>
          <a:xfrm>
            <a:off x="9811512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375.8h (-123.7h / -25%)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2441448" y="2121408"/>
            <a:ext cx="96469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2532888" y="2176272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HORAS - ESTIMADO vs. PROJETADO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253288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PLANEJADO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253288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</a:rPr>
              <a:t>1249h</a:t>
            </a:r>
            <a:endParaRPr lang="en-US" sz="2400" dirty="0"/>
          </a:p>
        </p:txBody>
      </p:sp>
      <p:sp>
        <p:nvSpPr>
          <p:cNvPr id="83" name="Text 81"/>
          <p:cNvSpPr/>
          <p:nvPr/>
        </p:nvSpPr>
        <p:spPr>
          <a:xfrm>
            <a:off x="253288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original estimate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485317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94461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JA GASTO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494461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1352.4h</a:t>
            </a:r>
            <a:endParaRPr lang="en-US" sz="2400" dirty="0"/>
          </a:p>
        </p:txBody>
      </p:sp>
      <p:sp>
        <p:nvSpPr>
          <p:cNvPr id="87" name="Text 85"/>
          <p:cNvSpPr/>
          <p:nvPr/>
        </p:nvSpPr>
        <p:spPr>
          <a:xfrm>
            <a:off x="494461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completed work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726490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35634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FALTA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735634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115h</a:t>
            </a:r>
            <a:endParaRPr lang="en-US" sz="2400" dirty="0"/>
          </a:p>
        </p:txBody>
      </p:sp>
      <p:sp>
        <p:nvSpPr>
          <p:cNvPr id="91" name="Text 89"/>
          <p:cNvSpPr/>
          <p:nvPr/>
        </p:nvSpPr>
        <p:spPr>
          <a:xfrm>
            <a:off x="735634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remaining (devs)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967663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76807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AUMENTO DE ESFORCO</a:t>
            </a:r>
            <a:endParaRPr lang="en-US" sz="700" dirty="0"/>
          </a:p>
        </p:txBody>
      </p:sp>
      <p:sp>
        <p:nvSpPr>
          <p:cNvPr id="94" name="Text 92"/>
          <p:cNvSpPr/>
          <p:nvPr/>
        </p:nvSpPr>
        <p:spPr>
          <a:xfrm>
            <a:off x="976807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+218.4h</a:t>
            </a:r>
            <a:endParaRPr lang="en-US" sz="2400" dirty="0"/>
          </a:p>
        </p:txBody>
      </p:sp>
      <p:sp>
        <p:nvSpPr>
          <p:cNvPr id="95" name="Text 93"/>
          <p:cNvSpPr/>
          <p:nvPr/>
        </p:nvSpPr>
        <p:spPr>
          <a:xfrm>
            <a:off x="976807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projetado: 1467.4h (+17%)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2441448" y="2916936"/>
            <a:ext cx="8890892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1332340" y="2916936"/>
            <a:ext cx="756028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44144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99" name="Text 97"/>
          <p:cNvSpPr/>
          <p:nvPr/>
        </p:nvSpPr>
        <p:spPr>
          <a:xfrm>
            <a:off x="255117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1 · Resiliencia Sistemica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656082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56082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6E56"/>
                </a:solidFill>
              </a:rPr>
              <a:t>98% concluido</a:t>
            </a:r>
            <a:endParaRPr lang="en-US" sz="650" dirty="0"/>
          </a:p>
        </p:txBody>
      </p:sp>
      <p:sp>
        <p:nvSpPr>
          <p:cNvPr id="102" name="Shape 100"/>
          <p:cNvSpPr/>
          <p:nvPr/>
        </p:nvSpPr>
        <p:spPr>
          <a:xfrm>
            <a:off x="2551176" y="3291840"/>
            <a:ext cx="4558284" cy="64008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551176" y="3291840"/>
            <a:ext cx="4467118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06" name="Text 104"/>
          <p:cNvSpPr/>
          <p:nvPr/>
        </p:nvSpPr>
        <p:spPr>
          <a:xfrm>
            <a:off x="255117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17/07/2026</a:t>
            </a:r>
            <a:endParaRPr lang="en-US" sz="1050" dirty="0"/>
          </a:p>
        </p:txBody>
      </p:sp>
      <p:sp>
        <p:nvSpPr>
          <p:cNvPr id="107" name="Shape 105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09" name="Text 107"/>
          <p:cNvSpPr/>
          <p:nvPr/>
        </p:nvSpPr>
        <p:spPr>
          <a:xfrm>
            <a:off x="407060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15/05/2026</a:t>
            </a:r>
            <a:endParaRPr lang="en-US" sz="1050" dirty="0"/>
          </a:p>
        </p:txBody>
      </p:sp>
      <p:sp>
        <p:nvSpPr>
          <p:cNvPr id="110" name="Shape 108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12" name="Text 110"/>
          <p:cNvSpPr/>
          <p:nvPr/>
        </p:nvSpPr>
        <p:spPr>
          <a:xfrm>
            <a:off x="559003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13" name="Shape 111"/>
          <p:cNvSpPr/>
          <p:nvPr/>
        </p:nvSpPr>
        <p:spPr>
          <a:xfrm>
            <a:off x="731062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14" name="Text 112"/>
          <p:cNvSpPr/>
          <p:nvPr/>
        </p:nvSpPr>
        <p:spPr>
          <a:xfrm>
            <a:off x="742035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2 · Observabilidade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1143000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1143000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91B1B"/>
                </a:solidFill>
              </a:rPr>
              <a:t>74% concluido</a:t>
            </a:r>
            <a:endParaRPr lang="en-US" sz="650" dirty="0"/>
          </a:p>
        </p:txBody>
      </p:sp>
      <p:sp>
        <p:nvSpPr>
          <p:cNvPr id="117" name="Shape 115"/>
          <p:cNvSpPr/>
          <p:nvPr/>
        </p:nvSpPr>
        <p:spPr>
          <a:xfrm>
            <a:off x="7420356" y="3291840"/>
            <a:ext cx="4558284" cy="64008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420356" y="3291840"/>
            <a:ext cx="3373130" cy="64008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21" name="Text 119"/>
          <p:cNvSpPr/>
          <p:nvPr/>
        </p:nvSpPr>
        <p:spPr>
          <a:xfrm>
            <a:off x="742035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24/07/2026</a:t>
            </a:r>
            <a:endParaRPr lang="en-US" sz="1050" dirty="0"/>
          </a:p>
        </p:txBody>
      </p:sp>
      <p:sp>
        <p:nvSpPr>
          <p:cNvPr id="122" name="Shape 120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24" name="Text 122"/>
          <p:cNvSpPr/>
          <p:nvPr/>
        </p:nvSpPr>
        <p:spPr>
          <a:xfrm>
            <a:off x="893978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25" name="Shape 123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27" name="Text 125"/>
          <p:cNvSpPr/>
          <p:nvPr/>
        </p:nvSpPr>
        <p:spPr>
          <a:xfrm>
            <a:off x="1045921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12/06/2026</a:t>
            </a:r>
            <a:endParaRPr lang="en-US" sz="1050" dirty="0"/>
          </a:p>
        </p:txBody>
      </p:sp>
      <p:sp>
        <p:nvSpPr>
          <p:cNvPr id="128" name="Shape 126"/>
          <p:cNvSpPr/>
          <p:nvPr/>
        </p:nvSpPr>
        <p:spPr>
          <a:xfrm>
            <a:off x="2441448" y="3913632"/>
            <a:ext cx="9646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29" name="Text 127"/>
          <p:cNvSpPr/>
          <p:nvPr/>
        </p:nvSpPr>
        <p:spPr>
          <a:xfrm>
            <a:off x="2532888" y="3968496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EFICIENCIA DA ENTREGA</a:t>
            </a:r>
            <a:endParaRPr lang="en-US" sz="700" dirty="0"/>
          </a:p>
        </p:txBody>
      </p:sp>
      <p:sp>
        <p:nvSpPr>
          <p:cNvPr id="130" name="Text 128"/>
          <p:cNvSpPr/>
          <p:nvPr/>
        </p:nvSpPr>
        <p:spPr>
          <a:xfrm>
            <a:off x="253288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5A30"/>
                </a:solidFill>
              </a:rPr>
              <a:t>18.1%</a:t>
            </a:r>
            <a:endParaRPr lang="en-US" sz="2200" dirty="0"/>
          </a:p>
        </p:txBody>
      </p:sp>
      <p:sp>
        <p:nvSpPr>
          <p:cNvPr id="131" name="Text 129"/>
          <p:cNvSpPr/>
          <p:nvPr/>
        </p:nvSpPr>
        <p:spPr>
          <a:xfrm>
            <a:off x="253288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Itens Estourados</a:t>
            </a:r>
            <a:endParaRPr lang="en-US" sz="800" dirty="0"/>
          </a:p>
        </p:txBody>
      </p:sp>
      <p:sp>
        <p:nvSpPr>
          <p:cNvPr id="132" name="Text 130"/>
          <p:cNvSpPr/>
          <p:nvPr/>
        </p:nvSpPr>
        <p:spPr>
          <a:xfrm>
            <a:off x="253288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das subs com estimativa</a:t>
            </a:r>
            <a:endParaRPr lang="en-US" sz="700" dirty="0"/>
          </a:p>
        </p:txBody>
      </p:sp>
      <p:sp>
        <p:nvSpPr>
          <p:cNvPr id="133" name="Shape 131"/>
          <p:cNvSpPr/>
          <p:nvPr/>
        </p:nvSpPr>
        <p:spPr>
          <a:xfrm>
            <a:off x="485317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494461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34AB7"/>
                </a:solidFill>
              </a:rPr>
              <a:t>11.0%</a:t>
            </a:r>
            <a:endParaRPr lang="en-US" sz="2200" dirty="0"/>
          </a:p>
        </p:txBody>
      </p:sp>
      <p:sp>
        <p:nvSpPr>
          <p:cNvPr id="135" name="Text 133"/>
          <p:cNvSpPr/>
          <p:nvPr/>
        </p:nvSpPr>
        <p:spPr>
          <a:xfrm>
            <a:off x="494461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Retrabalho Registrado</a:t>
            </a:r>
            <a:endParaRPr lang="en-US" sz="800" dirty="0"/>
          </a:p>
        </p:txBody>
      </p:sp>
      <p:sp>
        <p:nvSpPr>
          <p:cNvPr id="136" name="Text 134"/>
          <p:cNvSpPr/>
          <p:nvPr/>
        </p:nvSpPr>
        <p:spPr>
          <a:xfrm>
            <a:off x="494461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26 Sub Bug (ADO) · 136.8h</a:t>
            </a:r>
            <a:endParaRPr lang="en-US" sz="700" dirty="0"/>
          </a:p>
        </p:txBody>
      </p:sp>
      <p:sp>
        <p:nvSpPr>
          <p:cNvPr id="137" name="Shape 135"/>
          <p:cNvSpPr/>
          <p:nvPr/>
        </p:nvSpPr>
        <p:spPr>
          <a:xfrm>
            <a:off x="726490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735634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06"/>
                </a:solidFill>
              </a:rPr>
              <a:t>31</a:t>
            </a:r>
            <a:endParaRPr lang="en-US" sz="2200" dirty="0"/>
          </a:p>
        </p:txBody>
      </p:sp>
      <p:sp>
        <p:nvSpPr>
          <p:cNvPr id="139" name="Text 137"/>
          <p:cNvSpPr/>
          <p:nvPr/>
        </p:nvSpPr>
        <p:spPr>
          <a:xfrm>
            <a:off x="735634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Retrabalho Oculto</a:t>
            </a:r>
            <a:endParaRPr lang="en-US" sz="800" dirty="0"/>
          </a:p>
        </p:txBody>
      </p:sp>
      <p:sp>
        <p:nvSpPr>
          <p:cNvPr id="140" name="Text 138"/>
          <p:cNvSpPr/>
          <p:nvPr/>
        </p:nvSpPr>
        <p:spPr>
          <a:xfrm>
            <a:off x="735634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fixes sem card no Git · 54% do time com card</a:t>
            </a:r>
            <a:endParaRPr lang="en-US" sz="700" dirty="0"/>
          </a:p>
        </p:txBody>
      </p:sp>
      <p:sp>
        <p:nvSpPr>
          <p:cNvPr id="141" name="Shape 139"/>
          <p:cNvSpPr/>
          <p:nvPr/>
        </p:nvSpPr>
        <p:spPr>
          <a:xfrm>
            <a:off x="967663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976807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9E75"/>
                </a:solidFill>
              </a:rPr>
              <a:t>81.9%</a:t>
            </a:r>
            <a:endParaRPr lang="en-US" sz="2200" dirty="0"/>
          </a:p>
        </p:txBody>
      </p:sp>
      <p:sp>
        <p:nvSpPr>
          <p:cNvPr id="143" name="Text 141"/>
          <p:cNvSpPr/>
          <p:nvPr/>
        </p:nvSpPr>
        <p:spPr>
          <a:xfrm>
            <a:off x="976807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Dentro da Estimativa</a:t>
            </a:r>
            <a:endParaRPr lang="en-US" sz="800" dirty="0"/>
          </a:p>
        </p:txBody>
      </p:sp>
      <p:sp>
        <p:nvSpPr>
          <p:cNvPr id="144" name="Text 142"/>
          <p:cNvSpPr/>
          <p:nvPr/>
        </p:nvSpPr>
        <p:spPr>
          <a:xfrm>
            <a:off x="976807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entregues dentro do planejado</a:t>
            </a:r>
            <a:endParaRPr lang="en-US" sz="700" dirty="0"/>
          </a:p>
        </p:txBody>
      </p:sp>
      <p:sp>
        <p:nvSpPr>
          <p:cNvPr id="145" name="Text 143"/>
          <p:cNvSpPr/>
          <p:nvPr/>
        </p:nvSpPr>
        <p:spPr>
          <a:xfrm>
            <a:off x="2441448" y="4754880"/>
            <a:ext cx="9646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300" kern="0" dirty="0">
                <a:solidFill>
                  <a:srgbClr val="888888"/>
                </a:solidFill>
              </a:rPr>
              <a:t>R I S C O S</a:t>
            </a:r>
            <a:endParaRPr lang="en-US" sz="650" dirty="0"/>
          </a:p>
        </p:txBody>
      </p:sp>
      <p:sp>
        <p:nvSpPr>
          <p:cNvPr id="146" name="Shape 144"/>
          <p:cNvSpPr/>
          <p:nvPr/>
        </p:nvSpPr>
        <p:spPr>
          <a:xfrm>
            <a:off x="2441448" y="4873752"/>
            <a:ext cx="2350008" cy="877824"/>
          </a:xfrm>
          <a:prstGeom prst="rect">
            <a:avLst/>
          </a:prstGeom>
          <a:solidFill>
            <a:srgbClr val="F0FDF4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47" name="Text 145"/>
          <p:cNvSpPr/>
          <p:nvPr/>
        </p:nvSpPr>
        <p:spPr>
          <a:xfrm>
            <a:off x="2514600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9E75"/>
                </a:solidFill>
              </a:rPr>
              <a:t>SEM RISCO</a:t>
            </a:r>
            <a:endParaRPr lang="en-US" sz="700" dirty="0"/>
          </a:p>
        </p:txBody>
      </p:sp>
      <p:sp>
        <p:nvSpPr>
          <p:cNvPr id="148" name="Shape 146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riscos</a:t>
            </a:r>
            <a:endParaRPr lang="en-US" sz="650" dirty="0"/>
          </a:p>
        </p:txBody>
      </p:sp>
      <p:sp>
        <p:nvSpPr>
          <p:cNvPr id="150" name="Text 148"/>
          <p:cNvSpPr/>
          <p:nvPr/>
        </p:nvSpPr>
        <p:spPr>
          <a:xfrm>
            <a:off x="2514600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Nenhum estouro ou refinamento pendente</a:t>
            </a:r>
            <a:endParaRPr lang="en-US" sz="750" dirty="0"/>
          </a:p>
        </p:txBody>
      </p:sp>
      <p:sp>
        <p:nvSpPr>
          <p:cNvPr id="151" name="Text 149"/>
          <p:cNvSpPr/>
          <p:nvPr/>
        </p:nvSpPr>
        <p:spPr>
          <a:xfrm>
            <a:off x="2514600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52" name="Shape 150"/>
          <p:cNvSpPr/>
          <p:nvPr/>
        </p:nvSpPr>
        <p:spPr>
          <a:xfrm>
            <a:off x="4873752" y="4873752"/>
            <a:ext cx="2350008" cy="877824"/>
          </a:xfrm>
          <a:prstGeom prst="rect">
            <a:avLst/>
          </a:prstGeom>
          <a:solidFill>
            <a:srgbClr val="F5F3FF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3" name="Text 151"/>
          <p:cNvSpPr/>
          <p:nvPr/>
        </p:nvSpPr>
        <p:spPr>
          <a:xfrm>
            <a:off x="4946904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3FA0"/>
                </a:solidFill>
              </a:rPr>
              <a:t>ATENCAO · Janela de Entrega</a:t>
            </a:r>
            <a:endParaRPr lang="en-US" sz="700" dirty="0"/>
          </a:p>
        </p:txBody>
      </p:sp>
      <p:sp>
        <p:nvSpPr>
          <p:cNvPr id="154" name="Shape 152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~7 dias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uteis</a:t>
            </a:r>
            <a:endParaRPr lang="en-US" sz="650" dirty="0"/>
          </a:p>
        </p:txBody>
      </p:sp>
      <p:sp>
        <p:nvSpPr>
          <p:cNvPr id="156" name="Text 154"/>
          <p:cNvSpPr/>
          <p:nvPr/>
        </p:nvSpPr>
        <p:spPr>
          <a:xfrm>
            <a:off x="4946904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Observabilidade: Proj 24/07/2026 · Base 29/05/2026</a:t>
            </a:r>
            <a:endParaRPr lang="en-US" sz="750" dirty="0"/>
          </a:p>
        </p:txBody>
      </p:sp>
      <p:sp>
        <p:nvSpPr>
          <p:cNvPr id="157" name="Text 155"/>
          <p:cNvSpPr/>
          <p:nvPr/>
        </p:nvSpPr>
        <p:spPr>
          <a:xfrm>
            <a:off x="4946904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58" name="Shape 156"/>
          <p:cNvSpPr/>
          <p:nvPr/>
        </p:nvSpPr>
        <p:spPr>
          <a:xfrm>
            <a:off x="7306056" y="4873752"/>
            <a:ext cx="2350008" cy="877824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9" name="Text 157"/>
          <p:cNvSpPr/>
          <p:nvPr/>
        </p:nvSpPr>
        <p:spPr>
          <a:xfrm>
            <a:off x="7379208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BUG / SUSTENTACAO</a:t>
            </a:r>
            <a:endParaRPr lang="en-US" sz="700" dirty="0"/>
          </a:p>
        </p:txBody>
      </p:sp>
      <p:sp>
        <p:nvSpPr>
          <p:cNvPr id="160" name="Shape 158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106.3h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realizadas</a:t>
            </a:r>
            <a:endParaRPr lang="en-US" sz="650" dirty="0"/>
          </a:p>
        </p:txBody>
      </p:sp>
      <p:sp>
        <p:nvSpPr>
          <p:cNvPr id="162" name="Text 160"/>
          <p:cNvSpPr/>
          <p:nvPr/>
        </p:nvSpPr>
        <p:spPr>
          <a:xfrm>
            <a:off x="7379208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Bugs · 6 SRs no periodo</a:t>
            </a:r>
            <a:endParaRPr lang="en-US" sz="750" dirty="0"/>
          </a:p>
        </p:txBody>
      </p:sp>
      <p:sp>
        <p:nvSpPr>
          <p:cNvPr id="163" name="Text 161"/>
          <p:cNvSpPr/>
          <p:nvPr/>
        </p:nvSpPr>
        <p:spPr>
          <a:xfrm>
            <a:off x="7379208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Horas nao planejadas: 106.3h</a:t>
            </a:r>
            <a:endParaRPr lang="en-US" sz="750" dirty="0"/>
          </a:p>
        </p:txBody>
      </p:sp>
      <p:sp>
        <p:nvSpPr>
          <p:cNvPr id="164" name="Shape 162"/>
          <p:cNvSpPr/>
          <p:nvPr/>
        </p:nvSpPr>
        <p:spPr>
          <a:xfrm>
            <a:off x="9738360" y="4873752"/>
            <a:ext cx="2350008" cy="877824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65" name="Text 163"/>
          <p:cNvSpPr/>
          <p:nvPr/>
        </p:nvSpPr>
        <p:spPr>
          <a:xfrm>
            <a:off x="9811512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97706"/>
                </a:solidFill>
              </a:rPr>
              <a:t>EXPANSAO DE ESCOPO</a:t>
            </a:r>
            <a:endParaRPr lang="en-US" sz="700" dirty="0"/>
          </a:p>
        </p:txBody>
      </p:sp>
      <p:sp>
        <p:nvSpPr>
          <p:cNvPr id="166" name="Shape 164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131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itens</a:t>
            </a:r>
            <a:endParaRPr lang="en-US" sz="650" dirty="0"/>
          </a:p>
        </p:txBody>
      </p:sp>
      <p:sp>
        <p:nvSpPr>
          <p:cNvPr id="168" name="Text 166"/>
          <p:cNvSpPr/>
          <p:nvPr/>
        </p:nvSpPr>
        <p:spPr>
          <a:xfrm>
            <a:off x="9811512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131 itens criados pos 01/05</a:t>
            </a:r>
            <a:endParaRPr lang="en-US" sz="750" dirty="0"/>
          </a:p>
        </p:txBody>
      </p:sp>
      <p:sp>
        <p:nvSpPr>
          <p:cNvPr id="169" name="Text 167"/>
          <p:cNvSpPr/>
          <p:nvPr/>
        </p:nvSpPr>
        <p:spPr>
          <a:xfrm>
            <a:off x="9811512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Princ +55h · Redund +169h · Obs +20h</a:t>
            </a:r>
            <a:endParaRPr lang="en-US" sz="750" dirty="0"/>
          </a:p>
        </p:txBody>
      </p:sp>
      <p:sp>
        <p:nvSpPr>
          <p:cNvPr id="170" name="Shape 168"/>
          <p:cNvSpPr/>
          <p:nvPr/>
        </p:nvSpPr>
        <p:spPr>
          <a:xfrm>
            <a:off x="2441448" y="5797296"/>
            <a:ext cx="7214616" cy="7315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2441448" y="5797296"/>
            <a:ext cx="72146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 E V S</a:t>
            </a:r>
            <a:endParaRPr lang="en-US" sz="700" dirty="0"/>
          </a:p>
        </p:txBody>
      </p:sp>
      <p:sp>
        <p:nvSpPr>
          <p:cNvPr id="172" name="Shape 170"/>
          <p:cNvSpPr/>
          <p:nvPr/>
        </p:nvSpPr>
        <p:spPr>
          <a:xfrm>
            <a:off x="9738360" y="5797296"/>
            <a:ext cx="1133856" cy="7315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9738360" y="5797296"/>
            <a:ext cx="11338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Q A</a:t>
            </a:r>
            <a:endParaRPr lang="en-US" sz="700" dirty="0"/>
          </a:p>
        </p:txBody>
      </p:sp>
      <p:sp>
        <p:nvSpPr>
          <p:cNvPr id="174" name="Shape 172"/>
          <p:cNvSpPr/>
          <p:nvPr/>
        </p:nvSpPr>
        <p:spPr>
          <a:xfrm>
            <a:off x="10954512" y="5797296"/>
            <a:ext cx="1133856" cy="7315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10954512" y="5797296"/>
            <a:ext cx="11338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LIDERANCA TECNICA</a:t>
            </a:r>
            <a:endParaRPr lang="en-US" sz="700" dirty="0"/>
          </a:p>
        </p:txBody>
      </p:sp>
      <p:sp>
        <p:nvSpPr>
          <p:cNvPr id="176" name="Shape 174"/>
          <p:cNvSpPr/>
          <p:nvPr/>
        </p:nvSpPr>
        <p:spPr>
          <a:xfrm>
            <a:off x="2441448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77" name="Text 175"/>
          <p:cNvSpPr/>
          <p:nvPr/>
        </p:nvSpPr>
        <p:spPr>
          <a:xfrm>
            <a:off x="2496312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Gabriel Pigatto</a:t>
            </a:r>
            <a:endParaRPr lang="en-US" sz="850" dirty="0"/>
          </a:p>
        </p:txBody>
      </p:sp>
      <p:sp>
        <p:nvSpPr>
          <p:cNvPr id="178" name="Shape 176"/>
          <p:cNvSpPr/>
          <p:nvPr/>
        </p:nvSpPr>
        <p:spPr>
          <a:xfrm>
            <a:off x="2496312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2496312" y="6153912"/>
            <a:ext cx="102412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2496312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251.1h · 46 subs finalizadas</a:t>
            </a:r>
            <a:endParaRPr lang="en-US" sz="950" dirty="0"/>
          </a:p>
        </p:txBody>
      </p:sp>
      <p:sp>
        <p:nvSpPr>
          <p:cNvPr id="181" name="Text 179"/>
          <p:cNvSpPr/>
          <p:nvPr/>
        </p:nvSpPr>
        <p:spPr>
          <a:xfrm>
            <a:off x="2496312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219h estimadas</a:t>
            </a:r>
            <a:endParaRPr lang="en-US" sz="850" dirty="0"/>
          </a:p>
        </p:txBody>
      </p:sp>
      <p:sp>
        <p:nvSpPr>
          <p:cNvPr id="182" name="Shape 180"/>
          <p:cNvSpPr/>
          <p:nvPr/>
        </p:nvSpPr>
        <p:spPr>
          <a:xfrm>
            <a:off x="2496312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2496312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3 fix(s) sem card</a:t>
            </a:r>
            <a:endParaRPr lang="en-US" sz="750" dirty="0"/>
          </a:p>
        </p:txBody>
      </p:sp>
      <p:sp>
        <p:nvSpPr>
          <p:cNvPr id="184" name="Shape 182"/>
          <p:cNvSpPr/>
          <p:nvPr/>
        </p:nvSpPr>
        <p:spPr>
          <a:xfrm>
            <a:off x="3657600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85" name="Text 183"/>
          <p:cNvSpPr/>
          <p:nvPr/>
        </p:nvSpPr>
        <p:spPr>
          <a:xfrm>
            <a:off x="3712464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Artur Silva</a:t>
            </a:r>
            <a:endParaRPr lang="en-US" sz="850" dirty="0"/>
          </a:p>
        </p:txBody>
      </p:sp>
      <p:sp>
        <p:nvSpPr>
          <p:cNvPr id="186" name="Shape 184"/>
          <p:cNvSpPr/>
          <p:nvPr/>
        </p:nvSpPr>
        <p:spPr>
          <a:xfrm>
            <a:off x="3712464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3712464" y="6153912"/>
            <a:ext cx="1024128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3712464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371.2h · 55 subs finalizadas</a:t>
            </a:r>
            <a:endParaRPr lang="en-US" sz="950" dirty="0"/>
          </a:p>
        </p:txBody>
      </p:sp>
      <p:sp>
        <p:nvSpPr>
          <p:cNvPr id="189" name="Text 187"/>
          <p:cNvSpPr/>
          <p:nvPr/>
        </p:nvSpPr>
        <p:spPr>
          <a:xfrm>
            <a:off x="3712464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168h estimadas</a:t>
            </a:r>
            <a:endParaRPr lang="en-US" sz="850" dirty="0"/>
          </a:p>
        </p:txBody>
      </p:sp>
      <p:sp>
        <p:nvSpPr>
          <p:cNvPr id="190" name="Shape 188"/>
          <p:cNvSpPr/>
          <p:nvPr/>
        </p:nvSpPr>
        <p:spPr>
          <a:xfrm>
            <a:off x="3712464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3712464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3 fix(s) sem card</a:t>
            </a:r>
            <a:endParaRPr lang="en-US" sz="750" dirty="0"/>
          </a:p>
        </p:txBody>
      </p:sp>
      <p:sp>
        <p:nvSpPr>
          <p:cNvPr id="192" name="Shape 190"/>
          <p:cNvSpPr/>
          <p:nvPr/>
        </p:nvSpPr>
        <p:spPr>
          <a:xfrm>
            <a:off x="4873752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93" name="Text 191"/>
          <p:cNvSpPr/>
          <p:nvPr/>
        </p:nvSpPr>
        <p:spPr>
          <a:xfrm>
            <a:off x="4928616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Carlos H. Almeida</a:t>
            </a:r>
            <a:endParaRPr lang="en-US" sz="850" dirty="0"/>
          </a:p>
        </p:txBody>
      </p:sp>
      <p:sp>
        <p:nvSpPr>
          <p:cNvPr id="194" name="Shape 192"/>
          <p:cNvSpPr/>
          <p:nvPr/>
        </p:nvSpPr>
        <p:spPr>
          <a:xfrm>
            <a:off x="4928616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4928616" y="6153912"/>
            <a:ext cx="102412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4928616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268.2h · 34 subs finalizadas</a:t>
            </a:r>
            <a:endParaRPr lang="en-US" sz="950" dirty="0"/>
          </a:p>
        </p:txBody>
      </p:sp>
      <p:sp>
        <p:nvSpPr>
          <p:cNvPr id="197" name="Text 195"/>
          <p:cNvSpPr/>
          <p:nvPr/>
        </p:nvSpPr>
        <p:spPr>
          <a:xfrm>
            <a:off x="4928616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217h estimadas</a:t>
            </a:r>
            <a:endParaRPr lang="en-US" sz="850" dirty="0"/>
          </a:p>
        </p:txBody>
      </p:sp>
      <p:sp>
        <p:nvSpPr>
          <p:cNvPr id="198" name="Shape 196"/>
          <p:cNvSpPr/>
          <p:nvPr/>
        </p:nvSpPr>
        <p:spPr>
          <a:xfrm>
            <a:off x="4928616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4928616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5 fix(s) sem card</a:t>
            </a:r>
            <a:endParaRPr lang="en-US" sz="750" dirty="0"/>
          </a:p>
        </p:txBody>
      </p:sp>
      <p:sp>
        <p:nvSpPr>
          <p:cNvPr id="200" name="Shape 198"/>
          <p:cNvSpPr/>
          <p:nvPr/>
        </p:nvSpPr>
        <p:spPr>
          <a:xfrm>
            <a:off x="6089904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1" name="Text 199"/>
          <p:cNvSpPr/>
          <p:nvPr/>
        </p:nvSpPr>
        <p:spPr>
          <a:xfrm>
            <a:off x="6144768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Maria E. Muniz</a:t>
            </a:r>
            <a:endParaRPr lang="en-US" sz="850" dirty="0"/>
          </a:p>
        </p:txBody>
      </p:sp>
      <p:sp>
        <p:nvSpPr>
          <p:cNvPr id="202" name="Shape 200"/>
          <p:cNvSpPr/>
          <p:nvPr/>
        </p:nvSpPr>
        <p:spPr>
          <a:xfrm>
            <a:off x="6144768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6144768" y="6153912"/>
            <a:ext cx="1024128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6144768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91.5h · 21 subs finalizadas</a:t>
            </a:r>
            <a:endParaRPr lang="en-US" sz="950" dirty="0"/>
          </a:p>
        </p:txBody>
      </p:sp>
      <p:sp>
        <p:nvSpPr>
          <p:cNvPr id="205" name="Text 203"/>
          <p:cNvSpPr/>
          <p:nvPr/>
        </p:nvSpPr>
        <p:spPr>
          <a:xfrm>
            <a:off x="6144768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53h estimadas</a:t>
            </a:r>
            <a:endParaRPr lang="en-US" sz="850" dirty="0"/>
          </a:p>
        </p:txBody>
      </p:sp>
      <p:sp>
        <p:nvSpPr>
          <p:cNvPr id="206" name="Shape 204"/>
          <p:cNvSpPr/>
          <p:nvPr/>
        </p:nvSpPr>
        <p:spPr>
          <a:xfrm>
            <a:off x="7306056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7" name="Text 205"/>
          <p:cNvSpPr/>
          <p:nvPr/>
        </p:nvSpPr>
        <p:spPr>
          <a:xfrm>
            <a:off x="7360920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Fabio Santos</a:t>
            </a:r>
            <a:endParaRPr lang="en-US" sz="850" dirty="0"/>
          </a:p>
        </p:txBody>
      </p:sp>
      <p:sp>
        <p:nvSpPr>
          <p:cNvPr id="208" name="Shape 206"/>
          <p:cNvSpPr/>
          <p:nvPr/>
        </p:nvSpPr>
        <p:spPr>
          <a:xfrm>
            <a:off x="7360920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360920" y="6153912"/>
            <a:ext cx="731804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7360920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220.8h · 54 subs finalizadas</a:t>
            </a:r>
            <a:endParaRPr lang="en-US" sz="950" dirty="0"/>
          </a:p>
        </p:txBody>
      </p:sp>
      <p:sp>
        <p:nvSpPr>
          <p:cNvPr id="211" name="Text 209"/>
          <p:cNvSpPr/>
          <p:nvPr/>
        </p:nvSpPr>
        <p:spPr>
          <a:xfrm>
            <a:off x="7360920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309h estimadas</a:t>
            </a:r>
            <a:endParaRPr lang="en-US" sz="850" dirty="0"/>
          </a:p>
        </p:txBody>
      </p:sp>
      <p:sp>
        <p:nvSpPr>
          <p:cNvPr id="212" name="Shape 210"/>
          <p:cNvSpPr/>
          <p:nvPr/>
        </p:nvSpPr>
        <p:spPr>
          <a:xfrm>
            <a:off x="7360920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7360920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19 fix(s) sem card</a:t>
            </a:r>
            <a:endParaRPr lang="en-US" sz="750" dirty="0"/>
          </a:p>
        </p:txBody>
      </p:sp>
      <p:sp>
        <p:nvSpPr>
          <p:cNvPr id="214" name="Shape 212"/>
          <p:cNvSpPr/>
          <p:nvPr/>
        </p:nvSpPr>
        <p:spPr>
          <a:xfrm>
            <a:off x="8522208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15" name="Text 213"/>
          <p:cNvSpPr/>
          <p:nvPr/>
        </p:nvSpPr>
        <p:spPr>
          <a:xfrm>
            <a:off x="8577072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Albert V. Foureaux</a:t>
            </a:r>
            <a:endParaRPr lang="en-US" sz="850" dirty="0"/>
          </a:p>
        </p:txBody>
      </p:sp>
      <p:sp>
        <p:nvSpPr>
          <p:cNvPr id="216" name="Shape 214"/>
          <p:cNvSpPr/>
          <p:nvPr/>
        </p:nvSpPr>
        <p:spPr>
          <a:xfrm>
            <a:off x="8577072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8577072" y="6153912"/>
            <a:ext cx="1024128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8577072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6.5h · 1 subs finalizadas</a:t>
            </a:r>
            <a:endParaRPr lang="en-US" sz="950" dirty="0"/>
          </a:p>
        </p:txBody>
      </p:sp>
      <p:sp>
        <p:nvSpPr>
          <p:cNvPr id="219" name="Text 217"/>
          <p:cNvSpPr/>
          <p:nvPr/>
        </p:nvSpPr>
        <p:spPr>
          <a:xfrm>
            <a:off x="8577072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6.5h estimadas</a:t>
            </a:r>
            <a:endParaRPr lang="en-US" sz="850" dirty="0"/>
          </a:p>
        </p:txBody>
      </p:sp>
      <p:sp>
        <p:nvSpPr>
          <p:cNvPr id="220" name="Shape 218"/>
          <p:cNvSpPr/>
          <p:nvPr/>
        </p:nvSpPr>
        <p:spPr>
          <a:xfrm>
            <a:off x="8577072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21" name="Text 219"/>
          <p:cNvSpPr/>
          <p:nvPr/>
        </p:nvSpPr>
        <p:spPr>
          <a:xfrm>
            <a:off x="8577072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1 fix(s) sem card</a:t>
            </a:r>
            <a:endParaRPr lang="en-US" sz="750" dirty="0"/>
          </a:p>
        </p:txBody>
      </p:sp>
      <p:sp>
        <p:nvSpPr>
          <p:cNvPr id="222" name="Shape 220"/>
          <p:cNvSpPr/>
          <p:nvPr/>
        </p:nvSpPr>
        <p:spPr>
          <a:xfrm>
            <a:off x="9738360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23" name="Text 221"/>
          <p:cNvSpPr/>
          <p:nvPr/>
        </p:nvSpPr>
        <p:spPr>
          <a:xfrm>
            <a:off x="9793224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James G. Pereira</a:t>
            </a:r>
            <a:endParaRPr lang="en-US" sz="850" dirty="0"/>
          </a:p>
        </p:txBody>
      </p:sp>
      <p:sp>
        <p:nvSpPr>
          <p:cNvPr id="224" name="Shape 222"/>
          <p:cNvSpPr/>
          <p:nvPr/>
        </p:nvSpPr>
        <p:spPr>
          <a:xfrm>
            <a:off x="9793224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9793224" y="6153912"/>
            <a:ext cx="931025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9793224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30h · 5 subs finalizadas</a:t>
            </a:r>
            <a:endParaRPr lang="en-US" sz="950" dirty="0"/>
          </a:p>
        </p:txBody>
      </p:sp>
      <p:sp>
        <p:nvSpPr>
          <p:cNvPr id="227" name="Text 225"/>
          <p:cNvSpPr/>
          <p:nvPr/>
        </p:nvSpPr>
        <p:spPr>
          <a:xfrm>
            <a:off x="9793224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33h estimadas</a:t>
            </a:r>
            <a:endParaRPr lang="en-US" sz="850" dirty="0"/>
          </a:p>
        </p:txBody>
      </p:sp>
      <p:sp>
        <p:nvSpPr>
          <p:cNvPr id="228" name="Shape 226"/>
          <p:cNvSpPr/>
          <p:nvPr/>
        </p:nvSpPr>
        <p:spPr>
          <a:xfrm>
            <a:off x="10954512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29" name="Text 227"/>
          <p:cNvSpPr/>
          <p:nvPr/>
        </p:nvSpPr>
        <p:spPr>
          <a:xfrm>
            <a:off x="11009376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Ricardo Cardoso</a:t>
            </a:r>
            <a:endParaRPr lang="en-US" sz="850" dirty="0"/>
          </a:p>
        </p:txBody>
      </p:sp>
      <p:sp>
        <p:nvSpPr>
          <p:cNvPr id="230" name="Shape 228"/>
          <p:cNvSpPr/>
          <p:nvPr/>
        </p:nvSpPr>
        <p:spPr>
          <a:xfrm>
            <a:off x="11009376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11009376" y="6153912"/>
            <a:ext cx="885444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11009376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124.5h · 89 subs finalizadas</a:t>
            </a:r>
            <a:endParaRPr lang="en-US" sz="950" dirty="0"/>
          </a:p>
        </p:txBody>
      </p:sp>
      <p:sp>
        <p:nvSpPr>
          <p:cNvPr id="233" name="Text 231"/>
          <p:cNvSpPr/>
          <p:nvPr/>
        </p:nvSpPr>
        <p:spPr>
          <a:xfrm>
            <a:off x="11009376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144h estimadas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 Report — Quadro de Aulas</dc:title>
  <dc:subject>PptxGenJS Presentation</dc:subject>
  <dc:creator>PptxGenJS</dc:creator>
  <cp:lastModifiedBy>PptxGenJS</cp:lastModifiedBy>
  <cp:revision>1</cp:revision>
  <dcterms:created xsi:type="dcterms:W3CDTF">2026-07-16T12:30:53Z</dcterms:created>
  <dcterms:modified xsi:type="dcterms:W3CDTF">2026-07-16T12:30:53Z</dcterms:modified>
</cp:coreProperties>
</file>