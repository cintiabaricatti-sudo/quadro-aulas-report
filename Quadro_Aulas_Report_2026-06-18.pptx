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645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400" kern="0" dirty="0">
                <a:solidFill>
                  <a:srgbClr val="8FA3C0"/>
                </a:solidFill>
              </a:rPr>
              <a:t>STATUS REPORT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37160" y="3291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Quadro de Aulas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" y="64008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FA3C0"/>
                </a:solidFill>
              </a:rPr>
              <a:t>Resiliencia Sistemica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" y="82296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18 de Junho de 2026 as 08:21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057400" cy="13716"/>
          </a:xfrm>
          <a:prstGeom prst="rect">
            <a:avLst/>
          </a:prstGeom>
          <a:solidFill>
            <a:srgbClr val="2D4A73"/>
          </a:solidFill>
          <a:ln w="12700">
            <a:solidFill>
              <a:srgbClr val="2D4A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078992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TOTAL DE ITENS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37160" y="1225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393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" y="164592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CONCLUIDOS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37160" y="17922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DE80"/>
                </a:solidFill>
              </a:rPr>
              <a:t>314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" y="221284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EM PROGRESSO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37160" y="23591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CD34D"/>
                </a:solidFill>
              </a:rPr>
              <a:t>9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" y="277977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A FAZER / BACKLOG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37160" y="2926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50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" y="338328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PROGRESSO GERAL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37160" y="3538728"/>
            <a:ext cx="20574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3538728"/>
            <a:ext cx="1645920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364845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80% concluido  .  314 de 393 itens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37160" y="3794760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Cancelados excluidos do escopo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37160" y="397764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VELOCIDADE RECENTE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37160" y="41148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18h/dia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" y="442569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velocidade fixada pelo time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37160" y="64922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Squad Lecionar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37160" y="664768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Cintia Baricatti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PRINCIPAL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41448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14600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5 Stories · 3 NFT · 69 itens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14600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2 . Em progresso: 0 . Finalizados: 67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14600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274h . Real: 264.8h . Rem: 5h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14600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14600" y="859536"/>
            <a:ext cx="19392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88% · 7 de 8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2514600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14600" y="1033272"/>
            <a:ext cx="2137593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97% · 67 de 69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514600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269.8h (-4.2h / -2%)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REDUNDANTE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73752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46904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Stories · 4 NFT · 113 itens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46904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16 . Em progresso: 2 . Finalizados: 95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46904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428.5h . Real: 521.3h . Rem: 30.5h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946904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46904" y="859536"/>
            <a:ext cx="1410371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64% · 7 de 11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946904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46904" y="1033272"/>
            <a:ext cx="1851111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46904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84% · 95 de 113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946904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551.8h (+123.3h / +29%)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946904" y="1417320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34AB7"/>
                </a:solidFill>
              </a:rPr>
              <a:t>2 ativo(s) com horas estouradas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946904" y="1581912"/>
            <a:ext cx="2203704" cy="448056"/>
          </a:xfrm>
          <a:prstGeom prst="rect">
            <a:avLst/>
          </a:prstGeom>
          <a:solidFill>
            <a:srgbClr val="FFF8F8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65192" y="1600200"/>
            <a:ext cx="2167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222222"/>
                </a:solidFill>
              </a:rPr>
              <a:t>Testes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4965192" y="1728216"/>
            <a:ext cx="2167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+3h (+150%)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7306056" y="73152"/>
            <a:ext cx="235000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06056" y="73152"/>
            <a:ext cx="14570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COMPLEMENTARES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786561" y="73152"/>
            <a:ext cx="8695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5D5"/>
                </a:solidFill>
              </a:rPr>
              <a:t>CANCELADO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306056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7379208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 Story · 9 itens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7379208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0 . Em progresso: 0 . Finalizados: 9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379208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27h . Real: 75.5h . Rem: 0h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79208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100% · 1 de 1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379208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100% · 9 de 9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7379208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75.5h (+48.5h / +180%)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OBSERVABILIDADE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9738360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9811512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17 Stories · 120 itens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9811512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27 . Em progresso: 5 . Finalizados: 88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9811512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497.5h . Real: 255.8h . Rem: 111h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9811512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811512" y="859536"/>
            <a:ext cx="0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811512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0% · 0 de 17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9811512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811512" y="1033272"/>
            <a:ext cx="1608704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811512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73% · 88 de 120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9811512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366.8h (-130.7h / -26%)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2441448" y="2121408"/>
            <a:ext cx="96469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2532888" y="2176272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HORAS - ESTIMADO vs. PROJETADO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253288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PLANEJADO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253288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</a:rPr>
              <a:t>1244h</a:t>
            </a:r>
            <a:endParaRPr lang="en-US" sz="2400" dirty="0"/>
          </a:p>
        </p:txBody>
      </p:sp>
      <p:sp>
        <p:nvSpPr>
          <p:cNvPr id="87" name="Text 85"/>
          <p:cNvSpPr/>
          <p:nvPr/>
        </p:nvSpPr>
        <p:spPr>
          <a:xfrm>
            <a:off x="253288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original estimate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485317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94461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JA GASTO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494461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1239.9h</a:t>
            </a:r>
            <a:endParaRPr lang="en-US" sz="2400" dirty="0"/>
          </a:p>
        </p:txBody>
      </p:sp>
      <p:sp>
        <p:nvSpPr>
          <p:cNvPr id="91" name="Text 89"/>
          <p:cNvSpPr/>
          <p:nvPr/>
        </p:nvSpPr>
        <p:spPr>
          <a:xfrm>
            <a:off x="494461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completed work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726490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35634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FALTA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735634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146.5h</a:t>
            </a:r>
            <a:endParaRPr lang="en-US" sz="2400" dirty="0"/>
          </a:p>
        </p:txBody>
      </p:sp>
      <p:sp>
        <p:nvSpPr>
          <p:cNvPr id="95" name="Text 93"/>
          <p:cNvSpPr/>
          <p:nvPr/>
        </p:nvSpPr>
        <p:spPr>
          <a:xfrm>
            <a:off x="735634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remaining (devs)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967663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76807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AUMENTO DE ESFORCO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976807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+142.4h</a:t>
            </a:r>
            <a:endParaRPr lang="en-US" sz="2400" dirty="0"/>
          </a:p>
        </p:txBody>
      </p:sp>
      <p:sp>
        <p:nvSpPr>
          <p:cNvPr id="99" name="Text 97"/>
          <p:cNvSpPr/>
          <p:nvPr/>
        </p:nvSpPr>
        <p:spPr>
          <a:xfrm>
            <a:off x="976807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projetado: 1386.4h (+11%)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2441448" y="2916936"/>
            <a:ext cx="8627536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1068984" y="2916936"/>
            <a:ext cx="1019384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44144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03" name="Text 101"/>
          <p:cNvSpPr/>
          <p:nvPr/>
        </p:nvSpPr>
        <p:spPr>
          <a:xfrm>
            <a:off x="255117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1 · Resiliencia Sistemica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656082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56082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6E56"/>
                </a:solidFill>
              </a:rPr>
              <a:t>90% concluido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2551176" y="3291840"/>
            <a:ext cx="4558284" cy="6400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551176" y="3291840"/>
            <a:ext cx="4102456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10" name="Text 108"/>
          <p:cNvSpPr/>
          <p:nvPr/>
        </p:nvSpPr>
        <p:spPr>
          <a:xfrm>
            <a:off x="255117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19/06/2026</a:t>
            </a:r>
            <a:endParaRPr lang="en-US" sz="1050" dirty="0"/>
          </a:p>
        </p:txBody>
      </p:sp>
      <p:sp>
        <p:nvSpPr>
          <p:cNvPr id="111" name="Shape 109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13" name="Text 111"/>
          <p:cNvSpPr/>
          <p:nvPr/>
        </p:nvSpPr>
        <p:spPr>
          <a:xfrm>
            <a:off x="407060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15/05/2026</a:t>
            </a:r>
            <a:endParaRPr lang="en-US" sz="1050" dirty="0"/>
          </a:p>
        </p:txBody>
      </p:sp>
      <p:sp>
        <p:nvSpPr>
          <p:cNvPr id="114" name="Shape 112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16" name="Text 114"/>
          <p:cNvSpPr/>
          <p:nvPr/>
        </p:nvSpPr>
        <p:spPr>
          <a:xfrm>
            <a:off x="559003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17" name="Shape 115"/>
          <p:cNvSpPr/>
          <p:nvPr/>
        </p:nvSpPr>
        <p:spPr>
          <a:xfrm>
            <a:off x="731062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18" name="Text 116"/>
          <p:cNvSpPr/>
          <p:nvPr/>
        </p:nvSpPr>
        <p:spPr>
          <a:xfrm>
            <a:off x="742035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2 · Observabilidade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1143000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143000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91B1B"/>
                </a:solidFill>
              </a:rPr>
              <a:t>73% concluido</a:t>
            </a:r>
            <a:endParaRPr lang="en-US" sz="650" dirty="0"/>
          </a:p>
        </p:txBody>
      </p:sp>
      <p:sp>
        <p:nvSpPr>
          <p:cNvPr id="121" name="Shape 119"/>
          <p:cNvSpPr/>
          <p:nvPr/>
        </p:nvSpPr>
        <p:spPr>
          <a:xfrm>
            <a:off x="7420356" y="3291840"/>
            <a:ext cx="4558284" cy="6400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420356" y="3291840"/>
            <a:ext cx="3327547" cy="64008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25" name="Text 123"/>
          <p:cNvSpPr/>
          <p:nvPr/>
        </p:nvSpPr>
        <p:spPr>
          <a:xfrm>
            <a:off x="742035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26/06/2026</a:t>
            </a:r>
            <a:endParaRPr lang="en-US" sz="1050" dirty="0"/>
          </a:p>
        </p:txBody>
      </p:sp>
      <p:sp>
        <p:nvSpPr>
          <p:cNvPr id="126" name="Shape 124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28" name="Text 126"/>
          <p:cNvSpPr/>
          <p:nvPr/>
        </p:nvSpPr>
        <p:spPr>
          <a:xfrm>
            <a:off x="893978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29" name="Shape 127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31" name="Text 129"/>
          <p:cNvSpPr/>
          <p:nvPr/>
        </p:nvSpPr>
        <p:spPr>
          <a:xfrm>
            <a:off x="1045921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12/06/2026</a:t>
            </a:r>
            <a:endParaRPr lang="en-US" sz="1050" dirty="0"/>
          </a:p>
        </p:txBody>
      </p:sp>
      <p:sp>
        <p:nvSpPr>
          <p:cNvPr id="132" name="Shape 130"/>
          <p:cNvSpPr/>
          <p:nvPr/>
        </p:nvSpPr>
        <p:spPr>
          <a:xfrm>
            <a:off x="2441448" y="3913632"/>
            <a:ext cx="9646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33" name="Text 131"/>
          <p:cNvSpPr/>
          <p:nvPr/>
        </p:nvSpPr>
        <p:spPr>
          <a:xfrm>
            <a:off x="2532888" y="3968496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EFICIENCIA DA ENTREGA</a:t>
            </a:r>
            <a:endParaRPr lang="en-US" sz="700" dirty="0"/>
          </a:p>
        </p:txBody>
      </p:sp>
      <p:sp>
        <p:nvSpPr>
          <p:cNvPr id="134" name="Text 132"/>
          <p:cNvSpPr/>
          <p:nvPr/>
        </p:nvSpPr>
        <p:spPr>
          <a:xfrm>
            <a:off x="253288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5A30"/>
                </a:solidFill>
              </a:rPr>
              <a:t>17.3%</a:t>
            </a:r>
            <a:endParaRPr lang="en-US" sz="2200" dirty="0"/>
          </a:p>
        </p:txBody>
      </p:sp>
      <p:sp>
        <p:nvSpPr>
          <p:cNvPr id="135" name="Text 133"/>
          <p:cNvSpPr/>
          <p:nvPr/>
        </p:nvSpPr>
        <p:spPr>
          <a:xfrm>
            <a:off x="253288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Itens Estourados</a:t>
            </a:r>
            <a:endParaRPr lang="en-US" sz="800" dirty="0"/>
          </a:p>
        </p:txBody>
      </p:sp>
      <p:sp>
        <p:nvSpPr>
          <p:cNvPr id="136" name="Text 134"/>
          <p:cNvSpPr/>
          <p:nvPr/>
        </p:nvSpPr>
        <p:spPr>
          <a:xfrm>
            <a:off x="253288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das subs com estimativa</a:t>
            </a:r>
            <a:endParaRPr lang="en-US" sz="700" dirty="0"/>
          </a:p>
        </p:txBody>
      </p:sp>
      <p:sp>
        <p:nvSpPr>
          <p:cNvPr id="137" name="Shape 135"/>
          <p:cNvSpPr/>
          <p:nvPr/>
        </p:nvSpPr>
        <p:spPr>
          <a:xfrm>
            <a:off x="485317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494461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34AB7"/>
                </a:solidFill>
              </a:rPr>
              <a:t>11.6%</a:t>
            </a:r>
            <a:endParaRPr lang="en-US" sz="2200" dirty="0"/>
          </a:p>
        </p:txBody>
      </p:sp>
      <p:sp>
        <p:nvSpPr>
          <p:cNvPr id="139" name="Text 137"/>
          <p:cNvSpPr/>
          <p:nvPr/>
        </p:nvSpPr>
        <p:spPr>
          <a:xfrm>
            <a:off x="494461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Registrado</a:t>
            </a:r>
            <a:endParaRPr lang="en-US" sz="800" dirty="0"/>
          </a:p>
        </p:txBody>
      </p:sp>
      <p:sp>
        <p:nvSpPr>
          <p:cNvPr id="140" name="Text 138"/>
          <p:cNvSpPr/>
          <p:nvPr/>
        </p:nvSpPr>
        <p:spPr>
          <a:xfrm>
            <a:off x="494461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26 Sub Bug (ADO) · 136.8h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726490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735634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</a:rPr>
              <a:t>34</a:t>
            </a:r>
            <a:endParaRPr lang="en-US" sz="2200" dirty="0"/>
          </a:p>
        </p:txBody>
      </p:sp>
      <p:sp>
        <p:nvSpPr>
          <p:cNvPr id="143" name="Text 141"/>
          <p:cNvSpPr/>
          <p:nvPr/>
        </p:nvSpPr>
        <p:spPr>
          <a:xfrm>
            <a:off x="735634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Oculto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735634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fixes sem card no Git · 45% do time com card</a:t>
            </a:r>
            <a:endParaRPr lang="en-US" sz="700" dirty="0"/>
          </a:p>
        </p:txBody>
      </p:sp>
      <p:sp>
        <p:nvSpPr>
          <p:cNvPr id="145" name="Shape 143"/>
          <p:cNvSpPr/>
          <p:nvPr/>
        </p:nvSpPr>
        <p:spPr>
          <a:xfrm>
            <a:off x="967663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976807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</a:rPr>
              <a:t>82.7%</a:t>
            </a:r>
            <a:endParaRPr lang="en-US" sz="2200" dirty="0"/>
          </a:p>
        </p:txBody>
      </p:sp>
      <p:sp>
        <p:nvSpPr>
          <p:cNvPr id="147" name="Text 145"/>
          <p:cNvSpPr/>
          <p:nvPr/>
        </p:nvSpPr>
        <p:spPr>
          <a:xfrm>
            <a:off x="976807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Dentro da Estimativa</a:t>
            </a:r>
            <a:endParaRPr lang="en-US" sz="800" dirty="0"/>
          </a:p>
        </p:txBody>
      </p:sp>
      <p:sp>
        <p:nvSpPr>
          <p:cNvPr id="148" name="Text 146"/>
          <p:cNvSpPr/>
          <p:nvPr/>
        </p:nvSpPr>
        <p:spPr>
          <a:xfrm>
            <a:off x="976807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entregues dentro do planejado</a:t>
            </a:r>
            <a:endParaRPr lang="en-US" sz="700" dirty="0"/>
          </a:p>
        </p:txBody>
      </p:sp>
      <p:sp>
        <p:nvSpPr>
          <p:cNvPr id="149" name="Text 147"/>
          <p:cNvSpPr/>
          <p:nvPr/>
        </p:nvSpPr>
        <p:spPr>
          <a:xfrm>
            <a:off x="2441448" y="4754880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300" kern="0" dirty="0">
                <a:solidFill>
                  <a:srgbClr val="888888"/>
                </a:solidFill>
              </a:rPr>
              <a:t>R I S C O S</a:t>
            </a:r>
            <a:endParaRPr lang="en-US" sz="650" dirty="0"/>
          </a:p>
        </p:txBody>
      </p:sp>
      <p:sp>
        <p:nvSpPr>
          <p:cNvPr id="150" name="Shape 148"/>
          <p:cNvSpPr/>
          <p:nvPr/>
        </p:nvSpPr>
        <p:spPr>
          <a:xfrm>
            <a:off x="2441448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1" name="Text 149"/>
          <p:cNvSpPr/>
          <p:nvPr/>
        </p:nvSpPr>
        <p:spPr>
          <a:xfrm>
            <a:off x="2514600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RISCO ATIVO</a:t>
            </a:r>
            <a:endParaRPr lang="en-US" sz="700" dirty="0"/>
          </a:p>
        </p:txBody>
      </p:sp>
      <p:sp>
        <p:nvSpPr>
          <p:cNvPr id="152" name="Shape 150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2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estouros</a:t>
            </a:r>
            <a:endParaRPr lang="en-US" sz="650" dirty="0"/>
          </a:p>
        </p:txBody>
      </p:sp>
      <p:sp>
        <p:nvSpPr>
          <p:cNvPr id="154" name="Text 152"/>
          <p:cNvSpPr/>
          <p:nvPr/>
        </p:nvSpPr>
        <p:spPr>
          <a:xfrm>
            <a:off x="2514600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#404988 +3h(+150%) [gabrielpigatto frwk.com.br]</a:t>
            </a:r>
            <a:endParaRPr lang="en-US" sz="750" dirty="0"/>
          </a:p>
        </p:txBody>
      </p:sp>
      <p:sp>
        <p:nvSpPr>
          <p:cNvPr id="155" name="Text 153"/>
          <p:cNvSpPr/>
          <p:nvPr/>
        </p:nvSpPr>
        <p:spPr>
          <a:xfrm>
            <a:off x="2514600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#404993 +5h(+125%) [artursilva frwk.com.br]</a:t>
            </a:r>
            <a:endParaRPr lang="en-US" sz="750" dirty="0"/>
          </a:p>
        </p:txBody>
      </p:sp>
      <p:sp>
        <p:nvSpPr>
          <p:cNvPr id="156" name="Shape 154"/>
          <p:cNvSpPr/>
          <p:nvPr/>
        </p:nvSpPr>
        <p:spPr>
          <a:xfrm>
            <a:off x="4873752" y="4873752"/>
            <a:ext cx="2350008" cy="877824"/>
          </a:xfrm>
          <a:prstGeom prst="rect">
            <a:avLst/>
          </a:prstGeom>
          <a:solidFill>
            <a:srgbClr val="F5F3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7" name="Text 155"/>
          <p:cNvSpPr/>
          <p:nvPr/>
        </p:nvSpPr>
        <p:spPr>
          <a:xfrm>
            <a:off x="4946904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3FA0"/>
                </a:solidFill>
              </a:rPr>
              <a:t>ATENCAO · Janela de Entrega</a:t>
            </a:r>
            <a:endParaRPr lang="en-US" sz="700" dirty="0"/>
          </a:p>
        </p:txBody>
      </p:sp>
      <p:sp>
        <p:nvSpPr>
          <p:cNvPr id="158" name="Shape 156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~7 dias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uteis</a:t>
            </a:r>
            <a:endParaRPr lang="en-US" sz="650" dirty="0"/>
          </a:p>
        </p:txBody>
      </p:sp>
      <p:sp>
        <p:nvSpPr>
          <p:cNvPr id="160" name="Text 158"/>
          <p:cNvSpPr/>
          <p:nvPr/>
        </p:nvSpPr>
        <p:spPr>
          <a:xfrm>
            <a:off x="4946904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Observabilidade: Proj 26/06/2026 · Base 29/05/2026</a:t>
            </a:r>
            <a:endParaRPr lang="en-US" sz="750" dirty="0"/>
          </a:p>
        </p:txBody>
      </p:sp>
      <p:sp>
        <p:nvSpPr>
          <p:cNvPr id="161" name="Text 159"/>
          <p:cNvSpPr/>
          <p:nvPr/>
        </p:nvSpPr>
        <p:spPr>
          <a:xfrm>
            <a:off x="4946904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62" name="Shape 160"/>
          <p:cNvSpPr/>
          <p:nvPr/>
        </p:nvSpPr>
        <p:spPr>
          <a:xfrm>
            <a:off x="7306056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3" name="Text 161"/>
          <p:cNvSpPr/>
          <p:nvPr/>
        </p:nvSpPr>
        <p:spPr>
          <a:xfrm>
            <a:off x="7379208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BUG / SUSTENTACAO</a:t>
            </a:r>
            <a:endParaRPr lang="en-US" sz="700" dirty="0"/>
          </a:p>
        </p:txBody>
      </p:sp>
      <p:sp>
        <p:nvSpPr>
          <p:cNvPr id="164" name="Shape 162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106.3h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realizadas</a:t>
            </a:r>
            <a:endParaRPr lang="en-US" sz="650" dirty="0"/>
          </a:p>
        </p:txBody>
      </p:sp>
      <p:sp>
        <p:nvSpPr>
          <p:cNvPr id="166" name="Text 164"/>
          <p:cNvSpPr/>
          <p:nvPr/>
        </p:nvSpPr>
        <p:spPr>
          <a:xfrm>
            <a:off x="7379208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Bugs · 6 SRs no periodo</a:t>
            </a:r>
            <a:endParaRPr lang="en-US" sz="750" dirty="0"/>
          </a:p>
        </p:txBody>
      </p:sp>
      <p:sp>
        <p:nvSpPr>
          <p:cNvPr id="167" name="Text 165"/>
          <p:cNvSpPr/>
          <p:nvPr/>
        </p:nvSpPr>
        <p:spPr>
          <a:xfrm>
            <a:off x="7379208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Horas nao planejadas: 106.3h</a:t>
            </a:r>
            <a:endParaRPr lang="en-US" sz="750" dirty="0"/>
          </a:p>
        </p:txBody>
      </p:sp>
      <p:sp>
        <p:nvSpPr>
          <p:cNvPr id="168" name="Shape 166"/>
          <p:cNvSpPr/>
          <p:nvPr/>
        </p:nvSpPr>
        <p:spPr>
          <a:xfrm>
            <a:off x="9738360" y="4873752"/>
            <a:ext cx="2350008" cy="877824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9" name="Text 167"/>
          <p:cNvSpPr/>
          <p:nvPr/>
        </p:nvSpPr>
        <p:spPr>
          <a:xfrm>
            <a:off x="9811512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EXPANSAO DE ESCOPO</a:t>
            </a:r>
            <a:endParaRPr lang="en-US" sz="700" dirty="0"/>
          </a:p>
        </p:txBody>
      </p:sp>
      <p:sp>
        <p:nvSpPr>
          <p:cNvPr id="170" name="Shape 168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130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itens</a:t>
            </a:r>
            <a:endParaRPr lang="en-US" sz="650" dirty="0"/>
          </a:p>
        </p:txBody>
      </p:sp>
      <p:sp>
        <p:nvSpPr>
          <p:cNvPr id="172" name="Text 170"/>
          <p:cNvSpPr/>
          <p:nvPr/>
        </p:nvSpPr>
        <p:spPr>
          <a:xfrm>
            <a:off x="9811512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130 itens criados pos 01/05</a:t>
            </a:r>
            <a:endParaRPr lang="en-US" sz="750" dirty="0"/>
          </a:p>
        </p:txBody>
      </p:sp>
      <p:sp>
        <p:nvSpPr>
          <p:cNvPr id="173" name="Text 171"/>
          <p:cNvSpPr/>
          <p:nvPr/>
        </p:nvSpPr>
        <p:spPr>
          <a:xfrm>
            <a:off x="9811512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Princ +55h · Redund +165h · Obs +18h</a:t>
            </a:r>
            <a:endParaRPr lang="en-US" sz="750" dirty="0"/>
          </a:p>
        </p:txBody>
      </p:sp>
      <p:sp>
        <p:nvSpPr>
          <p:cNvPr id="174" name="Shape 172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 E V S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Q A</a:t>
            </a:r>
            <a:endParaRPr lang="en-US" sz="700" dirty="0"/>
          </a:p>
        </p:txBody>
      </p:sp>
      <p:sp>
        <p:nvSpPr>
          <p:cNvPr id="178" name="Shape 176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LIDERANCA TECNICA</a:t>
            </a:r>
            <a:endParaRPr lang="en-US" sz="700" dirty="0"/>
          </a:p>
        </p:txBody>
      </p:sp>
      <p:sp>
        <p:nvSpPr>
          <p:cNvPr id="180" name="Shape 178"/>
          <p:cNvSpPr/>
          <p:nvPr/>
        </p:nvSpPr>
        <p:spPr>
          <a:xfrm>
            <a:off x="244144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1" name="Text 179"/>
          <p:cNvSpPr/>
          <p:nvPr/>
        </p:nvSpPr>
        <p:spPr>
          <a:xfrm>
            <a:off x="249631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Gabriel Pigatto</a:t>
            </a:r>
            <a:endParaRPr lang="en-US" sz="850" dirty="0"/>
          </a:p>
        </p:txBody>
      </p:sp>
      <p:sp>
        <p:nvSpPr>
          <p:cNvPr id="182" name="Shape 180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2496312" y="6153912"/>
            <a:ext cx="1010728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249631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211.2h · 41 subs finalizadas</a:t>
            </a:r>
            <a:endParaRPr lang="en-US" sz="950" dirty="0"/>
          </a:p>
        </p:txBody>
      </p:sp>
      <p:sp>
        <p:nvSpPr>
          <p:cNvPr id="185" name="Text 183"/>
          <p:cNvSpPr/>
          <p:nvPr/>
        </p:nvSpPr>
        <p:spPr>
          <a:xfrm>
            <a:off x="249631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214h estimadas</a:t>
            </a:r>
            <a:endParaRPr lang="en-US" sz="850" dirty="0"/>
          </a:p>
        </p:txBody>
      </p:sp>
      <p:sp>
        <p:nvSpPr>
          <p:cNvPr id="186" name="Shape 184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 fix(s) sem card</a:t>
            </a:r>
            <a:endParaRPr lang="en-US" sz="750" dirty="0"/>
          </a:p>
        </p:txBody>
      </p:sp>
      <p:sp>
        <p:nvSpPr>
          <p:cNvPr id="188" name="Shape 186"/>
          <p:cNvSpPr/>
          <p:nvPr/>
        </p:nvSpPr>
        <p:spPr>
          <a:xfrm>
            <a:off x="365760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9" name="Text 187"/>
          <p:cNvSpPr/>
          <p:nvPr/>
        </p:nvSpPr>
        <p:spPr>
          <a:xfrm>
            <a:off x="371246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Artur Silva</a:t>
            </a:r>
            <a:endParaRPr lang="en-US" sz="850" dirty="0"/>
          </a:p>
        </p:txBody>
      </p:sp>
      <p:sp>
        <p:nvSpPr>
          <p:cNvPr id="190" name="Shape 188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371246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314.5h · 47 subs finalizadas</a:t>
            </a:r>
            <a:endParaRPr lang="en-US" sz="950" dirty="0"/>
          </a:p>
        </p:txBody>
      </p:sp>
      <p:sp>
        <p:nvSpPr>
          <p:cNvPr id="193" name="Text 191"/>
          <p:cNvSpPr/>
          <p:nvPr/>
        </p:nvSpPr>
        <p:spPr>
          <a:xfrm>
            <a:off x="371246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151.5h estimadas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3 fix(s) sem card</a:t>
            </a:r>
            <a:endParaRPr lang="en-US" sz="750" dirty="0"/>
          </a:p>
        </p:txBody>
      </p:sp>
      <p:sp>
        <p:nvSpPr>
          <p:cNvPr id="196" name="Shape 194"/>
          <p:cNvSpPr/>
          <p:nvPr/>
        </p:nvSpPr>
        <p:spPr>
          <a:xfrm>
            <a:off x="487375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97" name="Text 195"/>
          <p:cNvSpPr/>
          <p:nvPr/>
        </p:nvSpPr>
        <p:spPr>
          <a:xfrm>
            <a:off x="492861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Carlos H. Almeida</a:t>
            </a:r>
            <a:endParaRPr lang="en-US" sz="850" dirty="0"/>
          </a:p>
        </p:txBody>
      </p:sp>
      <p:sp>
        <p:nvSpPr>
          <p:cNvPr id="198" name="Shape 196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492861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268.2h · 34 subs finalizadas</a:t>
            </a:r>
            <a:endParaRPr lang="en-US" sz="950" dirty="0"/>
          </a:p>
        </p:txBody>
      </p:sp>
      <p:sp>
        <p:nvSpPr>
          <p:cNvPr id="201" name="Text 199"/>
          <p:cNvSpPr/>
          <p:nvPr/>
        </p:nvSpPr>
        <p:spPr>
          <a:xfrm>
            <a:off x="492861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217h estimadas</a:t>
            </a:r>
            <a:endParaRPr lang="en-US" sz="850" dirty="0"/>
          </a:p>
        </p:txBody>
      </p:sp>
      <p:sp>
        <p:nvSpPr>
          <p:cNvPr id="202" name="Shape 200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4 fix(s) sem card</a:t>
            </a:r>
            <a:endParaRPr lang="en-US" sz="750" dirty="0"/>
          </a:p>
        </p:txBody>
      </p:sp>
      <p:sp>
        <p:nvSpPr>
          <p:cNvPr id="204" name="Shape 202"/>
          <p:cNvSpPr/>
          <p:nvPr/>
        </p:nvSpPr>
        <p:spPr>
          <a:xfrm>
            <a:off x="6089904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5" name="Text 203"/>
          <p:cNvSpPr/>
          <p:nvPr/>
        </p:nvSpPr>
        <p:spPr>
          <a:xfrm>
            <a:off x="6144768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Maria E. Muniz</a:t>
            </a:r>
            <a:endParaRPr lang="en-US" sz="850" dirty="0"/>
          </a:p>
        </p:txBody>
      </p:sp>
      <p:sp>
        <p:nvSpPr>
          <p:cNvPr id="206" name="Shape 204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6144768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85.5h · 19 subs finalizadas</a:t>
            </a:r>
            <a:endParaRPr lang="en-US" sz="950" dirty="0"/>
          </a:p>
        </p:txBody>
      </p:sp>
      <p:sp>
        <p:nvSpPr>
          <p:cNvPr id="209" name="Text 207"/>
          <p:cNvSpPr/>
          <p:nvPr/>
        </p:nvSpPr>
        <p:spPr>
          <a:xfrm>
            <a:off x="6144768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49h estimadas</a:t>
            </a:r>
            <a:endParaRPr lang="en-US" sz="850" dirty="0"/>
          </a:p>
        </p:txBody>
      </p:sp>
      <p:sp>
        <p:nvSpPr>
          <p:cNvPr id="210" name="Shape 208"/>
          <p:cNvSpPr/>
          <p:nvPr/>
        </p:nvSpPr>
        <p:spPr>
          <a:xfrm>
            <a:off x="7306056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11" name="Text 209"/>
          <p:cNvSpPr/>
          <p:nvPr/>
        </p:nvSpPr>
        <p:spPr>
          <a:xfrm>
            <a:off x="7360920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Fabio Santos</a:t>
            </a:r>
            <a:endParaRPr lang="en-US" sz="850" dirty="0"/>
          </a:p>
        </p:txBody>
      </p:sp>
      <p:sp>
        <p:nvSpPr>
          <p:cNvPr id="212" name="Shape 210"/>
          <p:cNvSpPr/>
          <p:nvPr/>
        </p:nvSpPr>
        <p:spPr>
          <a:xfrm>
            <a:off x="7360920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360920" y="6153912"/>
            <a:ext cx="705289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7360920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212.8h · 52 subs finalizadas</a:t>
            </a:r>
            <a:endParaRPr lang="en-US" sz="950" dirty="0"/>
          </a:p>
        </p:txBody>
      </p:sp>
      <p:sp>
        <p:nvSpPr>
          <p:cNvPr id="215" name="Text 213"/>
          <p:cNvSpPr/>
          <p:nvPr/>
        </p:nvSpPr>
        <p:spPr>
          <a:xfrm>
            <a:off x="7360920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309h estimadas</a:t>
            </a:r>
            <a:endParaRPr lang="en-US" sz="850" dirty="0"/>
          </a:p>
        </p:txBody>
      </p:sp>
      <p:sp>
        <p:nvSpPr>
          <p:cNvPr id="216" name="Shape 214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19 fix(s) sem card</a:t>
            </a:r>
            <a:endParaRPr lang="en-US" sz="750" dirty="0"/>
          </a:p>
        </p:txBody>
      </p:sp>
      <p:sp>
        <p:nvSpPr>
          <p:cNvPr id="218" name="Shape 216"/>
          <p:cNvSpPr/>
          <p:nvPr/>
        </p:nvSpPr>
        <p:spPr>
          <a:xfrm>
            <a:off x="852220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19" name="Text 217"/>
          <p:cNvSpPr/>
          <p:nvPr/>
        </p:nvSpPr>
        <p:spPr>
          <a:xfrm>
            <a:off x="857707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Albert V. Foureaux</a:t>
            </a:r>
            <a:endParaRPr lang="en-US" sz="850" dirty="0"/>
          </a:p>
        </p:txBody>
      </p:sp>
      <p:sp>
        <p:nvSpPr>
          <p:cNvPr id="220" name="Shape 218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857707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6.5h · 1 subs finalizadas</a:t>
            </a:r>
            <a:endParaRPr lang="en-US" sz="950" dirty="0"/>
          </a:p>
        </p:txBody>
      </p:sp>
      <p:sp>
        <p:nvSpPr>
          <p:cNvPr id="223" name="Text 221"/>
          <p:cNvSpPr/>
          <p:nvPr/>
        </p:nvSpPr>
        <p:spPr>
          <a:xfrm>
            <a:off x="857707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6.5h estimadas</a:t>
            </a:r>
            <a:endParaRPr lang="en-US" sz="850" dirty="0"/>
          </a:p>
        </p:txBody>
      </p:sp>
      <p:sp>
        <p:nvSpPr>
          <p:cNvPr id="224" name="Shape 222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25" name="Text 223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7 fix(s) sem card</a:t>
            </a:r>
            <a:endParaRPr lang="en-US" sz="750" dirty="0"/>
          </a:p>
        </p:txBody>
      </p:sp>
      <p:sp>
        <p:nvSpPr>
          <p:cNvPr id="226" name="Shape 224"/>
          <p:cNvSpPr/>
          <p:nvPr/>
        </p:nvSpPr>
        <p:spPr>
          <a:xfrm>
            <a:off x="973836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7" name="Text 225"/>
          <p:cNvSpPr/>
          <p:nvPr/>
        </p:nvSpPr>
        <p:spPr>
          <a:xfrm>
            <a:off x="979322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James G. Pereira</a:t>
            </a:r>
            <a:endParaRPr lang="en-US" sz="850" dirty="0"/>
          </a:p>
        </p:txBody>
      </p:sp>
      <p:sp>
        <p:nvSpPr>
          <p:cNvPr id="228" name="Shape 226"/>
          <p:cNvSpPr/>
          <p:nvPr/>
        </p:nvSpPr>
        <p:spPr>
          <a:xfrm>
            <a:off x="979322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9793224" y="6153912"/>
            <a:ext cx="931025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979322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30h · 5 subs finalizadas</a:t>
            </a:r>
            <a:endParaRPr lang="en-US" sz="950" dirty="0"/>
          </a:p>
        </p:txBody>
      </p:sp>
      <p:sp>
        <p:nvSpPr>
          <p:cNvPr id="231" name="Text 229"/>
          <p:cNvSpPr/>
          <p:nvPr/>
        </p:nvSpPr>
        <p:spPr>
          <a:xfrm>
            <a:off x="979322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33h estimadas</a:t>
            </a:r>
            <a:endParaRPr lang="en-US" sz="850" dirty="0"/>
          </a:p>
        </p:txBody>
      </p:sp>
      <p:sp>
        <p:nvSpPr>
          <p:cNvPr id="232" name="Shape 230"/>
          <p:cNvSpPr/>
          <p:nvPr/>
        </p:nvSpPr>
        <p:spPr>
          <a:xfrm>
            <a:off x="1095451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33" name="Text 231"/>
          <p:cNvSpPr/>
          <p:nvPr/>
        </p:nvSpPr>
        <p:spPr>
          <a:xfrm>
            <a:off x="1100937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Ricardo Cardoso</a:t>
            </a:r>
            <a:endParaRPr lang="en-US" sz="850" dirty="0"/>
          </a:p>
        </p:txBody>
      </p:sp>
      <p:sp>
        <p:nvSpPr>
          <p:cNvPr id="234" name="Shape 232"/>
          <p:cNvSpPr/>
          <p:nvPr/>
        </p:nvSpPr>
        <p:spPr>
          <a:xfrm>
            <a:off x="1100937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11009376" y="6153912"/>
            <a:ext cx="86627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1100937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112.5h · 84 subs finalizadas</a:t>
            </a:r>
            <a:endParaRPr lang="en-US" sz="950" dirty="0"/>
          </a:p>
        </p:txBody>
      </p:sp>
      <p:sp>
        <p:nvSpPr>
          <p:cNvPr id="237" name="Text 235"/>
          <p:cNvSpPr/>
          <p:nvPr/>
        </p:nvSpPr>
        <p:spPr>
          <a:xfrm>
            <a:off x="1100937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133h estimadas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— Quadro de Aulas</dc:title>
  <dc:subject>PptxGenJS Presentation</dc:subject>
  <dc:creator>PptxGenJS</dc:creator>
  <cp:lastModifiedBy>PptxGenJS</cp:lastModifiedBy>
  <cp:revision>1</cp:revision>
  <dcterms:created xsi:type="dcterms:W3CDTF">2026-06-18T11:21:20Z</dcterms:created>
  <dcterms:modified xsi:type="dcterms:W3CDTF">2026-06-18T11:21:20Z</dcterms:modified>
</cp:coreProperties>
</file>