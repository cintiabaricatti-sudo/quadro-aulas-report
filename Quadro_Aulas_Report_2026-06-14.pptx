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331720" cy="6858000"/>
          </a:xfrm>
          <a:prstGeom prst="rect">
            <a:avLst/>
          </a:prstGeom>
          <a:solidFill>
            <a:srgbClr val="1C2B4A"/>
          </a:solidFill>
          <a:ln w="12700">
            <a:solidFill>
              <a:srgbClr val="1C2B4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37160" y="164592"/>
            <a:ext cx="21488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spc="400" kern="0" dirty="0">
                <a:solidFill>
                  <a:srgbClr val="8FA3C0"/>
                </a:solidFill>
              </a:rPr>
              <a:t>STATUS REPORT</a:t>
            </a:r>
            <a:endParaRPr lang="en-US" sz="650" dirty="0"/>
          </a:p>
        </p:txBody>
      </p:sp>
      <p:sp>
        <p:nvSpPr>
          <p:cNvPr id="4" name="Text 2"/>
          <p:cNvSpPr/>
          <p:nvPr/>
        </p:nvSpPr>
        <p:spPr>
          <a:xfrm>
            <a:off x="137160" y="329184"/>
            <a:ext cx="2148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FFFFF"/>
                </a:solidFill>
              </a:rPr>
              <a:t>Quadro de Aulas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137160" y="640080"/>
            <a:ext cx="21488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i="1" dirty="0">
                <a:solidFill>
                  <a:srgbClr val="8FA3C0"/>
                </a:solidFill>
              </a:rPr>
              <a:t>Resiliencia Sistemica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137160" y="822960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FA3C0"/>
                </a:solidFill>
              </a:rPr>
              <a:t>14 de Junho de 2026 as 18:37</a:t>
            </a:r>
            <a:endParaRPr lang="en-US" sz="700" dirty="0"/>
          </a:p>
        </p:txBody>
      </p:sp>
      <p:sp>
        <p:nvSpPr>
          <p:cNvPr id="7" name="Shape 5"/>
          <p:cNvSpPr/>
          <p:nvPr/>
        </p:nvSpPr>
        <p:spPr>
          <a:xfrm>
            <a:off x="137160" y="1005840"/>
            <a:ext cx="2057400" cy="13716"/>
          </a:xfrm>
          <a:prstGeom prst="rect">
            <a:avLst/>
          </a:prstGeom>
          <a:solidFill>
            <a:srgbClr val="2D4A73"/>
          </a:solidFill>
          <a:ln w="12700">
            <a:solidFill>
              <a:srgbClr val="2D4A7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37160" y="1078992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spc="200" kern="0" dirty="0">
                <a:solidFill>
                  <a:srgbClr val="8FA3C0"/>
                </a:solidFill>
              </a:rPr>
              <a:t>TOTAL DE ITENS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137160" y="1225296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371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137160" y="1645920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spc="200" kern="0" dirty="0">
                <a:solidFill>
                  <a:srgbClr val="8FA3C0"/>
                </a:solidFill>
              </a:rPr>
              <a:t>CONCLUIDOS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37160" y="1792224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4ADE80"/>
                </a:solidFill>
              </a:rPr>
              <a:t>289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137160" y="2212848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spc="200" kern="0" dirty="0">
                <a:solidFill>
                  <a:srgbClr val="8FA3C0"/>
                </a:solidFill>
              </a:rPr>
              <a:t>EM PROGRESSO</a:t>
            </a:r>
            <a:endParaRPr lang="en-US" sz="650" dirty="0"/>
          </a:p>
        </p:txBody>
      </p:sp>
      <p:sp>
        <p:nvSpPr>
          <p:cNvPr id="13" name="Text 11"/>
          <p:cNvSpPr/>
          <p:nvPr/>
        </p:nvSpPr>
        <p:spPr>
          <a:xfrm>
            <a:off x="137160" y="2359152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CD34D"/>
                </a:solidFill>
              </a:rPr>
              <a:t>10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137160" y="2779776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spc="200" kern="0" dirty="0">
                <a:solidFill>
                  <a:srgbClr val="8FA3C0"/>
                </a:solidFill>
              </a:rPr>
              <a:t>A FAZER / BACKLOG</a:t>
            </a:r>
            <a:endParaRPr lang="en-US" sz="650" dirty="0"/>
          </a:p>
        </p:txBody>
      </p:sp>
      <p:sp>
        <p:nvSpPr>
          <p:cNvPr id="15" name="Text 13"/>
          <p:cNvSpPr/>
          <p:nvPr/>
        </p:nvSpPr>
        <p:spPr>
          <a:xfrm>
            <a:off x="137160" y="2926080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87171"/>
                </a:solidFill>
              </a:rPr>
              <a:t>54</a:t>
            </a:r>
            <a:endParaRPr lang="en-US" sz="2400" dirty="0"/>
          </a:p>
        </p:txBody>
      </p:sp>
      <p:sp>
        <p:nvSpPr>
          <p:cNvPr id="16" name="Text 14"/>
          <p:cNvSpPr/>
          <p:nvPr/>
        </p:nvSpPr>
        <p:spPr>
          <a:xfrm>
            <a:off x="137160" y="3383280"/>
            <a:ext cx="21488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spc="200" kern="0" dirty="0">
                <a:solidFill>
                  <a:srgbClr val="8FA3C0"/>
                </a:solidFill>
              </a:rPr>
              <a:t>PROGRESSO GERAL</a:t>
            </a:r>
            <a:endParaRPr lang="en-US" sz="650" dirty="0"/>
          </a:p>
        </p:txBody>
      </p:sp>
      <p:sp>
        <p:nvSpPr>
          <p:cNvPr id="17" name="Shape 15"/>
          <p:cNvSpPr/>
          <p:nvPr/>
        </p:nvSpPr>
        <p:spPr>
          <a:xfrm>
            <a:off x="137160" y="3538728"/>
            <a:ext cx="2057400" cy="91440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37160" y="3538728"/>
            <a:ext cx="1604772" cy="91440"/>
          </a:xfrm>
          <a:prstGeom prst="rect">
            <a:avLst/>
          </a:prstGeom>
          <a:solidFill>
            <a:srgbClr val="4ADE80"/>
          </a:solidFill>
          <a:ln w="12700">
            <a:solidFill>
              <a:srgbClr val="4ADE8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37160" y="3648456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FA3C0"/>
                </a:solidFill>
              </a:rPr>
              <a:t>78% concluido  .  289 de 371 itens</a:t>
            </a:r>
            <a:endParaRPr lang="en-US" sz="700" dirty="0"/>
          </a:p>
        </p:txBody>
      </p:sp>
      <p:sp>
        <p:nvSpPr>
          <p:cNvPr id="20" name="Text 18"/>
          <p:cNvSpPr/>
          <p:nvPr/>
        </p:nvSpPr>
        <p:spPr>
          <a:xfrm>
            <a:off x="137160" y="3794760"/>
            <a:ext cx="21488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FA3C0"/>
                </a:solidFill>
              </a:rPr>
              <a:t>Cancelados excluidos do escopo</a:t>
            </a:r>
            <a:endParaRPr lang="en-US" sz="650" dirty="0"/>
          </a:p>
        </p:txBody>
      </p:sp>
      <p:sp>
        <p:nvSpPr>
          <p:cNvPr id="21" name="Text 19"/>
          <p:cNvSpPr/>
          <p:nvPr/>
        </p:nvSpPr>
        <p:spPr>
          <a:xfrm>
            <a:off x="137160" y="3977640"/>
            <a:ext cx="21488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spc="200" kern="0" dirty="0">
                <a:solidFill>
                  <a:srgbClr val="8FA3C0"/>
                </a:solidFill>
              </a:rPr>
              <a:t>VELOCIDADE RECENTE</a:t>
            </a:r>
            <a:endParaRPr lang="en-US" sz="650" dirty="0"/>
          </a:p>
        </p:txBody>
      </p:sp>
      <p:sp>
        <p:nvSpPr>
          <p:cNvPr id="22" name="Text 20"/>
          <p:cNvSpPr/>
          <p:nvPr/>
        </p:nvSpPr>
        <p:spPr>
          <a:xfrm>
            <a:off x="137160" y="4114800"/>
            <a:ext cx="2148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CD34D"/>
                </a:solidFill>
              </a:rPr>
              <a:t>18h/dia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137160" y="4425696"/>
            <a:ext cx="21488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FA3C0"/>
                </a:solidFill>
              </a:rPr>
              <a:t>velocidade fixada pelo time</a:t>
            </a:r>
            <a:endParaRPr lang="en-US" sz="650" dirty="0"/>
          </a:p>
        </p:txBody>
      </p:sp>
      <p:sp>
        <p:nvSpPr>
          <p:cNvPr id="24" name="Text 22"/>
          <p:cNvSpPr/>
          <p:nvPr/>
        </p:nvSpPr>
        <p:spPr>
          <a:xfrm>
            <a:off x="137160" y="6492240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FA3C0"/>
                </a:solidFill>
              </a:rPr>
              <a:t>Squad Lecionar</a:t>
            </a:r>
            <a:endParaRPr lang="en-US" sz="700" dirty="0"/>
          </a:p>
        </p:txBody>
      </p:sp>
      <p:sp>
        <p:nvSpPr>
          <p:cNvPr id="25" name="Text 23"/>
          <p:cNvSpPr/>
          <p:nvPr/>
        </p:nvSpPr>
        <p:spPr>
          <a:xfrm>
            <a:off x="137160" y="6647688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FA3C0"/>
                </a:solidFill>
              </a:rPr>
              <a:t>Cintia Baricatti</a:t>
            </a:r>
            <a:endParaRPr lang="en-US" sz="700" dirty="0"/>
          </a:p>
        </p:txBody>
      </p:sp>
      <p:sp>
        <p:nvSpPr>
          <p:cNvPr id="26" name="Shape 24"/>
          <p:cNvSpPr/>
          <p:nvPr/>
        </p:nvSpPr>
        <p:spPr>
          <a:xfrm>
            <a:off x="2441448" y="73152"/>
            <a:ext cx="2350008" cy="256032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441448" y="73152"/>
            <a:ext cx="23500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PRINCIPAL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2441448" y="329184"/>
            <a:ext cx="2350008" cy="175564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2514600" y="402336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5 Stories · 3 NFT · 69 itens</a:t>
            </a:r>
            <a:endParaRPr lang="en-US" sz="750" dirty="0"/>
          </a:p>
        </p:txBody>
      </p:sp>
      <p:sp>
        <p:nvSpPr>
          <p:cNvPr id="30" name="Text 28"/>
          <p:cNvSpPr/>
          <p:nvPr/>
        </p:nvSpPr>
        <p:spPr>
          <a:xfrm>
            <a:off x="2514600" y="566928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A Fazer: 4 . Em progresso: 0 . Finalizados: 65</a:t>
            </a:r>
            <a:endParaRPr lang="en-US" sz="750" dirty="0"/>
          </a:p>
        </p:txBody>
      </p:sp>
      <p:sp>
        <p:nvSpPr>
          <p:cNvPr id="31" name="Text 29"/>
          <p:cNvSpPr/>
          <p:nvPr/>
        </p:nvSpPr>
        <p:spPr>
          <a:xfrm>
            <a:off x="2514600" y="713232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Est: 274h . Real: 259.7h . Rem: 7h</a:t>
            </a:r>
            <a:endParaRPr lang="en-US" sz="750" dirty="0"/>
          </a:p>
        </p:txBody>
      </p:sp>
      <p:sp>
        <p:nvSpPr>
          <p:cNvPr id="32" name="Shape 30"/>
          <p:cNvSpPr/>
          <p:nvPr/>
        </p:nvSpPr>
        <p:spPr>
          <a:xfrm>
            <a:off x="2514600" y="859536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514600" y="859536"/>
            <a:ext cx="1939260" cy="50292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514600" y="914400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Stories/NFTs: 88% · 7 de 8</a:t>
            </a:r>
            <a:endParaRPr lang="en-US" sz="650" dirty="0"/>
          </a:p>
        </p:txBody>
      </p:sp>
      <p:sp>
        <p:nvSpPr>
          <p:cNvPr id="35" name="Shape 33"/>
          <p:cNvSpPr/>
          <p:nvPr/>
        </p:nvSpPr>
        <p:spPr>
          <a:xfrm>
            <a:off x="2514600" y="1033272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514600" y="1033272"/>
            <a:ext cx="2071482" cy="50292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514600" y="1088136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Subs: 94% · 65 de 69</a:t>
            </a:r>
            <a:endParaRPr lang="en-US" sz="650" dirty="0"/>
          </a:p>
        </p:txBody>
      </p:sp>
      <p:sp>
        <p:nvSpPr>
          <p:cNvPr id="38" name="Text 36"/>
          <p:cNvSpPr/>
          <p:nvPr/>
        </p:nvSpPr>
        <p:spPr>
          <a:xfrm>
            <a:off x="2514600" y="1234440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D9E75"/>
                </a:solidFill>
              </a:rPr>
              <a:t>Projetado: 266.7h (-7.3h / -3%)</a:t>
            </a:r>
            <a:endParaRPr lang="en-US" sz="800" dirty="0"/>
          </a:p>
        </p:txBody>
      </p:sp>
      <p:sp>
        <p:nvSpPr>
          <p:cNvPr id="39" name="Shape 37"/>
          <p:cNvSpPr/>
          <p:nvPr/>
        </p:nvSpPr>
        <p:spPr>
          <a:xfrm>
            <a:off x="4873752" y="73152"/>
            <a:ext cx="2350008" cy="256032"/>
          </a:xfrm>
          <a:prstGeom prst="rect">
            <a:avLst/>
          </a:prstGeom>
          <a:solidFill>
            <a:srgbClr val="534AB7"/>
          </a:solidFill>
          <a:ln w="12700">
            <a:solidFill>
              <a:srgbClr val="534AB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873752" y="73152"/>
            <a:ext cx="23500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REDUNDANTE</a:t>
            </a:r>
            <a:endParaRPr lang="en-US" sz="850" dirty="0"/>
          </a:p>
        </p:txBody>
      </p:sp>
      <p:sp>
        <p:nvSpPr>
          <p:cNvPr id="41" name="Shape 39"/>
          <p:cNvSpPr/>
          <p:nvPr/>
        </p:nvSpPr>
        <p:spPr>
          <a:xfrm>
            <a:off x="4873752" y="329184"/>
            <a:ext cx="2350008" cy="175564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42" name="Text 40"/>
          <p:cNvSpPr/>
          <p:nvPr/>
        </p:nvSpPr>
        <p:spPr>
          <a:xfrm>
            <a:off x="4946904" y="402336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7 Stories · 3 NFT · 104 itens</a:t>
            </a:r>
            <a:endParaRPr lang="en-US" sz="750" dirty="0"/>
          </a:p>
        </p:txBody>
      </p:sp>
      <p:sp>
        <p:nvSpPr>
          <p:cNvPr id="43" name="Text 41"/>
          <p:cNvSpPr/>
          <p:nvPr/>
        </p:nvSpPr>
        <p:spPr>
          <a:xfrm>
            <a:off x="4946904" y="566928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A Fazer: 11 . Em progresso: 2 . Finalizados: 91</a:t>
            </a:r>
            <a:endParaRPr lang="en-US" sz="750" dirty="0"/>
          </a:p>
        </p:txBody>
      </p:sp>
      <p:sp>
        <p:nvSpPr>
          <p:cNvPr id="44" name="Text 42"/>
          <p:cNvSpPr/>
          <p:nvPr/>
        </p:nvSpPr>
        <p:spPr>
          <a:xfrm>
            <a:off x="4946904" y="713232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Est: 405h . Real: 499.9h . Rem: 11.5h</a:t>
            </a:r>
            <a:endParaRPr lang="en-US" sz="750" dirty="0"/>
          </a:p>
        </p:txBody>
      </p:sp>
      <p:sp>
        <p:nvSpPr>
          <p:cNvPr id="45" name="Shape 43"/>
          <p:cNvSpPr/>
          <p:nvPr/>
        </p:nvSpPr>
        <p:spPr>
          <a:xfrm>
            <a:off x="4946904" y="859536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4946904" y="859536"/>
            <a:ext cx="1542593" cy="50292"/>
          </a:xfrm>
          <a:prstGeom prst="rect">
            <a:avLst/>
          </a:prstGeom>
          <a:solidFill>
            <a:srgbClr val="534AB7"/>
          </a:solidFill>
          <a:ln w="12700">
            <a:solidFill>
              <a:srgbClr val="534AB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4946904" y="914400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Stories/NFTs: 70% · 7 de 10</a:t>
            </a:r>
            <a:endParaRPr lang="en-US" sz="650" dirty="0"/>
          </a:p>
        </p:txBody>
      </p:sp>
      <p:sp>
        <p:nvSpPr>
          <p:cNvPr id="48" name="Shape 46"/>
          <p:cNvSpPr/>
          <p:nvPr/>
        </p:nvSpPr>
        <p:spPr>
          <a:xfrm>
            <a:off x="4946904" y="1033272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4946904" y="1033272"/>
            <a:ext cx="1939260" cy="50292"/>
          </a:xfrm>
          <a:prstGeom prst="rect">
            <a:avLst/>
          </a:prstGeom>
          <a:solidFill>
            <a:srgbClr val="534AB7"/>
          </a:solidFill>
          <a:ln w="12700">
            <a:solidFill>
              <a:srgbClr val="534AB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4946904" y="1088136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Subs: 88% · 91 de 104</a:t>
            </a:r>
            <a:endParaRPr lang="en-US" sz="650" dirty="0"/>
          </a:p>
        </p:txBody>
      </p:sp>
      <p:sp>
        <p:nvSpPr>
          <p:cNvPr id="51" name="Text 49"/>
          <p:cNvSpPr/>
          <p:nvPr/>
        </p:nvSpPr>
        <p:spPr>
          <a:xfrm>
            <a:off x="4946904" y="1234440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DC2626"/>
                </a:solidFill>
              </a:rPr>
              <a:t>Projetado: 511.4h (+106.4h / +26%)</a:t>
            </a:r>
            <a:endParaRPr lang="en-US" sz="800" dirty="0"/>
          </a:p>
        </p:txBody>
      </p:sp>
      <p:sp>
        <p:nvSpPr>
          <p:cNvPr id="52" name="Text 50"/>
          <p:cNvSpPr/>
          <p:nvPr/>
        </p:nvSpPr>
        <p:spPr>
          <a:xfrm>
            <a:off x="4946904" y="1417320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534AB7"/>
                </a:solidFill>
              </a:rPr>
              <a:t>2 ativo(s) com horas estouradas</a:t>
            </a:r>
            <a:endParaRPr lang="en-US" sz="750" dirty="0"/>
          </a:p>
        </p:txBody>
      </p:sp>
      <p:sp>
        <p:nvSpPr>
          <p:cNvPr id="53" name="Shape 51"/>
          <p:cNvSpPr/>
          <p:nvPr/>
        </p:nvSpPr>
        <p:spPr>
          <a:xfrm>
            <a:off x="4946904" y="1581912"/>
            <a:ext cx="2203704" cy="448056"/>
          </a:xfrm>
          <a:prstGeom prst="rect">
            <a:avLst/>
          </a:prstGeom>
          <a:solidFill>
            <a:srgbClr val="FFF8F8"/>
          </a:solidFill>
          <a:ln w="12700">
            <a:solidFill>
              <a:srgbClr val="FCA5A5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4965192" y="1600200"/>
            <a:ext cx="216712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222222"/>
                </a:solidFill>
              </a:rPr>
              <a:t>[backend] Implementar endpoint /links/au</a:t>
            </a:r>
            <a:endParaRPr lang="en-US" sz="650" dirty="0"/>
          </a:p>
        </p:txBody>
      </p:sp>
      <p:sp>
        <p:nvSpPr>
          <p:cNvPr id="55" name="Text 53"/>
          <p:cNvSpPr/>
          <p:nvPr/>
        </p:nvSpPr>
        <p:spPr>
          <a:xfrm>
            <a:off x="4965192" y="1728216"/>
            <a:ext cx="216712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DC2626"/>
                </a:solidFill>
              </a:rPr>
              <a:t>+5h (+125%)</a:t>
            </a:r>
            <a:endParaRPr lang="en-US" sz="700" dirty="0"/>
          </a:p>
        </p:txBody>
      </p:sp>
      <p:sp>
        <p:nvSpPr>
          <p:cNvPr id="56" name="Shape 54"/>
          <p:cNvSpPr/>
          <p:nvPr/>
        </p:nvSpPr>
        <p:spPr>
          <a:xfrm>
            <a:off x="7306056" y="73152"/>
            <a:ext cx="2350008" cy="25603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7306056" y="73152"/>
            <a:ext cx="145700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COMPLEMENTARES</a:t>
            </a:r>
            <a:endParaRPr lang="en-US" sz="850" dirty="0"/>
          </a:p>
        </p:txBody>
      </p:sp>
      <p:sp>
        <p:nvSpPr>
          <p:cNvPr id="58" name="Text 56"/>
          <p:cNvSpPr/>
          <p:nvPr/>
        </p:nvSpPr>
        <p:spPr>
          <a:xfrm>
            <a:off x="8786561" y="73152"/>
            <a:ext cx="86950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D5D5"/>
                </a:solidFill>
              </a:rPr>
              <a:t>CANCELADO</a:t>
            </a:r>
            <a:endParaRPr lang="en-US" sz="800" dirty="0"/>
          </a:p>
        </p:txBody>
      </p:sp>
      <p:sp>
        <p:nvSpPr>
          <p:cNvPr id="59" name="Shape 57"/>
          <p:cNvSpPr/>
          <p:nvPr/>
        </p:nvSpPr>
        <p:spPr>
          <a:xfrm>
            <a:off x="7306056" y="329184"/>
            <a:ext cx="2350008" cy="1755648"/>
          </a:xfrm>
          <a:prstGeom prst="rect">
            <a:avLst/>
          </a:prstGeom>
          <a:solidFill>
            <a:srgbClr val="FFFFFF"/>
          </a:solidFill>
          <a:ln w="12700">
            <a:solidFill>
              <a:srgbClr val="DC2626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60" name="Text 58"/>
          <p:cNvSpPr/>
          <p:nvPr/>
        </p:nvSpPr>
        <p:spPr>
          <a:xfrm>
            <a:off x="7379208" y="402336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1 Story · 9 itens</a:t>
            </a:r>
            <a:endParaRPr lang="en-US" sz="750" dirty="0"/>
          </a:p>
        </p:txBody>
      </p:sp>
      <p:sp>
        <p:nvSpPr>
          <p:cNvPr id="61" name="Text 59"/>
          <p:cNvSpPr/>
          <p:nvPr/>
        </p:nvSpPr>
        <p:spPr>
          <a:xfrm>
            <a:off x="7379208" y="566928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A Fazer: 0 . Em progresso: 0 . Finalizados: 9</a:t>
            </a:r>
            <a:endParaRPr lang="en-US" sz="750" dirty="0"/>
          </a:p>
        </p:txBody>
      </p:sp>
      <p:sp>
        <p:nvSpPr>
          <p:cNvPr id="62" name="Text 60"/>
          <p:cNvSpPr/>
          <p:nvPr/>
        </p:nvSpPr>
        <p:spPr>
          <a:xfrm>
            <a:off x="7379208" y="713232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Est: 27h . Real: 75.5h . Rem: 0h</a:t>
            </a:r>
            <a:endParaRPr lang="en-US" sz="750" dirty="0"/>
          </a:p>
        </p:txBody>
      </p:sp>
      <p:sp>
        <p:nvSpPr>
          <p:cNvPr id="63" name="Shape 61"/>
          <p:cNvSpPr/>
          <p:nvPr/>
        </p:nvSpPr>
        <p:spPr>
          <a:xfrm>
            <a:off x="7379208" y="859536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7379208" y="859536"/>
            <a:ext cx="2203704" cy="5029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7379208" y="914400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Stories/NFTs: 100% · 1 de 1</a:t>
            </a:r>
            <a:endParaRPr lang="en-US" sz="650" dirty="0"/>
          </a:p>
        </p:txBody>
      </p:sp>
      <p:sp>
        <p:nvSpPr>
          <p:cNvPr id="66" name="Shape 64"/>
          <p:cNvSpPr/>
          <p:nvPr/>
        </p:nvSpPr>
        <p:spPr>
          <a:xfrm>
            <a:off x="7379208" y="1033272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7379208" y="1033272"/>
            <a:ext cx="2203704" cy="5029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7379208" y="1088136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Subs: 100% · 9 de 9</a:t>
            </a:r>
            <a:endParaRPr lang="en-US" sz="650" dirty="0"/>
          </a:p>
        </p:txBody>
      </p:sp>
      <p:sp>
        <p:nvSpPr>
          <p:cNvPr id="69" name="Text 67"/>
          <p:cNvSpPr/>
          <p:nvPr/>
        </p:nvSpPr>
        <p:spPr>
          <a:xfrm>
            <a:off x="7379208" y="1234440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DC2626"/>
                </a:solidFill>
              </a:rPr>
              <a:t>Projetado: 75.5h (+48.5h / +180%)</a:t>
            </a:r>
            <a:endParaRPr lang="en-US" sz="800" dirty="0"/>
          </a:p>
        </p:txBody>
      </p:sp>
      <p:sp>
        <p:nvSpPr>
          <p:cNvPr id="70" name="Shape 68"/>
          <p:cNvSpPr/>
          <p:nvPr/>
        </p:nvSpPr>
        <p:spPr>
          <a:xfrm>
            <a:off x="9738360" y="73152"/>
            <a:ext cx="2350008" cy="256032"/>
          </a:xfrm>
          <a:prstGeom prst="rect">
            <a:avLst/>
          </a:prstGeom>
          <a:solidFill>
            <a:srgbClr val="1E6FA8"/>
          </a:solidFill>
          <a:ln w="12700">
            <a:solidFill>
              <a:srgbClr val="1E6FA8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9738360" y="73152"/>
            <a:ext cx="23500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OBSERVABILIDADE</a:t>
            </a:r>
            <a:endParaRPr lang="en-US" sz="850" dirty="0"/>
          </a:p>
        </p:txBody>
      </p:sp>
      <p:sp>
        <p:nvSpPr>
          <p:cNvPr id="72" name="Shape 70"/>
          <p:cNvSpPr/>
          <p:nvPr/>
        </p:nvSpPr>
        <p:spPr>
          <a:xfrm>
            <a:off x="9738360" y="329184"/>
            <a:ext cx="2350008" cy="175564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73" name="Text 71"/>
          <p:cNvSpPr/>
          <p:nvPr/>
        </p:nvSpPr>
        <p:spPr>
          <a:xfrm>
            <a:off x="9811512" y="402336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17 Stories · 115 itens</a:t>
            </a:r>
            <a:endParaRPr lang="en-US" sz="750" dirty="0"/>
          </a:p>
        </p:txBody>
      </p:sp>
      <p:sp>
        <p:nvSpPr>
          <p:cNvPr id="74" name="Text 72"/>
          <p:cNvSpPr/>
          <p:nvPr/>
        </p:nvSpPr>
        <p:spPr>
          <a:xfrm>
            <a:off x="9811512" y="566928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A Fazer: 37 . Em progresso: 5 . Finalizados: 73</a:t>
            </a:r>
            <a:endParaRPr lang="en-US" sz="750" dirty="0"/>
          </a:p>
        </p:txBody>
      </p:sp>
      <p:sp>
        <p:nvSpPr>
          <p:cNvPr id="75" name="Text 73"/>
          <p:cNvSpPr/>
          <p:nvPr/>
        </p:nvSpPr>
        <p:spPr>
          <a:xfrm>
            <a:off x="9811512" y="713232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Est: 488.5h . Real: 248h . Rem: 129h</a:t>
            </a:r>
            <a:endParaRPr lang="en-US" sz="750" dirty="0"/>
          </a:p>
        </p:txBody>
      </p:sp>
      <p:sp>
        <p:nvSpPr>
          <p:cNvPr id="76" name="Shape 74"/>
          <p:cNvSpPr/>
          <p:nvPr/>
        </p:nvSpPr>
        <p:spPr>
          <a:xfrm>
            <a:off x="9811512" y="859536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77" name="Shape 75"/>
          <p:cNvSpPr/>
          <p:nvPr/>
        </p:nvSpPr>
        <p:spPr>
          <a:xfrm>
            <a:off x="9811512" y="859536"/>
            <a:ext cx="0" cy="50292"/>
          </a:xfrm>
          <a:prstGeom prst="rect">
            <a:avLst/>
          </a:prstGeom>
          <a:solidFill>
            <a:srgbClr val="1E6FA8"/>
          </a:solidFill>
          <a:ln w="12700">
            <a:solidFill>
              <a:srgbClr val="1E6FA8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9811512" y="914400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Stories/NFTs: 0% · 0 de 17</a:t>
            </a:r>
            <a:endParaRPr lang="en-US" sz="650" dirty="0"/>
          </a:p>
        </p:txBody>
      </p:sp>
      <p:sp>
        <p:nvSpPr>
          <p:cNvPr id="79" name="Shape 77"/>
          <p:cNvSpPr/>
          <p:nvPr/>
        </p:nvSpPr>
        <p:spPr>
          <a:xfrm>
            <a:off x="9811512" y="1033272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80" name="Shape 78"/>
          <p:cNvSpPr/>
          <p:nvPr/>
        </p:nvSpPr>
        <p:spPr>
          <a:xfrm>
            <a:off x="9811512" y="1033272"/>
            <a:ext cx="1388334" cy="50292"/>
          </a:xfrm>
          <a:prstGeom prst="rect">
            <a:avLst/>
          </a:prstGeom>
          <a:solidFill>
            <a:srgbClr val="1E6FA8"/>
          </a:solidFill>
          <a:ln w="12700">
            <a:solidFill>
              <a:srgbClr val="1E6FA8"/>
            </a:solidFill>
            <a:prstDash val="solid"/>
          </a:ln>
        </p:spPr>
      </p:sp>
      <p:sp>
        <p:nvSpPr>
          <p:cNvPr id="81" name="Text 79"/>
          <p:cNvSpPr/>
          <p:nvPr/>
        </p:nvSpPr>
        <p:spPr>
          <a:xfrm>
            <a:off x="9811512" y="1088136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Subs: 63% · 73 de 115</a:t>
            </a:r>
            <a:endParaRPr lang="en-US" sz="650" dirty="0"/>
          </a:p>
        </p:txBody>
      </p:sp>
      <p:sp>
        <p:nvSpPr>
          <p:cNvPr id="82" name="Text 80"/>
          <p:cNvSpPr/>
          <p:nvPr/>
        </p:nvSpPr>
        <p:spPr>
          <a:xfrm>
            <a:off x="9811512" y="1234440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D9E75"/>
                </a:solidFill>
              </a:rPr>
              <a:t>Projetado: 377h (-111.5h / -23%)</a:t>
            </a:r>
            <a:endParaRPr lang="en-US" sz="800" dirty="0"/>
          </a:p>
        </p:txBody>
      </p:sp>
      <p:sp>
        <p:nvSpPr>
          <p:cNvPr id="83" name="Shape 81"/>
          <p:cNvSpPr/>
          <p:nvPr/>
        </p:nvSpPr>
        <p:spPr>
          <a:xfrm>
            <a:off x="2441448" y="2121408"/>
            <a:ext cx="9646920" cy="859536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84" name="Text 82"/>
          <p:cNvSpPr/>
          <p:nvPr/>
        </p:nvSpPr>
        <p:spPr>
          <a:xfrm>
            <a:off x="2532888" y="2176272"/>
            <a:ext cx="9464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spc="200" kern="0" dirty="0">
                <a:solidFill>
                  <a:srgbClr val="888888"/>
                </a:solidFill>
              </a:rPr>
              <a:t>HORAS - ESTIMADO vs. PROJETADO</a:t>
            </a:r>
            <a:endParaRPr lang="en-US" sz="700" dirty="0"/>
          </a:p>
        </p:txBody>
      </p:sp>
      <p:sp>
        <p:nvSpPr>
          <p:cNvPr id="85" name="Text 83"/>
          <p:cNvSpPr/>
          <p:nvPr/>
        </p:nvSpPr>
        <p:spPr>
          <a:xfrm>
            <a:off x="2532888" y="2322576"/>
            <a:ext cx="222885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spc="100" kern="0" dirty="0">
                <a:solidFill>
                  <a:srgbClr val="888888"/>
                </a:solidFill>
              </a:rPr>
              <a:t>PLANEJADO</a:t>
            </a:r>
            <a:endParaRPr lang="en-US" sz="700" dirty="0"/>
          </a:p>
        </p:txBody>
      </p:sp>
      <p:sp>
        <p:nvSpPr>
          <p:cNvPr id="86" name="Text 84"/>
          <p:cNvSpPr/>
          <p:nvPr/>
        </p:nvSpPr>
        <p:spPr>
          <a:xfrm>
            <a:off x="2532888" y="2450592"/>
            <a:ext cx="222885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222222"/>
                </a:solidFill>
              </a:rPr>
              <a:t>1210.5h</a:t>
            </a:r>
            <a:endParaRPr lang="en-US" sz="2400" dirty="0"/>
          </a:p>
        </p:txBody>
      </p:sp>
      <p:sp>
        <p:nvSpPr>
          <p:cNvPr id="87" name="Text 85"/>
          <p:cNvSpPr/>
          <p:nvPr/>
        </p:nvSpPr>
        <p:spPr>
          <a:xfrm>
            <a:off x="2532888" y="2779776"/>
            <a:ext cx="222885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original estimate</a:t>
            </a:r>
            <a:endParaRPr lang="en-US" sz="700" dirty="0"/>
          </a:p>
        </p:txBody>
      </p:sp>
      <p:sp>
        <p:nvSpPr>
          <p:cNvPr id="88" name="Shape 86"/>
          <p:cNvSpPr/>
          <p:nvPr/>
        </p:nvSpPr>
        <p:spPr>
          <a:xfrm>
            <a:off x="4853178" y="2322576"/>
            <a:ext cx="9144" cy="603504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89" name="Text 87"/>
          <p:cNvSpPr/>
          <p:nvPr/>
        </p:nvSpPr>
        <p:spPr>
          <a:xfrm>
            <a:off x="4944618" y="2322576"/>
            <a:ext cx="222885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spc="100" kern="0" dirty="0">
                <a:solidFill>
                  <a:srgbClr val="888888"/>
                </a:solidFill>
              </a:rPr>
              <a:t>JA GASTO</a:t>
            </a:r>
            <a:endParaRPr lang="en-US" sz="700" dirty="0"/>
          </a:p>
        </p:txBody>
      </p:sp>
      <p:sp>
        <p:nvSpPr>
          <p:cNvPr id="90" name="Text 88"/>
          <p:cNvSpPr/>
          <p:nvPr/>
        </p:nvSpPr>
        <p:spPr>
          <a:xfrm>
            <a:off x="4944618" y="2450592"/>
            <a:ext cx="222885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D97706"/>
                </a:solidFill>
              </a:rPr>
              <a:t>1171h</a:t>
            </a:r>
            <a:endParaRPr lang="en-US" sz="2400" dirty="0"/>
          </a:p>
        </p:txBody>
      </p:sp>
      <p:sp>
        <p:nvSpPr>
          <p:cNvPr id="91" name="Text 89"/>
          <p:cNvSpPr/>
          <p:nvPr/>
        </p:nvSpPr>
        <p:spPr>
          <a:xfrm>
            <a:off x="4944618" y="2779776"/>
            <a:ext cx="222885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completed work</a:t>
            </a:r>
            <a:endParaRPr lang="en-US" sz="700" dirty="0"/>
          </a:p>
        </p:txBody>
      </p:sp>
      <p:sp>
        <p:nvSpPr>
          <p:cNvPr id="92" name="Shape 90"/>
          <p:cNvSpPr/>
          <p:nvPr/>
        </p:nvSpPr>
        <p:spPr>
          <a:xfrm>
            <a:off x="7264908" y="2322576"/>
            <a:ext cx="9144" cy="603504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93" name="Text 91"/>
          <p:cNvSpPr/>
          <p:nvPr/>
        </p:nvSpPr>
        <p:spPr>
          <a:xfrm>
            <a:off x="7356348" y="2322576"/>
            <a:ext cx="222885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spc="100" kern="0" dirty="0">
                <a:solidFill>
                  <a:srgbClr val="888888"/>
                </a:solidFill>
              </a:rPr>
              <a:t>FALTA</a:t>
            </a:r>
            <a:endParaRPr lang="en-US" sz="700" dirty="0"/>
          </a:p>
        </p:txBody>
      </p:sp>
      <p:sp>
        <p:nvSpPr>
          <p:cNvPr id="94" name="Text 92"/>
          <p:cNvSpPr/>
          <p:nvPr/>
        </p:nvSpPr>
        <p:spPr>
          <a:xfrm>
            <a:off x="7356348" y="2450592"/>
            <a:ext cx="222885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87171"/>
                </a:solidFill>
              </a:rPr>
              <a:t>147.5h</a:t>
            </a:r>
            <a:endParaRPr lang="en-US" sz="2400" dirty="0"/>
          </a:p>
        </p:txBody>
      </p:sp>
      <p:sp>
        <p:nvSpPr>
          <p:cNvPr id="95" name="Text 93"/>
          <p:cNvSpPr/>
          <p:nvPr/>
        </p:nvSpPr>
        <p:spPr>
          <a:xfrm>
            <a:off x="7356348" y="2779776"/>
            <a:ext cx="222885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remaining (devs)</a:t>
            </a:r>
            <a:endParaRPr lang="en-US" sz="700" dirty="0"/>
          </a:p>
        </p:txBody>
      </p:sp>
      <p:sp>
        <p:nvSpPr>
          <p:cNvPr id="96" name="Shape 94"/>
          <p:cNvSpPr/>
          <p:nvPr/>
        </p:nvSpPr>
        <p:spPr>
          <a:xfrm>
            <a:off x="9676638" y="2322576"/>
            <a:ext cx="9144" cy="603504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97" name="Text 95"/>
          <p:cNvSpPr/>
          <p:nvPr/>
        </p:nvSpPr>
        <p:spPr>
          <a:xfrm>
            <a:off x="9768078" y="2322576"/>
            <a:ext cx="222885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spc="100" kern="0" dirty="0">
                <a:solidFill>
                  <a:srgbClr val="888888"/>
                </a:solidFill>
              </a:rPr>
              <a:t>AUMENTO DE ESFORCO</a:t>
            </a:r>
            <a:endParaRPr lang="en-US" sz="700" dirty="0"/>
          </a:p>
        </p:txBody>
      </p:sp>
      <p:sp>
        <p:nvSpPr>
          <p:cNvPr id="98" name="Text 96"/>
          <p:cNvSpPr/>
          <p:nvPr/>
        </p:nvSpPr>
        <p:spPr>
          <a:xfrm>
            <a:off x="9768078" y="2450592"/>
            <a:ext cx="222885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D97706"/>
                </a:solidFill>
              </a:rPr>
              <a:t>+108h</a:t>
            </a:r>
            <a:endParaRPr lang="en-US" sz="2400" dirty="0"/>
          </a:p>
        </p:txBody>
      </p:sp>
      <p:sp>
        <p:nvSpPr>
          <p:cNvPr id="99" name="Text 97"/>
          <p:cNvSpPr/>
          <p:nvPr/>
        </p:nvSpPr>
        <p:spPr>
          <a:xfrm>
            <a:off x="9768078" y="2779776"/>
            <a:ext cx="222885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projetado: 1318.5h (+9%)</a:t>
            </a:r>
            <a:endParaRPr lang="en-US" sz="700" dirty="0"/>
          </a:p>
        </p:txBody>
      </p:sp>
      <p:sp>
        <p:nvSpPr>
          <p:cNvPr id="100" name="Shape 98"/>
          <p:cNvSpPr/>
          <p:nvPr/>
        </p:nvSpPr>
        <p:spPr>
          <a:xfrm>
            <a:off x="2441448" y="2916936"/>
            <a:ext cx="8567723" cy="54864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11009171" y="2916936"/>
            <a:ext cx="1079197" cy="54864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2441448" y="3008376"/>
            <a:ext cx="4777740" cy="877824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03" name="Text 101"/>
          <p:cNvSpPr/>
          <p:nvPr/>
        </p:nvSpPr>
        <p:spPr>
          <a:xfrm>
            <a:off x="2551176" y="3081528"/>
            <a:ext cx="400964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F2937"/>
                </a:solidFill>
              </a:rPr>
              <a:t>Entrega 1 · Resiliencia Sistemica</a:t>
            </a:r>
            <a:endParaRPr lang="en-US" sz="800" dirty="0"/>
          </a:p>
        </p:txBody>
      </p:sp>
      <p:sp>
        <p:nvSpPr>
          <p:cNvPr id="104" name="Shape 102"/>
          <p:cNvSpPr/>
          <p:nvPr/>
        </p:nvSpPr>
        <p:spPr>
          <a:xfrm>
            <a:off x="6560820" y="3072384"/>
            <a:ext cx="566928" cy="182880"/>
          </a:xfrm>
          <a:prstGeom prst="rect">
            <a:avLst>
              <a:gd name="adj" fmla="val 40000"/>
            </a:avLst>
          </a:prstGeom>
          <a:solidFill>
            <a:srgbClr val="E1F5EE"/>
          </a:solidFill>
          <a:ln w="12700">
            <a:solidFill>
              <a:srgbClr val="E1F5EE"/>
            </a:solidFill>
            <a:prstDash val="solid"/>
          </a:ln>
        </p:spPr>
      </p:sp>
      <p:sp>
        <p:nvSpPr>
          <p:cNvPr id="105" name="Text 103"/>
          <p:cNvSpPr/>
          <p:nvPr/>
        </p:nvSpPr>
        <p:spPr>
          <a:xfrm>
            <a:off x="6560820" y="3072384"/>
            <a:ext cx="5669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0F6E56"/>
                </a:solidFill>
              </a:rPr>
              <a:t>91% concluido</a:t>
            </a:r>
            <a:endParaRPr lang="en-US" sz="650" dirty="0"/>
          </a:p>
        </p:txBody>
      </p:sp>
      <p:sp>
        <p:nvSpPr>
          <p:cNvPr id="106" name="Shape 104"/>
          <p:cNvSpPr/>
          <p:nvPr/>
        </p:nvSpPr>
        <p:spPr>
          <a:xfrm>
            <a:off x="2551176" y="3291840"/>
            <a:ext cx="4558284" cy="64008"/>
          </a:xfrm>
          <a:prstGeom prst="rect">
            <a:avLst/>
          </a:prstGeom>
          <a:solidFill>
            <a:srgbClr val="E1F5EE"/>
          </a:solidFill>
          <a:ln w="12700">
            <a:solidFill>
              <a:srgbClr val="E1F5EE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2551176" y="3291840"/>
            <a:ext cx="4148038" cy="64008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2551176" y="3410712"/>
            <a:ext cx="1482852" cy="201168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109" name="Text 107"/>
          <p:cNvSpPr/>
          <p:nvPr/>
        </p:nvSpPr>
        <p:spPr>
          <a:xfrm>
            <a:off x="2551176" y="3410712"/>
            <a:ext cx="14828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PROJETADO</a:t>
            </a:r>
            <a:endParaRPr lang="en-US" sz="650" dirty="0"/>
          </a:p>
        </p:txBody>
      </p:sp>
      <p:sp>
        <p:nvSpPr>
          <p:cNvPr id="110" name="Text 108"/>
          <p:cNvSpPr/>
          <p:nvPr/>
        </p:nvSpPr>
        <p:spPr>
          <a:xfrm>
            <a:off x="2551176" y="3630168"/>
            <a:ext cx="14828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D9E75"/>
                </a:solidFill>
              </a:rPr>
              <a:t>15/06/2026</a:t>
            </a:r>
            <a:endParaRPr lang="en-US" sz="1050" dirty="0"/>
          </a:p>
        </p:txBody>
      </p:sp>
      <p:sp>
        <p:nvSpPr>
          <p:cNvPr id="111" name="Shape 109"/>
          <p:cNvSpPr/>
          <p:nvPr/>
        </p:nvSpPr>
        <p:spPr>
          <a:xfrm>
            <a:off x="4070604" y="3410712"/>
            <a:ext cx="1482852" cy="201168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2" name="Text 110"/>
          <p:cNvSpPr/>
          <p:nvPr/>
        </p:nvSpPr>
        <p:spPr>
          <a:xfrm>
            <a:off x="4070604" y="3410712"/>
            <a:ext cx="14828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BASE</a:t>
            </a:r>
            <a:endParaRPr lang="en-US" sz="650" dirty="0"/>
          </a:p>
        </p:txBody>
      </p:sp>
      <p:sp>
        <p:nvSpPr>
          <p:cNvPr id="113" name="Text 111"/>
          <p:cNvSpPr/>
          <p:nvPr/>
        </p:nvSpPr>
        <p:spPr>
          <a:xfrm>
            <a:off x="4070604" y="3630168"/>
            <a:ext cx="14828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D97706"/>
                </a:solidFill>
              </a:rPr>
              <a:t>15/05/2026</a:t>
            </a:r>
            <a:endParaRPr lang="en-US" sz="1050" dirty="0"/>
          </a:p>
        </p:txBody>
      </p:sp>
      <p:sp>
        <p:nvSpPr>
          <p:cNvPr id="114" name="Shape 112"/>
          <p:cNvSpPr/>
          <p:nvPr/>
        </p:nvSpPr>
        <p:spPr>
          <a:xfrm>
            <a:off x="5590032" y="3410712"/>
            <a:ext cx="1482852" cy="201168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15" name="Text 113"/>
          <p:cNvSpPr/>
          <p:nvPr/>
        </p:nvSpPr>
        <p:spPr>
          <a:xfrm>
            <a:off x="5590032" y="3410712"/>
            <a:ext cx="14828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PESSIMISTA</a:t>
            </a:r>
            <a:endParaRPr lang="en-US" sz="650" dirty="0"/>
          </a:p>
        </p:txBody>
      </p:sp>
      <p:sp>
        <p:nvSpPr>
          <p:cNvPr id="116" name="Text 114"/>
          <p:cNvSpPr/>
          <p:nvPr/>
        </p:nvSpPr>
        <p:spPr>
          <a:xfrm>
            <a:off x="5590032" y="3630168"/>
            <a:ext cx="14828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DC2626"/>
                </a:solidFill>
              </a:rPr>
              <a:t>29/05/2026</a:t>
            </a:r>
            <a:endParaRPr lang="en-US" sz="1050" dirty="0"/>
          </a:p>
        </p:txBody>
      </p:sp>
      <p:sp>
        <p:nvSpPr>
          <p:cNvPr id="117" name="Shape 115"/>
          <p:cNvSpPr/>
          <p:nvPr/>
        </p:nvSpPr>
        <p:spPr>
          <a:xfrm>
            <a:off x="7310628" y="3008376"/>
            <a:ext cx="4777740" cy="877824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18" name="Text 116"/>
          <p:cNvSpPr/>
          <p:nvPr/>
        </p:nvSpPr>
        <p:spPr>
          <a:xfrm>
            <a:off x="7420356" y="3081528"/>
            <a:ext cx="400964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F2937"/>
                </a:solidFill>
              </a:rPr>
              <a:t>Entrega 2 · Observabilidade</a:t>
            </a:r>
            <a:endParaRPr lang="en-US" sz="800" dirty="0"/>
          </a:p>
        </p:txBody>
      </p:sp>
      <p:sp>
        <p:nvSpPr>
          <p:cNvPr id="119" name="Shape 117"/>
          <p:cNvSpPr/>
          <p:nvPr/>
        </p:nvSpPr>
        <p:spPr>
          <a:xfrm>
            <a:off x="11430000" y="3072384"/>
            <a:ext cx="566928" cy="182880"/>
          </a:xfrm>
          <a:prstGeom prst="rect">
            <a:avLst>
              <a:gd name="adj" fmla="val 40000"/>
            </a:avLst>
          </a:prstGeom>
          <a:solidFill>
            <a:srgbClr val="FEE2E2"/>
          </a:solidFill>
          <a:ln w="12700">
            <a:solidFill>
              <a:srgbClr val="FEE2E2"/>
            </a:solidFill>
            <a:prstDash val="solid"/>
          </a:ln>
        </p:spPr>
      </p:sp>
      <p:sp>
        <p:nvSpPr>
          <p:cNvPr id="120" name="Text 118"/>
          <p:cNvSpPr/>
          <p:nvPr/>
        </p:nvSpPr>
        <p:spPr>
          <a:xfrm>
            <a:off x="11430000" y="3072384"/>
            <a:ext cx="5669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991B1B"/>
                </a:solidFill>
              </a:rPr>
              <a:t>63% concluido</a:t>
            </a:r>
            <a:endParaRPr lang="en-US" sz="650" dirty="0"/>
          </a:p>
        </p:txBody>
      </p:sp>
      <p:sp>
        <p:nvSpPr>
          <p:cNvPr id="121" name="Shape 119"/>
          <p:cNvSpPr/>
          <p:nvPr/>
        </p:nvSpPr>
        <p:spPr>
          <a:xfrm>
            <a:off x="7420356" y="3291840"/>
            <a:ext cx="4558284" cy="64008"/>
          </a:xfrm>
          <a:prstGeom prst="rect">
            <a:avLst/>
          </a:prstGeom>
          <a:solidFill>
            <a:srgbClr val="E6F1FB"/>
          </a:solidFill>
          <a:ln w="12700">
            <a:solidFill>
              <a:srgbClr val="E6F1FB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>
            <a:off x="7420356" y="3291840"/>
            <a:ext cx="2871719" cy="64008"/>
          </a:xfrm>
          <a:prstGeom prst="rect">
            <a:avLst/>
          </a:prstGeom>
          <a:solidFill>
            <a:srgbClr val="1E6FA8"/>
          </a:solidFill>
          <a:ln w="12700">
            <a:solidFill>
              <a:srgbClr val="1E6FA8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7420356" y="3410712"/>
            <a:ext cx="1482852" cy="201168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124" name="Text 122"/>
          <p:cNvSpPr/>
          <p:nvPr/>
        </p:nvSpPr>
        <p:spPr>
          <a:xfrm>
            <a:off x="7420356" y="3410712"/>
            <a:ext cx="14828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PROJETADO</a:t>
            </a:r>
            <a:endParaRPr lang="en-US" sz="650" dirty="0"/>
          </a:p>
        </p:txBody>
      </p:sp>
      <p:sp>
        <p:nvSpPr>
          <p:cNvPr id="125" name="Text 123"/>
          <p:cNvSpPr/>
          <p:nvPr/>
        </p:nvSpPr>
        <p:spPr>
          <a:xfrm>
            <a:off x="7420356" y="3630168"/>
            <a:ext cx="14828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D9E75"/>
                </a:solidFill>
              </a:rPr>
              <a:t>23/06/2026</a:t>
            </a:r>
            <a:endParaRPr lang="en-US" sz="1050" dirty="0"/>
          </a:p>
        </p:txBody>
      </p:sp>
      <p:sp>
        <p:nvSpPr>
          <p:cNvPr id="126" name="Shape 124"/>
          <p:cNvSpPr/>
          <p:nvPr/>
        </p:nvSpPr>
        <p:spPr>
          <a:xfrm>
            <a:off x="8939784" y="3410712"/>
            <a:ext cx="1482852" cy="201168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27" name="Text 125"/>
          <p:cNvSpPr/>
          <p:nvPr/>
        </p:nvSpPr>
        <p:spPr>
          <a:xfrm>
            <a:off x="8939784" y="3410712"/>
            <a:ext cx="14828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BASE</a:t>
            </a:r>
            <a:endParaRPr lang="en-US" sz="650" dirty="0"/>
          </a:p>
        </p:txBody>
      </p:sp>
      <p:sp>
        <p:nvSpPr>
          <p:cNvPr id="128" name="Text 126"/>
          <p:cNvSpPr/>
          <p:nvPr/>
        </p:nvSpPr>
        <p:spPr>
          <a:xfrm>
            <a:off x="8939784" y="3630168"/>
            <a:ext cx="14828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D97706"/>
                </a:solidFill>
              </a:rPr>
              <a:t>29/05/2026</a:t>
            </a:r>
            <a:endParaRPr lang="en-US" sz="1050" dirty="0"/>
          </a:p>
        </p:txBody>
      </p:sp>
      <p:sp>
        <p:nvSpPr>
          <p:cNvPr id="129" name="Shape 127"/>
          <p:cNvSpPr/>
          <p:nvPr/>
        </p:nvSpPr>
        <p:spPr>
          <a:xfrm>
            <a:off x="10459212" y="3410712"/>
            <a:ext cx="1482852" cy="201168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30" name="Text 128"/>
          <p:cNvSpPr/>
          <p:nvPr/>
        </p:nvSpPr>
        <p:spPr>
          <a:xfrm>
            <a:off x="10459212" y="3410712"/>
            <a:ext cx="14828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PESSIMISTA</a:t>
            </a:r>
            <a:endParaRPr lang="en-US" sz="650" dirty="0"/>
          </a:p>
        </p:txBody>
      </p:sp>
      <p:sp>
        <p:nvSpPr>
          <p:cNvPr id="131" name="Text 129"/>
          <p:cNvSpPr/>
          <p:nvPr/>
        </p:nvSpPr>
        <p:spPr>
          <a:xfrm>
            <a:off x="10459212" y="3630168"/>
            <a:ext cx="14828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DC2626"/>
                </a:solidFill>
              </a:rPr>
              <a:t>12/06/2026</a:t>
            </a:r>
            <a:endParaRPr lang="en-US" sz="1050" dirty="0"/>
          </a:p>
        </p:txBody>
      </p:sp>
      <p:sp>
        <p:nvSpPr>
          <p:cNvPr id="132" name="Shape 130"/>
          <p:cNvSpPr/>
          <p:nvPr/>
        </p:nvSpPr>
        <p:spPr>
          <a:xfrm>
            <a:off x="2441448" y="3913632"/>
            <a:ext cx="964692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33" name="Text 131"/>
          <p:cNvSpPr/>
          <p:nvPr/>
        </p:nvSpPr>
        <p:spPr>
          <a:xfrm>
            <a:off x="2532888" y="3968496"/>
            <a:ext cx="9464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spc="200" kern="0" dirty="0">
                <a:solidFill>
                  <a:srgbClr val="888888"/>
                </a:solidFill>
              </a:rPr>
              <a:t>EFICIENCIA DA ENTREGA</a:t>
            </a:r>
            <a:endParaRPr lang="en-US" sz="700" dirty="0"/>
          </a:p>
        </p:txBody>
      </p:sp>
      <p:sp>
        <p:nvSpPr>
          <p:cNvPr id="134" name="Text 132"/>
          <p:cNvSpPr/>
          <p:nvPr/>
        </p:nvSpPr>
        <p:spPr>
          <a:xfrm>
            <a:off x="2532888" y="4059936"/>
            <a:ext cx="222885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D85A30"/>
                </a:solidFill>
              </a:rPr>
              <a:t>18.0%</a:t>
            </a:r>
            <a:endParaRPr lang="en-US" sz="2200" dirty="0"/>
          </a:p>
        </p:txBody>
      </p:sp>
      <p:sp>
        <p:nvSpPr>
          <p:cNvPr id="135" name="Text 133"/>
          <p:cNvSpPr/>
          <p:nvPr/>
        </p:nvSpPr>
        <p:spPr>
          <a:xfrm>
            <a:off x="2532888" y="4389120"/>
            <a:ext cx="222885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22222"/>
                </a:solidFill>
              </a:rPr>
              <a:t>Itens Estourados</a:t>
            </a:r>
            <a:endParaRPr lang="en-US" sz="800" dirty="0"/>
          </a:p>
        </p:txBody>
      </p:sp>
      <p:sp>
        <p:nvSpPr>
          <p:cNvPr id="136" name="Text 134"/>
          <p:cNvSpPr/>
          <p:nvPr/>
        </p:nvSpPr>
        <p:spPr>
          <a:xfrm>
            <a:off x="2532888" y="4553712"/>
            <a:ext cx="222885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das subs com estimativa</a:t>
            </a:r>
            <a:endParaRPr lang="en-US" sz="700" dirty="0"/>
          </a:p>
        </p:txBody>
      </p:sp>
      <p:sp>
        <p:nvSpPr>
          <p:cNvPr id="137" name="Shape 135"/>
          <p:cNvSpPr/>
          <p:nvPr/>
        </p:nvSpPr>
        <p:spPr>
          <a:xfrm>
            <a:off x="4853178" y="4059936"/>
            <a:ext cx="9144" cy="6217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138" name="Text 136"/>
          <p:cNvSpPr/>
          <p:nvPr/>
        </p:nvSpPr>
        <p:spPr>
          <a:xfrm>
            <a:off x="4944618" y="4059936"/>
            <a:ext cx="222885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534AB7"/>
                </a:solidFill>
              </a:rPr>
              <a:t>11.7%</a:t>
            </a:r>
            <a:endParaRPr lang="en-US" sz="2200" dirty="0"/>
          </a:p>
        </p:txBody>
      </p:sp>
      <p:sp>
        <p:nvSpPr>
          <p:cNvPr id="139" name="Text 137"/>
          <p:cNvSpPr/>
          <p:nvPr/>
        </p:nvSpPr>
        <p:spPr>
          <a:xfrm>
            <a:off x="4944618" y="4389120"/>
            <a:ext cx="222885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22222"/>
                </a:solidFill>
              </a:rPr>
              <a:t>Retrabalho Registrado</a:t>
            </a:r>
            <a:endParaRPr lang="en-US" sz="800" dirty="0"/>
          </a:p>
        </p:txBody>
      </p:sp>
      <p:sp>
        <p:nvSpPr>
          <p:cNvPr id="140" name="Text 138"/>
          <p:cNvSpPr/>
          <p:nvPr/>
        </p:nvSpPr>
        <p:spPr>
          <a:xfrm>
            <a:off x="4944618" y="4553712"/>
            <a:ext cx="222885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24 Sub Bug (ADO) . 106.8h</a:t>
            </a:r>
            <a:endParaRPr lang="en-US" sz="700" dirty="0"/>
          </a:p>
        </p:txBody>
      </p:sp>
      <p:sp>
        <p:nvSpPr>
          <p:cNvPr id="141" name="Shape 139"/>
          <p:cNvSpPr/>
          <p:nvPr/>
        </p:nvSpPr>
        <p:spPr>
          <a:xfrm>
            <a:off x="7264908" y="4059936"/>
            <a:ext cx="9144" cy="6217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142" name="Text 140"/>
          <p:cNvSpPr/>
          <p:nvPr/>
        </p:nvSpPr>
        <p:spPr>
          <a:xfrm>
            <a:off x="7356348" y="4059936"/>
            <a:ext cx="222885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DC2626"/>
                </a:solidFill>
              </a:rPr>
              <a:t>146</a:t>
            </a:r>
            <a:endParaRPr lang="en-US" sz="2200" dirty="0"/>
          </a:p>
        </p:txBody>
      </p:sp>
      <p:sp>
        <p:nvSpPr>
          <p:cNvPr id="143" name="Text 141"/>
          <p:cNvSpPr/>
          <p:nvPr/>
        </p:nvSpPr>
        <p:spPr>
          <a:xfrm>
            <a:off x="7356348" y="4389120"/>
            <a:ext cx="222885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22222"/>
                </a:solidFill>
              </a:rPr>
              <a:t>Retrabalho Oculto</a:t>
            </a:r>
            <a:endParaRPr lang="en-US" sz="800" dirty="0"/>
          </a:p>
        </p:txBody>
      </p:sp>
      <p:sp>
        <p:nvSpPr>
          <p:cNvPr id="144" name="Text 142"/>
          <p:cNvSpPr/>
          <p:nvPr/>
        </p:nvSpPr>
        <p:spPr>
          <a:xfrm>
            <a:off x="7356348" y="4553712"/>
            <a:ext cx="222885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correcoes sem registro no ADO . 20% dos fixes rastreados</a:t>
            </a:r>
            <a:endParaRPr lang="en-US" sz="700" dirty="0"/>
          </a:p>
        </p:txBody>
      </p:sp>
      <p:sp>
        <p:nvSpPr>
          <p:cNvPr id="145" name="Shape 143"/>
          <p:cNvSpPr/>
          <p:nvPr/>
        </p:nvSpPr>
        <p:spPr>
          <a:xfrm>
            <a:off x="9676638" y="4059936"/>
            <a:ext cx="9144" cy="6217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146" name="Text 144"/>
          <p:cNvSpPr/>
          <p:nvPr/>
        </p:nvSpPr>
        <p:spPr>
          <a:xfrm>
            <a:off x="9768078" y="4059936"/>
            <a:ext cx="222885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D9E75"/>
                </a:solidFill>
              </a:rPr>
              <a:t>82.0%</a:t>
            </a:r>
            <a:endParaRPr lang="en-US" sz="2200" dirty="0"/>
          </a:p>
        </p:txBody>
      </p:sp>
      <p:sp>
        <p:nvSpPr>
          <p:cNvPr id="147" name="Text 145"/>
          <p:cNvSpPr/>
          <p:nvPr/>
        </p:nvSpPr>
        <p:spPr>
          <a:xfrm>
            <a:off x="9768078" y="4389120"/>
            <a:ext cx="222885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22222"/>
                </a:solidFill>
              </a:rPr>
              <a:t>Dentro da Estimativa</a:t>
            </a:r>
            <a:endParaRPr lang="en-US" sz="800" dirty="0"/>
          </a:p>
        </p:txBody>
      </p:sp>
      <p:sp>
        <p:nvSpPr>
          <p:cNvPr id="148" name="Text 146"/>
          <p:cNvSpPr/>
          <p:nvPr/>
        </p:nvSpPr>
        <p:spPr>
          <a:xfrm>
            <a:off x="9768078" y="4553712"/>
            <a:ext cx="222885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entregues dentro do planejado</a:t>
            </a:r>
            <a:endParaRPr lang="en-US" sz="700" dirty="0"/>
          </a:p>
        </p:txBody>
      </p:sp>
      <p:sp>
        <p:nvSpPr>
          <p:cNvPr id="149" name="Text 147"/>
          <p:cNvSpPr/>
          <p:nvPr/>
        </p:nvSpPr>
        <p:spPr>
          <a:xfrm>
            <a:off x="2441448" y="4754880"/>
            <a:ext cx="964692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spc="300" kern="0" dirty="0">
                <a:solidFill>
                  <a:srgbClr val="888888"/>
                </a:solidFill>
              </a:rPr>
              <a:t>R I S C O S</a:t>
            </a:r>
            <a:endParaRPr lang="en-US" sz="650" dirty="0"/>
          </a:p>
        </p:txBody>
      </p:sp>
      <p:sp>
        <p:nvSpPr>
          <p:cNvPr id="150" name="Shape 148"/>
          <p:cNvSpPr/>
          <p:nvPr/>
        </p:nvSpPr>
        <p:spPr>
          <a:xfrm>
            <a:off x="2441448" y="4873752"/>
            <a:ext cx="2350008" cy="877824"/>
          </a:xfrm>
          <a:prstGeom prst="rect">
            <a:avLst/>
          </a:prstGeom>
          <a:solidFill>
            <a:srgbClr val="FFF1F2"/>
          </a:solidFill>
          <a:ln w="12700">
            <a:solidFill>
              <a:srgbClr val="DC2626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51" name="Text 149"/>
          <p:cNvSpPr/>
          <p:nvPr/>
        </p:nvSpPr>
        <p:spPr>
          <a:xfrm>
            <a:off x="2514600" y="4937760"/>
            <a:ext cx="17556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DC2626"/>
                </a:solidFill>
              </a:rPr>
              <a:t>RISCO ATIVO</a:t>
            </a:r>
            <a:endParaRPr lang="en-US" sz="700" dirty="0"/>
          </a:p>
        </p:txBody>
      </p:sp>
      <p:sp>
        <p:nvSpPr>
          <p:cNvPr id="152" name="Shape 150"/>
          <p:cNvSpPr/>
          <p:nvPr/>
        </p:nvSpPr>
        <p:spPr>
          <a:xfrm>
            <a:off x="4261104" y="4928616"/>
            <a:ext cx="475488" cy="292608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53" name="Text 151"/>
          <p:cNvSpPr/>
          <p:nvPr/>
        </p:nvSpPr>
        <p:spPr>
          <a:xfrm>
            <a:off x="4261104" y="4928616"/>
            <a:ext cx="4754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2</a:t>
            </a:r>
            <a:endParaRPr lang="en-US" sz="650" dirty="0"/>
          </a:p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estouros</a:t>
            </a:r>
            <a:endParaRPr lang="en-US" sz="650" dirty="0"/>
          </a:p>
        </p:txBody>
      </p:sp>
      <p:sp>
        <p:nvSpPr>
          <p:cNvPr id="154" name="Text 152"/>
          <p:cNvSpPr/>
          <p:nvPr/>
        </p:nvSpPr>
        <p:spPr>
          <a:xfrm>
            <a:off x="2514600" y="5184648"/>
            <a:ext cx="22037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#404993 +5h(+125%) [artursilva frwk.com.br]</a:t>
            </a:r>
            <a:endParaRPr lang="en-US" sz="750" dirty="0"/>
          </a:p>
        </p:txBody>
      </p:sp>
      <p:sp>
        <p:nvSpPr>
          <p:cNvPr id="155" name="Text 153"/>
          <p:cNvSpPr/>
          <p:nvPr/>
        </p:nvSpPr>
        <p:spPr>
          <a:xfrm>
            <a:off x="2514600" y="5367528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#407538 +2h(+67%) [CARLOS HENRIQUE ALMEIDA OLIVEIRA]</a:t>
            </a:r>
            <a:endParaRPr lang="en-US" sz="750" dirty="0"/>
          </a:p>
        </p:txBody>
      </p:sp>
      <p:sp>
        <p:nvSpPr>
          <p:cNvPr id="156" name="Shape 154"/>
          <p:cNvSpPr/>
          <p:nvPr/>
        </p:nvSpPr>
        <p:spPr>
          <a:xfrm>
            <a:off x="4873752" y="4873752"/>
            <a:ext cx="2350008" cy="877824"/>
          </a:xfrm>
          <a:prstGeom prst="rect">
            <a:avLst/>
          </a:prstGeom>
          <a:solidFill>
            <a:srgbClr val="F5F3FF"/>
          </a:solidFill>
          <a:ln w="12700">
            <a:solidFill>
              <a:srgbClr val="6B3FA0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57" name="Text 155"/>
          <p:cNvSpPr/>
          <p:nvPr/>
        </p:nvSpPr>
        <p:spPr>
          <a:xfrm>
            <a:off x="4946904" y="4937760"/>
            <a:ext cx="17556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6B3FA0"/>
                </a:solidFill>
              </a:rPr>
              <a:t>ATENCAO · Janela de Entrega</a:t>
            </a:r>
            <a:endParaRPr lang="en-US" sz="700" dirty="0"/>
          </a:p>
        </p:txBody>
      </p:sp>
      <p:sp>
        <p:nvSpPr>
          <p:cNvPr id="158" name="Shape 156"/>
          <p:cNvSpPr/>
          <p:nvPr/>
        </p:nvSpPr>
        <p:spPr>
          <a:xfrm>
            <a:off x="6693408" y="4928616"/>
            <a:ext cx="475488" cy="292608"/>
          </a:xfrm>
          <a:prstGeom prst="rect">
            <a:avLst/>
          </a:prstGeom>
          <a:solidFill>
            <a:srgbClr val="6B3FA0"/>
          </a:solidFill>
          <a:ln w="12700">
            <a:solidFill>
              <a:srgbClr val="6B3FA0"/>
            </a:solidFill>
            <a:prstDash val="solid"/>
          </a:ln>
        </p:spPr>
      </p:sp>
      <p:sp>
        <p:nvSpPr>
          <p:cNvPr id="159" name="Text 157"/>
          <p:cNvSpPr/>
          <p:nvPr/>
        </p:nvSpPr>
        <p:spPr>
          <a:xfrm>
            <a:off x="6693408" y="4928616"/>
            <a:ext cx="4754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~8 dias</a:t>
            </a:r>
            <a:endParaRPr lang="en-US" sz="650" dirty="0"/>
          </a:p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uteis</a:t>
            </a:r>
            <a:endParaRPr lang="en-US" sz="650" dirty="0"/>
          </a:p>
        </p:txBody>
      </p:sp>
      <p:sp>
        <p:nvSpPr>
          <p:cNvPr id="160" name="Text 158"/>
          <p:cNvSpPr/>
          <p:nvPr/>
        </p:nvSpPr>
        <p:spPr>
          <a:xfrm>
            <a:off x="4946904" y="5184648"/>
            <a:ext cx="22037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Observabilidade: Projetado 23/06/2026 · Base 29/05/2026</a:t>
            </a:r>
            <a:endParaRPr lang="en-US" sz="750" dirty="0"/>
          </a:p>
        </p:txBody>
      </p:sp>
      <p:sp>
        <p:nvSpPr>
          <p:cNvPr id="161" name="Text 159"/>
          <p:cNvSpPr/>
          <p:nvPr/>
        </p:nvSpPr>
        <p:spPr>
          <a:xfrm>
            <a:off x="4946904" y="5367528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750" dirty="0"/>
          </a:p>
        </p:txBody>
      </p:sp>
      <p:sp>
        <p:nvSpPr>
          <p:cNvPr id="162" name="Shape 160"/>
          <p:cNvSpPr/>
          <p:nvPr/>
        </p:nvSpPr>
        <p:spPr>
          <a:xfrm>
            <a:off x="7306056" y="4873752"/>
            <a:ext cx="2350008" cy="877824"/>
          </a:xfrm>
          <a:prstGeom prst="rect">
            <a:avLst/>
          </a:prstGeom>
          <a:solidFill>
            <a:srgbClr val="FFF1F2"/>
          </a:solidFill>
          <a:ln w="12700">
            <a:solidFill>
              <a:srgbClr val="DC2626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63" name="Text 161"/>
          <p:cNvSpPr/>
          <p:nvPr/>
        </p:nvSpPr>
        <p:spPr>
          <a:xfrm>
            <a:off x="7379208" y="4937760"/>
            <a:ext cx="17556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DC2626"/>
                </a:solidFill>
              </a:rPr>
              <a:t>BUG / SUSTENTACAO</a:t>
            </a:r>
            <a:endParaRPr lang="en-US" sz="700" dirty="0"/>
          </a:p>
        </p:txBody>
      </p:sp>
      <p:sp>
        <p:nvSpPr>
          <p:cNvPr id="164" name="Shape 162"/>
          <p:cNvSpPr/>
          <p:nvPr/>
        </p:nvSpPr>
        <p:spPr>
          <a:xfrm>
            <a:off x="9125712" y="4928616"/>
            <a:ext cx="475488" cy="292608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65" name="Text 163"/>
          <p:cNvSpPr/>
          <p:nvPr/>
        </p:nvSpPr>
        <p:spPr>
          <a:xfrm>
            <a:off x="9125712" y="4928616"/>
            <a:ext cx="4754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151.4h</a:t>
            </a:r>
            <a:endParaRPr lang="en-US" sz="650" dirty="0"/>
          </a:p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realizadas</a:t>
            </a:r>
            <a:endParaRPr lang="en-US" sz="650" dirty="0"/>
          </a:p>
        </p:txBody>
      </p:sp>
      <p:sp>
        <p:nvSpPr>
          <p:cNvPr id="166" name="Text 164"/>
          <p:cNvSpPr/>
          <p:nvPr/>
        </p:nvSpPr>
        <p:spPr>
          <a:xfrm>
            <a:off x="7379208" y="5184648"/>
            <a:ext cx="22037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7 Bugs · 7 SRs no periodo</a:t>
            </a:r>
            <a:endParaRPr lang="en-US" sz="750" dirty="0"/>
          </a:p>
        </p:txBody>
      </p:sp>
      <p:sp>
        <p:nvSpPr>
          <p:cNvPr id="167" name="Text 165"/>
          <p:cNvSpPr/>
          <p:nvPr/>
        </p:nvSpPr>
        <p:spPr>
          <a:xfrm>
            <a:off x="7379208" y="5367528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Horas nao planejadas: 151.4h</a:t>
            </a:r>
            <a:endParaRPr lang="en-US" sz="750" dirty="0"/>
          </a:p>
        </p:txBody>
      </p:sp>
      <p:sp>
        <p:nvSpPr>
          <p:cNvPr id="168" name="Shape 166"/>
          <p:cNvSpPr/>
          <p:nvPr/>
        </p:nvSpPr>
        <p:spPr>
          <a:xfrm>
            <a:off x="9738360" y="4873752"/>
            <a:ext cx="2350008" cy="877824"/>
          </a:xfrm>
          <a:prstGeom prst="rect">
            <a:avLst/>
          </a:prstGeom>
          <a:solidFill>
            <a:srgbClr val="FFFBEB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69" name="Text 167"/>
          <p:cNvSpPr/>
          <p:nvPr/>
        </p:nvSpPr>
        <p:spPr>
          <a:xfrm>
            <a:off x="9811512" y="4937760"/>
            <a:ext cx="17556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D97706"/>
                </a:solidFill>
              </a:rPr>
              <a:t>EXPANSAO DE ESCOPO</a:t>
            </a:r>
            <a:endParaRPr lang="en-US" sz="700" dirty="0"/>
          </a:p>
        </p:txBody>
      </p:sp>
      <p:sp>
        <p:nvSpPr>
          <p:cNvPr id="170" name="Shape 168"/>
          <p:cNvSpPr/>
          <p:nvPr/>
        </p:nvSpPr>
        <p:spPr>
          <a:xfrm>
            <a:off x="11558016" y="4928616"/>
            <a:ext cx="475488" cy="292608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71" name="Text 169"/>
          <p:cNvSpPr/>
          <p:nvPr/>
        </p:nvSpPr>
        <p:spPr>
          <a:xfrm>
            <a:off x="11558016" y="4928616"/>
            <a:ext cx="4754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108</a:t>
            </a:r>
            <a:endParaRPr lang="en-US" sz="650" dirty="0"/>
          </a:p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itens</a:t>
            </a:r>
            <a:endParaRPr lang="en-US" sz="650" dirty="0"/>
          </a:p>
        </p:txBody>
      </p:sp>
      <p:sp>
        <p:nvSpPr>
          <p:cNvPr id="172" name="Text 170"/>
          <p:cNvSpPr/>
          <p:nvPr/>
        </p:nvSpPr>
        <p:spPr>
          <a:xfrm>
            <a:off x="9811512" y="5184648"/>
            <a:ext cx="22037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108 itens criados pos 01/05</a:t>
            </a:r>
            <a:endParaRPr lang="en-US" sz="750" dirty="0"/>
          </a:p>
        </p:txBody>
      </p:sp>
      <p:sp>
        <p:nvSpPr>
          <p:cNvPr id="173" name="Text 171"/>
          <p:cNvSpPr/>
          <p:nvPr/>
        </p:nvSpPr>
        <p:spPr>
          <a:xfrm>
            <a:off x="9811512" y="5367528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Princ +55h · Redund +141h · Obs +9h</a:t>
            </a:r>
            <a:endParaRPr lang="en-US" sz="750" dirty="0"/>
          </a:p>
        </p:txBody>
      </p:sp>
      <p:sp>
        <p:nvSpPr>
          <p:cNvPr id="174" name="Shape 172"/>
          <p:cNvSpPr/>
          <p:nvPr/>
        </p:nvSpPr>
        <p:spPr>
          <a:xfrm>
            <a:off x="2441448" y="5797296"/>
            <a:ext cx="7214616" cy="73152"/>
          </a:xfrm>
          <a:prstGeom prst="rect">
            <a:avLst/>
          </a:prstGeom>
          <a:solidFill>
            <a:srgbClr val="374151"/>
          </a:solidFill>
          <a:ln w="12700">
            <a:solidFill>
              <a:srgbClr val="374151"/>
            </a:solidFill>
            <a:prstDash val="solid"/>
          </a:ln>
        </p:spPr>
      </p:sp>
      <p:sp>
        <p:nvSpPr>
          <p:cNvPr id="175" name="Text 173"/>
          <p:cNvSpPr/>
          <p:nvPr/>
        </p:nvSpPr>
        <p:spPr>
          <a:xfrm>
            <a:off x="2441448" y="5797296"/>
            <a:ext cx="7214616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</a:rPr>
              <a:t>D E V S</a:t>
            </a:r>
            <a:endParaRPr lang="en-US" sz="700" dirty="0"/>
          </a:p>
        </p:txBody>
      </p:sp>
      <p:sp>
        <p:nvSpPr>
          <p:cNvPr id="176" name="Shape 174"/>
          <p:cNvSpPr/>
          <p:nvPr/>
        </p:nvSpPr>
        <p:spPr>
          <a:xfrm>
            <a:off x="9738360" y="5797296"/>
            <a:ext cx="1133856" cy="73152"/>
          </a:xfrm>
          <a:prstGeom prst="rect">
            <a:avLst/>
          </a:prstGeom>
          <a:solidFill>
            <a:srgbClr val="1E6FA8"/>
          </a:solidFill>
          <a:ln w="12700">
            <a:solidFill>
              <a:srgbClr val="1E6FA8"/>
            </a:solidFill>
            <a:prstDash val="solid"/>
          </a:ln>
        </p:spPr>
      </p:sp>
      <p:sp>
        <p:nvSpPr>
          <p:cNvPr id="177" name="Text 175"/>
          <p:cNvSpPr/>
          <p:nvPr/>
        </p:nvSpPr>
        <p:spPr>
          <a:xfrm>
            <a:off x="9738360" y="5797296"/>
            <a:ext cx="1133856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</a:rPr>
              <a:t>Q A</a:t>
            </a:r>
            <a:endParaRPr lang="en-US" sz="700" dirty="0"/>
          </a:p>
        </p:txBody>
      </p:sp>
      <p:sp>
        <p:nvSpPr>
          <p:cNvPr id="178" name="Shape 176"/>
          <p:cNvSpPr/>
          <p:nvPr/>
        </p:nvSpPr>
        <p:spPr>
          <a:xfrm>
            <a:off x="10954512" y="5797296"/>
            <a:ext cx="1133856" cy="73152"/>
          </a:xfrm>
          <a:prstGeom prst="rect">
            <a:avLst/>
          </a:prstGeom>
          <a:solidFill>
            <a:srgbClr val="6B3FA0"/>
          </a:solidFill>
          <a:ln w="12700">
            <a:solidFill>
              <a:srgbClr val="6B3FA0"/>
            </a:solidFill>
            <a:prstDash val="solid"/>
          </a:ln>
        </p:spPr>
      </p:sp>
      <p:sp>
        <p:nvSpPr>
          <p:cNvPr id="179" name="Text 177"/>
          <p:cNvSpPr/>
          <p:nvPr/>
        </p:nvSpPr>
        <p:spPr>
          <a:xfrm>
            <a:off x="10954512" y="5797296"/>
            <a:ext cx="1133856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</a:rPr>
              <a:t>LIDERANCA TECNICA</a:t>
            </a:r>
            <a:endParaRPr lang="en-US" sz="700" dirty="0"/>
          </a:p>
        </p:txBody>
      </p:sp>
      <p:sp>
        <p:nvSpPr>
          <p:cNvPr id="180" name="Shape 178"/>
          <p:cNvSpPr/>
          <p:nvPr/>
        </p:nvSpPr>
        <p:spPr>
          <a:xfrm>
            <a:off x="2441448" y="5879592"/>
            <a:ext cx="1133856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81" name="Text 179"/>
          <p:cNvSpPr/>
          <p:nvPr/>
        </p:nvSpPr>
        <p:spPr>
          <a:xfrm>
            <a:off x="2496312" y="5952744"/>
            <a:ext cx="10241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Gabriel Pigatto</a:t>
            </a:r>
            <a:endParaRPr lang="en-US" sz="850" dirty="0"/>
          </a:p>
        </p:txBody>
      </p:sp>
      <p:sp>
        <p:nvSpPr>
          <p:cNvPr id="182" name="Shape 180"/>
          <p:cNvSpPr/>
          <p:nvPr/>
        </p:nvSpPr>
        <p:spPr>
          <a:xfrm>
            <a:off x="2496312" y="6153912"/>
            <a:ext cx="1024128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183" name="Shape 181"/>
          <p:cNvSpPr/>
          <p:nvPr/>
        </p:nvSpPr>
        <p:spPr>
          <a:xfrm>
            <a:off x="2496312" y="6153912"/>
            <a:ext cx="923648" cy="73152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184" name="Text 182"/>
          <p:cNvSpPr/>
          <p:nvPr/>
        </p:nvSpPr>
        <p:spPr>
          <a:xfrm>
            <a:off x="2496312" y="6245352"/>
            <a:ext cx="1024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D9E75"/>
                </a:solidFill>
              </a:rPr>
              <a:t>191.2h · 40 subs finalizadas</a:t>
            </a:r>
            <a:endParaRPr lang="en-US" sz="950" dirty="0"/>
          </a:p>
        </p:txBody>
      </p:sp>
      <p:sp>
        <p:nvSpPr>
          <p:cNvPr id="185" name="Text 183"/>
          <p:cNvSpPr/>
          <p:nvPr/>
        </p:nvSpPr>
        <p:spPr>
          <a:xfrm>
            <a:off x="2496312" y="6464808"/>
            <a:ext cx="10241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212h estimadas</a:t>
            </a:r>
            <a:endParaRPr lang="en-US" sz="850" dirty="0"/>
          </a:p>
        </p:txBody>
      </p:sp>
      <p:sp>
        <p:nvSpPr>
          <p:cNvPr id="186" name="Shape 184"/>
          <p:cNvSpPr/>
          <p:nvPr/>
        </p:nvSpPr>
        <p:spPr>
          <a:xfrm>
            <a:off x="3657600" y="5879592"/>
            <a:ext cx="1133856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FCA5A5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87" name="Text 185"/>
          <p:cNvSpPr/>
          <p:nvPr/>
        </p:nvSpPr>
        <p:spPr>
          <a:xfrm>
            <a:off x="3712464" y="5952744"/>
            <a:ext cx="10241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Artur Silva</a:t>
            </a:r>
            <a:endParaRPr lang="en-US" sz="850" dirty="0"/>
          </a:p>
        </p:txBody>
      </p:sp>
      <p:sp>
        <p:nvSpPr>
          <p:cNvPr id="188" name="Shape 186"/>
          <p:cNvSpPr/>
          <p:nvPr/>
        </p:nvSpPr>
        <p:spPr>
          <a:xfrm>
            <a:off x="3712464" y="6153912"/>
            <a:ext cx="1024128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189" name="Shape 187"/>
          <p:cNvSpPr/>
          <p:nvPr/>
        </p:nvSpPr>
        <p:spPr>
          <a:xfrm>
            <a:off x="3712464" y="6153912"/>
            <a:ext cx="1024128" cy="73152"/>
          </a:xfrm>
          <a:prstGeom prst="rect">
            <a:avLst/>
          </a:prstGeom>
          <a:solidFill>
            <a:srgbClr val="D85A30"/>
          </a:solidFill>
          <a:ln w="12700">
            <a:solidFill>
              <a:srgbClr val="D85A30"/>
            </a:solidFill>
            <a:prstDash val="solid"/>
          </a:ln>
        </p:spPr>
      </p:sp>
      <p:sp>
        <p:nvSpPr>
          <p:cNvPr id="190" name="Text 188"/>
          <p:cNvSpPr/>
          <p:nvPr/>
        </p:nvSpPr>
        <p:spPr>
          <a:xfrm>
            <a:off x="3712464" y="6245352"/>
            <a:ext cx="1024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D85A30"/>
                </a:solidFill>
              </a:rPr>
              <a:t>290.5h · 46 subs finalizadas</a:t>
            </a:r>
            <a:endParaRPr lang="en-US" sz="950" dirty="0"/>
          </a:p>
        </p:txBody>
      </p:sp>
      <p:sp>
        <p:nvSpPr>
          <p:cNvPr id="191" name="Text 189"/>
          <p:cNvSpPr/>
          <p:nvPr/>
        </p:nvSpPr>
        <p:spPr>
          <a:xfrm>
            <a:off x="3712464" y="6464808"/>
            <a:ext cx="10241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151.5h estimadas</a:t>
            </a:r>
            <a:endParaRPr lang="en-US" sz="850" dirty="0"/>
          </a:p>
        </p:txBody>
      </p:sp>
      <p:sp>
        <p:nvSpPr>
          <p:cNvPr id="192" name="Shape 190"/>
          <p:cNvSpPr/>
          <p:nvPr/>
        </p:nvSpPr>
        <p:spPr>
          <a:xfrm>
            <a:off x="3712464" y="6647688"/>
            <a:ext cx="1024128" cy="201168"/>
          </a:xfrm>
          <a:prstGeom prst="rect">
            <a:avLst/>
          </a:prstGeom>
          <a:solidFill>
            <a:srgbClr val="FEE2E2"/>
          </a:solidFill>
          <a:ln w="12700">
            <a:solidFill>
              <a:srgbClr val="FCA5A5"/>
            </a:solidFill>
            <a:prstDash val="solid"/>
          </a:ln>
        </p:spPr>
      </p:sp>
      <p:sp>
        <p:nvSpPr>
          <p:cNvPr id="193" name="Text 191"/>
          <p:cNvSpPr/>
          <p:nvPr/>
        </p:nvSpPr>
        <p:spPr>
          <a:xfrm>
            <a:off x="3712464" y="6647688"/>
            <a:ext cx="10241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DC2626"/>
                </a:solidFill>
              </a:rPr>
              <a:t>⚠ 10 fix(s) sem card</a:t>
            </a:r>
            <a:endParaRPr lang="en-US" sz="750" dirty="0"/>
          </a:p>
        </p:txBody>
      </p:sp>
      <p:sp>
        <p:nvSpPr>
          <p:cNvPr id="194" name="Shape 192"/>
          <p:cNvSpPr/>
          <p:nvPr/>
        </p:nvSpPr>
        <p:spPr>
          <a:xfrm>
            <a:off x="4873752" y="5879592"/>
            <a:ext cx="1133856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FCA5A5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95" name="Text 193"/>
          <p:cNvSpPr/>
          <p:nvPr/>
        </p:nvSpPr>
        <p:spPr>
          <a:xfrm>
            <a:off x="4928616" y="5952744"/>
            <a:ext cx="10241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Carlos H. Almeida</a:t>
            </a:r>
            <a:endParaRPr lang="en-US" sz="850" dirty="0"/>
          </a:p>
        </p:txBody>
      </p:sp>
      <p:sp>
        <p:nvSpPr>
          <p:cNvPr id="196" name="Shape 194"/>
          <p:cNvSpPr/>
          <p:nvPr/>
        </p:nvSpPr>
        <p:spPr>
          <a:xfrm>
            <a:off x="4928616" y="6153912"/>
            <a:ext cx="1024128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197" name="Shape 195"/>
          <p:cNvSpPr/>
          <p:nvPr/>
        </p:nvSpPr>
        <p:spPr>
          <a:xfrm>
            <a:off x="4928616" y="6153912"/>
            <a:ext cx="1024128" cy="7315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98" name="Text 196"/>
          <p:cNvSpPr/>
          <p:nvPr/>
        </p:nvSpPr>
        <p:spPr>
          <a:xfrm>
            <a:off x="4928616" y="6245352"/>
            <a:ext cx="1024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D97706"/>
                </a:solidFill>
              </a:rPr>
              <a:t>254.7h · 32 subs finalizadas</a:t>
            </a:r>
            <a:endParaRPr lang="en-US" sz="950" dirty="0"/>
          </a:p>
        </p:txBody>
      </p:sp>
      <p:sp>
        <p:nvSpPr>
          <p:cNvPr id="199" name="Text 197"/>
          <p:cNvSpPr/>
          <p:nvPr/>
        </p:nvSpPr>
        <p:spPr>
          <a:xfrm>
            <a:off x="4928616" y="6464808"/>
            <a:ext cx="10241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217h estimadas</a:t>
            </a:r>
            <a:endParaRPr lang="en-US" sz="850" dirty="0"/>
          </a:p>
        </p:txBody>
      </p:sp>
      <p:sp>
        <p:nvSpPr>
          <p:cNvPr id="200" name="Shape 198"/>
          <p:cNvSpPr/>
          <p:nvPr/>
        </p:nvSpPr>
        <p:spPr>
          <a:xfrm>
            <a:off x="4928616" y="6647688"/>
            <a:ext cx="1024128" cy="201168"/>
          </a:xfrm>
          <a:prstGeom prst="rect">
            <a:avLst/>
          </a:prstGeom>
          <a:solidFill>
            <a:srgbClr val="FEE2E2"/>
          </a:solidFill>
          <a:ln w="12700">
            <a:solidFill>
              <a:srgbClr val="FCA5A5"/>
            </a:solidFill>
            <a:prstDash val="solid"/>
          </a:ln>
        </p:spPr>
      </p:sp>
      <p:sp>
        <p:nvSpPr>
          <p:cNvPr id="201" name="Text 199"/>
          <p:cNvSpPr/>
          <p:nvPr/>
        </p:nvSpPr>
        <p:spPr>
          <a:xfrm>
            <a:off x="4928616" y="6647688"/>
            <a:ext cx="10241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DC2626"/>
                </a:solidFill>
              </a:rPr>
              <a:t>⚠ 15 fix(s) sem card</a:t>
            </a:r>
            <a:endParaRPr lang="en-US" sz="750" dirty="0"/>
          </a:p>
        </p:txBody>
      </p:sp>
      <p:sp>
        <p:nvSpPr>
          <p:cNvPr id="202" name="Shape 200"/>
          <p:cNvSpPr/>
          <p:nvPr/>
        </p:nvSpPr>
        <p:spPr>
          <a:xfrm>
            <a:off x="6089904" y="5879592"/>
            <a:ext cx="1133856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203" name="Text 201"/>
          <p:cNvSpPr/>
          <p:nvPr/>
        </p:nvSpPr>
        <p:spPr>
          <a:xfrm>
            <a:off x="6144768" y="5952744"/>
            <a:ext cx="10241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Maria E. Muniz</a:t>
            </a:r>
            <a:endParaRPr lang="en-US" sz="850" dirty="0"/>
          </a:p>
        </p:txBody>
      </p:sp>
      <p:sp>
        <p:nvSpPr>
          <p:cNvPr id="204" name="Shape 202"/>
          <p:cNvSpPr/>
          <p:nvPr/>
        </p:nvSpPr>
        <p:spPr>
          <a:xfrm>
            <a:off x="6144768" y="6153912"/>
            <a:ext cx="1024128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205" name="Shape 203"/>
          <p:cNvSpPr/>
          <p:nvPr/>
        </p:nvSpPr>
        <p:spPr>
          <a:xfrm>
            <a:off x="6144768" y="6153912"/>
            <a:ext cx="1024128" cy="73152"/>
          </a:xfrm>
          <a:prstGeom prst="rect">
            <a:avLst/>
          </a:prstGeom>
          <a:solidFill>
            <a:srgbClr val="D85A30"/>
          </a:solidFill>
          <a:ln w="12700">
            <a:solidFill>
              <a:srgbClr val="D85A30"/>
            </a:solidFill>
            <a:prstDash val="solid"/>
          </a:ln>
        </p:spPr>
      </p:sp>
      <p:sp>
        <p:nvSpPr>
          <p:cNvPr id="206" name="Text 204"/>
          <p:cNvSpPr/>
          <p:nvPr/>
        </p:nvSpPr>
        <p:spPr>
          <a:xfrm>
            <a:off x="6144768" y="6245352"/>
            <a:ext cx="1024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D85A30"/>
                </a:solidFill>
              </a:rPr>
              <a:t>83.5h · 19 subs finalizadas</a:t>
            </a:r>
            <a:endParaRPr lang="en-US" sz="950" dirty="0"/>
          </a:p>
        </p:txBody>
      </p:sp>
      <p:sp>
        <p:nvSpPr>
          <p:cNvPr id="207" name="Text 205"/>
          <p:cNvSpPr/>
          <p:nvPr/>
        </p:nvSpPr>
        <p:spPr>
          <a:xfrm>
            <a:off x="6144768" y="6464808"/>
            <a:ext cx="10241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49h estimadas</a:t>
            </a:r>
            <a:endParaRPr lang="en-US" sz="850" dirty="0"/>
          </a:p>
        </p:txBody>
      </p:sp>
      <p:sp>
        <p:nvSpPr>
          <p:cNvPr id="208" name="Shape 206"/>
          <p:cNvSpPr/>
          <p:nvPr/>
        </p:nvSpPr>
        <p:spPr>
          <a:xfrm>
            <a:off x="7306056" y="5879592"/>
            <a:ext cx="1133856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FCA5A5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209" name="Text 207"/>
          <p:cNvSpPr/>
          <p:nvPr/>
        </p:nvSpPr>
        <p:spPr>
          <a:xfrm>
            <a:off x="7360920" y="5952744"/>
            <a:ext cx="10241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Fabio Santos</a:t>
            </a:r>
            <a:endParaRPr lang="en-US" sz="850" dirty="0"/>
          </a:p>
        </p:txBody>
      </p:sp>
      <p:sp>
        <p:nvSpPr>
          <p:cNvPr id="210" name="Shape 208"/>
          <p:cNvSpPr/>
          <p:nvPr/>
        </p:nvSpPr>
        <p:spPr>
          <a:xfrm>
            <a:off x="7360920" y="6153912"/>
            <a:ext cx="1024128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211" name="Shape 209"/>
          <p:cNvSpPr/>
          <p:nvPr/>
        </p:nvSpPr>
        <p:spPr>
          <a:xfrm>
            <a:off x="7360920" y="6153912"/>
            <a:ext cx="722010" cy="73152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212" name="Text 210"/>
          <p:cNvSpPr/>
          <p:nvPr/>
        </p:nvSpPr>
        <p:spPr>
          <a:xfrm>
            <a:off x="7360920" y="6245352"/>
            <a:ext cx="1024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D9E75"/>
                </a:solidFill>
              </a:rPr>
              <a:t>211.5h · 45 subs finalizadas</a:t>
            </a:r>
            <a:endParaRPr lang="en-US" sz="950" dirty="0"/>
          </a:p>
        </p:txBody>
      </p:sp>
      <p:sp>
        <p:nvSpPr>
          <p:cNvPr id="213" name="Text 211"/>
          <p:cNvSpPr/>
          <p:nvPr/>
        </p:nvSpPr>
        <p:spPr>
          <a:xfrm>
            <a:off x="7360920" y="6464808"/>
            <a:ext cx="10241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300h estimadas</a:t>
            </a:r>
            <a:endParaRPr lang="en-US" sz="850" dirty="0"/>
          </a:p>
        </p:txBody>
      </p:sp>
      <p:sp>
        <p:nvSpPr>
          <p:cNvPr id="214" name="Shape 212"/>
          <p:cNvSpPr/>
          <p:nvPr/>
        </p:nvSpPr>
        <p:spPr>
          <a:xfrm>
            <a:off x="7360920" y="6647688"/>
            <a:ext cx="1024128" cy="201168"/>
          </a:xfrm>
          <a:prstGeom prst="rect">
            <a:avLst/>
          </a:prstGeom>
          <a:solidFill>
            <a:srgbClr val="FEE2E2"/>
          </a:solidFill>
          <a:ln w="12700">
            <a:solidFill>
              <a:srgbClr val="FCA5A5"/>
            </a:solidFill>
            <a:prstDash val="solid"/>
          </a:ln>
        </p:spPr>
      </p:sp>
      <p:sp>
        <p:nvSpPr>
          <p:cNvPr id="215" name="Text 213"/>
          <p:cNvSpPr/>
          <p:nvPr/>
        </p:nvSpPr>
        <p:spPr>
          <a:xfrm>
            <a:off x="7360920" y="6647688"/>
            <a:ext cx="10241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DC2626"/>
                </a:solidFill>
              </a:rPr>
              <a:t>⚠ 10 fix(s) sem card</a:t>
            </a:r>
            <a:endParaRPr lang="en-US" sz="750" dirty="0"/>
          </a:p>
        </p:txBody>
      </p:sp>
      <p:sp>
        <p:nvSpPr>
          <p:cNvPr id="216" name="Shape 214"/>
          <p:cNvSpPr/>
          <p:nvPr/>
        </p:nvSpPr>
        <p:spPr>
          <a:xfrm>
            <a:off x="8522208" y="5879592"/>
            <a:ext cx="1133856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FCA5A5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217" name="Text 215"/>
          <p:cNvSpPr/>
          <p:nvPr/>
        </p:nvSpPr>
        <p:spPr>
          <a:xfrm>
            <a:off x="8577072" y="5952744"/>
            <a:ext cx="10241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Albert V. Foureaux</a:t>
            </a:r>
            <a:endParaRPr lang="en-US" sz="850" dirty="0"/>
          </a:p>
        </p:txBody>
      </p:sp>
      <p:sp>
        <p:nvSpPr>
          <p:cNvPr id="218" name="Shape 216"/>
          <p:cNvSpPr/>
          <p:nvPr/>
        </p:nvSpPr>
        <p:spPr>
          <a:xfrm>
            <a:off x="8577072" y="6153912"/>
            <a:ext cx="1024128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219" name="Shape 217"/>
          <p:cNvSpPr/>
          <p:nvPr/>
        </p:nvSpPr>
        <p:spPr>
          <a:xfrm>
            <a:off x="8577072" y="6153912"/>
            <a:ext cx="1024128" cy="73152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220" name="Text 218"/>
          <p:cNvSpPr/>
          <p:nvPr/>
        </p:nvSpPr>
        <p:spPr>
          <a:xfrm>
            <a:off x="8577072" y="6245352"/>
            <a:ext cx="1024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D9E75"/>
                </a:solidFill>
              </a:rPr>
              <a:t>6.5h · 1 subs finalizadas</a:t>
            </a:r>
            <a:endParaRPr lang="en-US" sz="950" dirty="0"/>
          </a:p>
        </p:txBody>
      </p:sp>
      <p:sp>
        <p:nvSpPr>
          <p:cNvPr id="221" name="Text 219"/>
          <p:cNvSpPr/>
          <p:nvPr/>
        </p:nvSpPr>
        <p:spPr>
          <a:xfrm>
            <a:off x="8577072" y="6464808"/>
            <a:ext cx="10241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6.5h estimadas</a:t>
            </a:r>
            <a:endParaRPr lang="en-US" sz="850" dirty="0"/>
          </a:p>
        </p:txBody>
      </p:sp>
      <p:sp>
        <p:nvSpPr>
          <p:cNvPr id="222" name="Shape 220"/>
          <p:cNvSpPr/>
          <p:nvPr/>
        </p:nvSpPr>
        <p:spPr>
          <a:xfrm>
            <a:off x="8577072" y="6647688"/>
            <a:ext cx="1024128" cy="201168"/>
          </a:xfrm>
          <a:prstGeom prst="rect">
            <a:avLst/>
          </a:prstGeom>
          <a:solidFill>
            <a:srgbClr val="FEE2E2"/>
          </a:solidFill>
          <a:ln w="12700">
            <a:solidFill>
              <a:srgbClr val="FCA5A5"/>
            </a:solidFill>
            <a:prstDash val="solid"/>
          </a:ln>
        </p:spPr>
      </p:sp>
      <p:sp>
        <p:nvSpPr>
          <p:cNvPr id="223" name="Text 221"/>
          <p:cNvSpPr/>
          <p:nvPr/>
        </p:nvSpPr>
        <p:spPr>
          <a:xfrm>
            <a:off x="8577072" y="6647688"/>
            <a:ext cx="10241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DC2626"/>
                </a:solidFill>
              </a:rPr>
              <a:t>⚠ 15 fix(s) sem card</a:t>
            </a:r>
            <a:endParaRPr lang="en-US" sz="750" dirty="0"/>
          </a:p>
        </p:txBody>
      </p:sp>
      <p:sp>
        <p:nvSpPr>
          <p:cNvPr id="224" name="Shape 222"/>
          <p:cNvSpPr/>
          <p:nvPr/>
        </p:nvSpPr>
        <p:spPr>
          <a:xfrm>
            <a:off x="9738360" y="5879592"/>
            <a:ext cx="1133856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225" name="Text 223"/>
          <p:cNvSpPr/>
          <p:nvPr/>
        </p:nvSpPr>
        <p:spPr>
          <a:xfrm>
            <a:off x="9793224" y="5952744"/>
            <a:ext cx="10241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James G. Pereira</a:t>
            </a:r>
            <a:endParaRPr lang="en-US" sz="850" dirty="0"/>
          </a:p>
        </p:txBody>
      </p:sp>
      <p:sp>
        <p:nvSpPr>
          <p:cNvPr id="226" name="Shape 224"/>
          <p:cNvSpPr/>
          <p:nvPr/>
        </p:nvSpPr>
        <p:spPr>
          <a:xfrm>
            <a:off x="9793224" y="6153912"/>
            <a:ext cx="1024128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227" name="Shape 225"/>
          <p:cNvSpPr/>
          <p:nvPr/>
        </p:nvSpPr>
        <p:spPr>
          <a:xfrm>
            <a:off x="9793224" y="6153912"/>
            <a:ext cx="931025" cy="73152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228" name="Text 226"/>
          <p:cNvSpPr/>
          <p:nvPr/>
        </p:nvSpPr>
        <p:spPr>
          <a:xfrm>
            <a:off x="9793224" y="6245352"/>
            <a:ext cx="1024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D9E75"/>
                </a:solidFill>
              </a:rPr>
              <a:t>30h · 5 subs finalizadas</a:t>
            </a:r>
            <a:endParaRPr lang="en-US" sz="950" dirty="0"/>
          </a:p>
        </p:txBody>
      </p:sp>
      <p:sp>
        <p:nvSpPr>
          <p:cNvPr id="229" name="Text 227"/>
          <p:cNvSpPr/>
          <p:nvPr/>
        </p:nvSpPr>
        <p:spPr>
          <a:xfrm>
            <a:off x="9793224" y="6464808"/>
            <a:ext cx="10241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33h estimadas</a:t>
            </a:r>
            <a:endParaRPr lang="en-US" sz="850" dirty="0"/>
          </a:p>
        </p:txBody>
      </p:sp>
      <p:sp>
        <p:nvSpPr>
          <p:cNvPr id="230" name="Shape 228"/>
          <p:cNvSpPr/>
          <p:nvPr/>
        </p:nvSpPr>
        <p:spPr>
          <a:xfrm>
            <a:off x="10954512" y="5879592"/>
            <a:ext cx="1133856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FCA5A5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231" name="Text 229"/>
          <p:cNvSpPr/>
          <p:nvPr/>
        </p:nvSpPr>
        <p:spPr>
          <a:xfrm>
            <a:off x="11009376" y="5952744"/>
            <a:ext cx="10241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Ricardo Cardoso</a:t>
            </a:r>
            <a:endParaRPr lang="en-US" sz="850" dirty="0"/>
          </a:p>
        </p:txBody>
      </p:sp>
      <p:sp>
        <p:nvSpPr>
          <p:cNvPr id="232" name="Shape 230"/>
          <p:cNvSpPr/>
          <p:nvPr/>
        </p:nvSpPr>
        <p:spPr>
          <a:xfrm>
            <a:off x="11009376" y="6153912"/>
            <a:ext cx="1024128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233" name="Shape 231"/>
          <p:cNvSpPr/>
          <p:nvPr/>
        </p:nvSpPr>
        <p:spPr>
          <a:xfrm>
            <a:off x="11009376" y="6153912"/>
            <a:ext cx="947998" cy="73152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234" name="Text 232"/>
          <p:cNvSpPr/>
          <p:nvPr/>
        </p:nvSpPr>
        <p:spPr>
          <a:xfrm>
            <a:off x="11009376" y="6245352"/>
            <a:ext cx="1024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D9E75"/>
                </a:solidFill>
              </a:rPr>
              <a:t>104.6h · 71 subs finalizadas</a:t>
            </a:r>
            <a:endParaRPr lang="en-US" sz="950" dirty="0"/>
          </a:p>
        </p:txBody>
      </p:sp>
      <p:sp>
        <p:nvSpPr>
          <p:cNvPr id="235" name="Text 233"/>
          <p:cNvSpPr/>
          <p:nvPr/>
        </p:nvSpPr>
        <p:spPr>
          <a:xfrm>
            <a:off x="11009376" y="6464808"/>
            <a:ext cx="10241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113h estimadas</a:t>
            </a:r>
            <a:endParaRPr lang="en-US" sz="850" dirty="0"/>
          </a:p>
        </p:txBody>
      </p:sp>
      <p:sp>
        <p:nvSpPr>
          <p:cNvPr id="236" name="Shape 234"/>
          <p:cNvSpPr/>
          <p:nvPr/>
        </p:nvSpPr>
        <p:spPr>
          <a:xfrm>
            <a:off x="11009376" y="6647688"/>
            <a:ext cx="1024128" cy="201168"/>
          </a:xfrm>
          <a:prstGeom prst="rect">
            <a:avLst/>
          </a:prstGeom>
          <a:solidFill>
            <a:srgbClr val="FEE2E2"/>
          </a:solidFill>
          <a:ln w="12700">
            <a:solidFill>
              <a:srgbClr val="FCA5A5"/>
            </a:solidFill>
            <a:prstDash val="solid"/>
          </a:ln>
        </p:spPr>
      </p:sp>
      <p:sp>
        <p:nvSpPr>
          <p:cNvPr id="237" name="Text 235"/>
          <p:cNvSpPr/>
          <p:nvPr/>
        </p:nvSpPr>
        <p:spPr>
          <a:xfrm>
            <a:off x="11009376" y="6647688"/>
            <a:ext cx="10241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DC2626"/>
                </a:solidFill>
              </a:rPr>
              <a:t>⚠ 23 fix(s) sem card</a:t>
            </a:r>
            <a:endParaRPr lang="en-US" sz="750" dirty="0"/>
          </a:p>
        </p:txBody>
      </p:sp>
      <p:sp>
        <p:nvSpPr>
          <p:cNvPr id="238" name="Shape 236"/>
          <p:cNvSpPr/>
          <p:nvPr/>
        </p:nvSpPr>
        <p:spPr>
          <a:xfrm>
            <a:off x="2441448" y="6729984"/>
            <a:ext cx="9646920" cy="128016"/>
          </a:xfrm>
          <a:prstGeom prst="rect">
            <a:avLst/>
          </a:prstGeom>
          <a:solidFill>
            <a:srgbClr val="EEF2F7"/>
          </a:solidFill>
          <a:ln w="12700">
            <a:solidFill>
              <a:srgbClr val="C8D4E3"/>
            </a:solidFill>
            <a:prstDash val="solid"/>
          </a:ln>
        </p:spPr>
      </p:sp>
      <p:sp>
        <p:nvSpPr>
          <p:cNvPr id="239" name="Text 237"/>
          <p:cNvSpPr/>
          <p:nvPr/>
        </p:nvSpPr>
        <p:spPr>
          <a:xfrm>
            <a:off x="2514600" y="6739128"/>
            <a:ext cx="9500616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50" dirty="0">
                <a:solidFill>
                  <a:srgbClr val="6B7D93"/>
                </a:solidFill>
              </a:rPr>
              <a:t>Repos Git mapeados: servico-quadro-aulas  ·  frontend-quadro-aulas  ·  servico-quadro-aulas-fallback  ·  servico-aulas  ·  servico-planejamento-monitoramento-integracao  ·  frontend-monitor-integracao</a:t>
            </a:r>
            <a:endParaRPr lang="en-US" sz="5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Status Report — Quadro de Aulas</dc:title>
  <dc:subject>PptxGenJS Presentation</dc:subject>
  <dc:creator>PptxGenJS</dc:creator>
  <cp:lastModifiedBy>PptxGenJS</cp:lastModifiedBy>
  <cp:revision>1</cp:revision>
  <dcterms:created xsi:type="dcterms:W3CDTF">2026-06-14T21:37:09Z</dcterms:created>
  <dcterms:modified xsi:type="dcterms:W3CDTF">2026-06-14T21:37:09Z</dcterms:modified>
</cp:coreProperties>
</file>