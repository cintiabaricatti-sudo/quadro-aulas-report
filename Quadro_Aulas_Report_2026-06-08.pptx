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645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400" kern="0" dirty="0">
                <a:solidFill>
                  <a:srgbClr val="8FA3C0"/>
                </a:solidFill>
              </a:rPr>
              <a:t>STATUS REPORT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37160" y="3291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Quadro de Aulas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" y="6400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FA3C0"/>
                </a:solidFill>
              </a:rPr>
              <a:t>Resiliencia Sistemica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" y="8229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8 de Junho de 2026 as 21:52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057400" cy="13716"/>
          </a:xfrm>
          <a:prstGeom prst="rect">
            <a:avLst/>
          </a:prstGeom>
          <a:solidFill>
            <a:srgbClr val="2D4A73"/>
          </a:solidFill>
          <a:ln w="12700">
            <a:solidFill>
              <a:srgbClr val="2D4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0789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TOTAL DE ITENS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37160" y="1225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358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" y="164592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CONCLUIDOS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37160" y="1792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</a:rPr>
              <a:t>246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" y="221284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EM PROGRESSO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37160" y="23591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D34D"/>
                </a:solidFill>
              </a:rPr>
              <a:t>15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" y="27797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A FAZER / BACKLOG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3716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87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" y="338328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PROGRESSO GERAL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37160" y="3538728"/>
            <a:ext cx="2057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3538728"/>
            <a:ext cx="1419606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36484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69% concluido  .  246 de 358 itens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7160" y="379476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Cancelados excluidos do escopo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37160" y="397764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VELOCIDADE RECENTE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37160" y="4114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18h/dia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" y="442569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velocidade fixada pelo time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37160" y="6492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Squad Lecionar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7160" y="66476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Cintia Baricatti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PRINCIPAL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41448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5 Stories · 3 NFT · 59 itens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14600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59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14600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237.5h . Real: 240.2h . Rem: 0h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14600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859536"/>
            <a:ext cx="19392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88% · 7 de 8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59 de 59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514600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240.2h (+2.7h / +1%)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REDUNDANTE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73752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46904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Stories · 3 NFT · 99 itens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46904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13 . Em progresso: 3 . Finalizados: 83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46904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397h . Real: 439.4h . Rem: 23.5h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946904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46904" y="859536"/>
            <a:ext cx="1322222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60% · 6 de 10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946904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46904" y="1033272"/>
            <a:ext cx="1851111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46904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84% · 83 de 99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946904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Projetado: 462.9h (+65.9h / +17%)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306056" y="73152"/>
            <a:ext cx="23500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06056" y="73152"/>
            <a:ext cx="14570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COMPLEMENTARES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692561" y="73152"/>
            <a:ext cx="18800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AAAA"/>
                </a:solidFill>
              </a:rPr>
              <a:t>·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786561" y="73152"/>
            <a:ext cx="869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5D5"/>
                </a:solidFill>
              </a:rPr>
              <a:t>CANCELADO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7306056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7379208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 Story · 9 itens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379208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9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7379208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27h . Real: 75.5h . Rem: 0h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379208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100% · 1 de 1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79208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9 de 9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7379208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75.5h (+48.5h / +180%)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OBSERVABILIDADE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9738360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9811512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16 Stories · 107 itens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9811512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63 . Em progresso: 1 . Finalizados: 43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9811512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488.5h . Real: 188.5h . Rem: 282.5h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9811512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811512" y="859536"/>
            <a:ext cx="0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811512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0% · 0 de 16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9811512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811512" y="1033272"/>
            <a:ext cx="881482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811512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40% · 43 de 107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9811512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471h (-17.5h / -4%)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2441448" y="2121408"/>
            <a:ext cx="9646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2532888" y="2176272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HORAS - ESTIMADO vs. PROJETADO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253288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PLANEJADO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253288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</a:rPr>
              <a:t>1207.5h</a:t>
            </a:r>
            <a:endParaRPr lang="en-US" sz="2400" dirty="0"/>
          </a:p>
        </p:txBody>
      </p:sp>
      <p:sp>
        <p:nvSpPr>
          <p:cNvPr id="84" name="Text 82"/>
          <p:cNvSpPr/>
          <p:nvPr/>
        </p:nvSpPr>
        <p:spPr>
          <a:xfrm>
            <a:off x="253288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original estimate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485317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94461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JA GASTO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494461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1042.5h</a:t>
            </a:r>
            <a:endParaRPr lang="en-US" sz="2400" dirty="0"/>
          </a:p>
        </p:txBody>
      </p:sp>
      <p:sp>
        <p:nvSpPr>
          <p:cNvPr id="88" name="Text 86"/>
          <p:cNvSpPr/>
          <p:nvPr/>
        </p:nvSpPr>
        <p:spPr>
          <a:xfrm>
            <a:off x="494461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completed work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726490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35634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FALTA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735634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342.5h</a:t>
            </a:r>
            <a:endParaRPr lang="en-US" sz="2400" dirty="0"/>
          </a:p>
        </p:txBody>
      </p:sp>
      <p:sp>
        <p:nvSpPr>
          <p:cNvPr id="92" name="Text 90"/>
          <p:cNvSpPr/>
          <p:nvPr/>
        </p:nvSpPr>
        <p:spPr>
          <a:xfrm>
            <a:off x="735634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remaining (devs)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967663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76807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AUMENTO DE ESFORCO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976807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+177.5h</a:t>
            </a:r>
            <a:endParaRPr lang="en-US" sz="2400" dirty="0"/>
          </a:p>
        </p:txBody>
      </p:sp>
      <p:sp>
        <p:nvSpPr>
          <p:cNvPr id="96" name="Text 94"/>
          <p:cNvSpPr/>
          <p:nvPr/>
        </p:nvSpPr>
        <p:spPr>
          <a:xfrm>
            <a:off x="976807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projetado: 1385h (+15%)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2441448" y="2916936"/>
            <a:ext cx="726131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702758" y="2916936"/>
            <a:ext cx="238561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44144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00" name="Text 98"/>
          <p:cNvSpPr/>
          <p:nvPr/>
        </p:nvSpPr>
        <p:spPr>
          <a:xfrm>
            <a:off x="255117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1 · Resiliencia Sistemica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656082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56082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6E56"/>
                </a:solidFill>
              </a:rPr>
              <a:t>90% concluido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>
            <a:off x="2551176" y="3291840"/>
            <a:ext cx="4558284" cy="64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551176" y="3291840"/>
            <a:ext cx="4102456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07" name="Text 105"/>
          <p:cNvSpPr/>
          <p:nvPr/>
        </p:nvSpPr>
        <p:spPr>
          <a:xfrm>
            <a:off x="255117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11/06/2026</a:t>
            </a:r>
            <a:endParaRPr lang="en-US" sz="1050" dirty="0"/>
          </a:p>
        </p:txBody>
      </p:sp>
      <p:sp>
        <p:nvSpPr>
          <p:cNvPr id="108" name="Shape 106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10" name="Text 108"/>
          <p:cNvSpPr/>
          <p:nvPr/>
        </p:nvSpPr>
        <p:spPr>
          <a:xfrm>
            <a:off x="407060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15/05/2026</a:t>
            </a:r>
            <a:endParaRPr lang="en-US" sz="1050" dirty="0"/>
          </a:p>
        </p:txBody>
      </p:sp>
      <p:sp>
        <p:nvSpPr>
          <p:cNvPr id="111" name="Shape 109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13" name="Text 111"/>
          <p:cNvSpPr/>
          <p:nvPr/>
        </p:nvSpPr>
        <p:spPr>
          <a:xfrm>
            <a:off x="559003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14" name="Shape 112"/>
          <p:cNvSpPr/>
          <p:nvPr/>
        </p:nvSpPr>
        <p:spPr>
          <a:xfrm>
            <a:off x="731062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15" name="Text 113"/>
          <p:cNvSpPr/>
          <p:nvPr/>
        </p:nvSpPr>
        <p:spPr>
          <a:xfrm>
            <a:off x="742035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2 · Observabilidade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1143000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143000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91B1B"/>
                </a:solidFill>
              </a:rPr>
              <a:t>40% concluido</a:t>
            </a:r>
            <a:endParaRPr lang="en-US" sz="650" dirty="0"/>
          </a:p>
        </p:txBody>
      </p:sp>
      <p:sp>
        <p:nvSpPr>
          <p:cNvPr id="118" name="Shape 116"/>
          <p:cNvSpPr/>
          <p:nvPr/>
        </p:nvSpPr>
        <p:spPr>
          <a:xfrm>
            <a:off x="7420356" y="3291840"/>
            <a:ext cx="4558284" cy="6400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420356" y="3291840"/>
            <a:ext cx="1823314" cy="64008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22" name="Text 120"/>
          <p:cNvSpPr/>
          <p:nvPr/>
        </p:nvSpPr>
        <p:spPr>
          <a:xfrm>
            <a:off x="742035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29/06/2026</a:t>
            </a:r>
            <a:endParaRPr lang="en-US" sz="1050" dirty="0"/>
          </a:p>
        </p:txBody>
      </p:sp>
      <p:sp>
        <p:nvSpPr>
          <p:cNvPr id="123" name="Shape 121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25" name="Text 123"/>
          <p:cNvSpPr/>
          <p:nvPr/>
        </p:nvSpPr>
        <p:spPr>
          <a:xfrm>
            <a:off x="893978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26" name="Shape 124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28" name="Text 126"/>
          <p:cNvSpPr/>
          <p:nvPr/>
        </p:nvSpPr>
        <p:spPr>
          <a:xfrm>
            <a:off x="1045921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12/06/2026</a:t>
            </a:r>
            <a:endParaRPr lang="en-US" sz="1050" dirty="0"/>
          </a:p>
        </p:txBody>
      </p:sp>
      <p:sp>
        <p:nvSpPr>
          <p:cNvPr id="129" name="Shape 127"/>
          <p:cNvSpPr/>
          <p:nvPr/>
        </p:nvSpPr>
        <p:spPr>
          <a:xfrm>
            <a:off x="2441448" y="3913632"/>
            <a:ext cx="9646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30" name="Text 128"/>
          <p:cNvSpPr/>
          <p:nvPr/>
        </p:nvSpPr>
        <p:spPr>
          <a:xfrm>
            <a:off x="2532888" y="3968496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EFICIENCIA DA ENTREGA</a:t>
            </a:r>
            <a:endParaRPr lang="en-US" sz="700" dirty="0"/>
          </a:p>
        </p:txBody>
      </p:sp>
      <p:sp>
        <p:nvSpPr>
          <p:cNvPr id="131" name="Text 129"/>
          <p:cNvSpPr/>
          <p:nvPr/>
        </p:nvSpPr>
        <p:spPr>
          <a:xfrm>
            <a:off x="2532888" y="4059936"/>
            <a:ext cx="303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19.9%</a:t>
            </a:r>
            <a:endParaRPr lang="en-US" sz="2200" dirty="0"/>
          </a:p>
        </p:txBody>
      </p:sp>
      <p:sp>
        <p:nvSpPr>
          <p:cNvPr id="132" name="Text 130"/>
          <p:cNvSpPr/>
          <p:nvPr/>
        </p:nvSpPr>
        <p:spPr>
          <a:xfrm>
            <a:off x="2532888" y="4389120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Itens Estourados</a:t>
            </a:r>
            <a:endParaRPr lang="en-US" sz="800" dirty="0"/>
          </a:p>
        </p:txBody>
      </p:sp>
      <p:sp>
        <p:nvSpPr>
          <p:cNvPr id="133" name="Text 131"/>
          <p:cNvSpPr/>
          <p:nvPr/>
        </p:nvSpPr>
        <p:spPr>
          <a:xfrm>
            <a:off x="2532888" y="4553712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das subs com estimativa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565708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5748528" y="4059936"/>
            <a:ext cx="303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8.8%</a:t>
            </a:r>
            <a:endParaRPr lang="en-US" sz="2200" dirty="0"/>
          </a:p>
        </p:txBody>
      </p:sp>
      <p:sp>
        <p:nvSpPr>
          <p:cNvPr id="136" name="Text 134"/>
          <p:cNvSpPr/>
          <p:nvPr/>
        </p:nvSpPr>
        <p:spPr>
          <a:xfrm>
            <a:off x="5748528" y="4389120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</a:t>
            </a:r>
            <a:endParaRPr lang="en-US" sz="800" dirty="0"/>
          </a:p>
        </p:txBody>
      </p:sp>
      <p:sp>
        <p:nvSpPr>
          <p:cNvPr id="137" name="Text 135"/>
          <p:cNvSpPr/>
          <p:nvPr/>
        </p:nvSpPr>
        <p:spPr>
          <a:xfrm>
            <a:off x="5748528" y="4553712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15 Sub Bug . 81.3h realizadas</a:t>
            </a:r>
            <a:endParaRPr lang="en-US" sz="700" dirty="0"/>
          </a:p>
        </p:txBody>
      </p:sp>
      <p:sp>
        <p:nvSpPr>
          <p:cNvPr id="138" name="Shape 136"/>
          <p:cNvSpPr/>
          <p:nvPr/>
        </p:nvSpPr>
        <p:spPr>
          <a:xfrm>
            <a:off x="887272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8964168" y="4059936"/>
            <a:ext cx="303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80.1%</a:t>
            </a:r>
            <a:endParaRPr lang="en-US" sz="2200" dirty="0"/>
          </a:p>
        </p:txBody>
      </p:sp>
      <p:sp>
        <p:nvSpPr>
          <p:cNvPr id="140" name="Text 138"/>
          <p:cNvSpPr/>
          <p:nvPr/>
        </p:nvSpPr>
        <p:spPr>
          <a:xfrm>
            <a:off x="8964168" y="4389120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Dentro da Estimativa</a:t>
            </a:r>
            <a:endParaRPr lang="en-US" sz="800" dirty="0"/>
          </a:p>
        </p:txBody>
      </p:sp>
      <p:sp>
        <p:nvSpPr>
          <p:cNvPr id="141" name="Text 139"/>
          <p:cNvSpPr/>
          <p:nvPr/>
        </p:nvSpPr>
        <p:spPr>
          <a:xfrm>
            <a:off x="8964168" y="4553712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entregues dentro do planejado</a:t>
            </a:r>
            <a:endParaRPr lang="en-US" sz="700" dirty="0"/>
          </a:p>
        </p:txBody>
      </p:sp>
      <p:sp>
        <p:nvSpPr>
          <p:cNvPr id="142" name="Text 140"/>
          <p:cNvSpPr/>
          <p:nvPr/>
        </p:nvSpPr>
        <p:spPr>
          <a:xfrm>
            <a:off x="2441448" y="4754880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300" kern="0" dirty="0">
                <a:solidFill>
                  <a:srgbClr val="888888"/>
                </a:solidFill>
              </a:rPr>
              <a:t>R I S C O S</a:t>
            </a:r>
            <a:endParaRPr lang="en-US" sz="650" dirty="0"/>
          </a:p>
        </p:txBody>
      </p:sp>
      <p:sp>
        <p:nvSpPr>
          <p:cNvPr id="143" name="Shape 141"/>
          <p:cNvSpPr/>
          <p:nvPr/>
        </p:nvSpPr>
        <p:spPr>
          <a:xfrm>
            <a:off x="2441448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44" name="Text 142"/>
          <p:cNvSpPr/>
          <p:nvPr/>
        </p:nvSpPr>
        <p:spPr>
          <a:xfrm>
            <a:off x="2514600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REFINAMENTO PENDENTE</a:t>
            </a:r>
            <a:endParaRPr lang="en-US" sz="700" dirty="0"/>
          </a:p>
        </p:txBody>
      </p:sp>
      <p:sp>
        <p:nvSpPr>
          <p:cNvPr id="145" name="Shape 143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story</a:t>
            </a:r>
            <a:endParaRPr lang="en-US" sz="650" dirty="0"/>
          </a:p>
        </p:txBody>
      </p:sp>
      <p:sp>
        <p:nvSpPr>
          <p:cNvPr id="147" name="Text 145"/>
          <p:cNvSpPr/>
          <p:nvPr/>
        </p:nvSpPr>
        <p:spPr>
          <a:xfrm>
            <a:off x="2514600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 story sem subtarefas</a:t>
            </a:r>
            <a:endParaRPr lang="en-US" sz="750" dirty="0"/>
          </a:p>
        </p:txBody>
      </p:sp>
      <p:sp>
        <p:nvSpPr>
          <p:cNvPr id="148" name="Text 146"/>
          <p:cNvSpPr/>
          <p:nvPr/>
        </p:nvSpPr>
        <p:spPr>
          <a:xfrm>
            <a:off x="2514600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Redundante</a:t>
            </a:r>
            <a:endParaRPr lang="en-US" sz="750" dirty="0"/>
          </a:p>
        </p:txBody>
      </p:sp>
      <p:sp>
        <p:nvSpPr>
          <p:cNvPr id="149" name="Shape 147"/>
          <p:cNvSpPr/>
          <p:nvPr/>
        </p:nvSpPr>
        <p:spPr>
          <a:xfrm>
            <a:off x="4873752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0" name="Text 148"/>
          <p:cNvSpPr/>
          <p:nvPr/>
        </p:nvSpPr>
        <p:spPr>
          <a:xfrm>
            <a:off x="4946904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ATENCAO · Janela de Entrega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~16 dias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uteis</a:t>
            </a:r>
            <a:endParaRPr lang="en-US" sz="650" dirty="0"/>
          </a:p>
        </p:txBody>
      </p:sp>
      <p:sp>
        <p:nvSpPr>
          <p:cNvPr id="153" name="Text 151"/>
          <p:cNvSpPr/>
          <p:nvPr/>
        </p:nvSpPr>
        <p:spPr>
          <a:xfrm>
            <a:off x="4946904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Observabilidade: Projetado 29/06/2026 · Base 29/05/2026</a:t>
            </a:r>
            <a:endParaRPr lang="en-US" sz="750" dirty="0"/>
          </a:p>
        </p:txBody>
      </p:sp>
      <p:sp>
        <p:nvSpPr>
          <p:cNvPr id="154" name="Text 152"/>
          <p:cNvSpPr/>
          <p:nvPr/>
        </p:nvSpPr>
        <p:spPr>
          <a:xfrm>
            <a:off x="4946904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5" name="Shape 153"/>
          <p:cNvSpPr/>
          <p:nvPr/>
        </p:nvSpPr>
        <p:spPr>
          <a:xfrm>
            <a:off x="7306056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6" name="Text 154"/>
          <p:cNvSpPr/>
          <p:nvPr/>
        </p:nvSpPr>
        <p:spPr>
          <a:xfrm>
            <a:off x="7379208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BUG / SUSTENTACAO</a:t>
            </a:r>
            <a:endParaRPr lang="en-US" sz="700" dirty="0"/>
          </a:p>
        </p:txBody>
      </p:sp>
      <p:sp>
        <p:nvSpPr>
          <p:cNvPr id="157" name="Shape 155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142.4h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realizadas</a:t>
            </a:r>
            <a:endParaRPr lang="en-US" sz="650" dirty="0"/>
          </a:p>
        </p:txBody>
      </p:sp>
      <p:sp>
        <p:nvSpPr>
          <p:cNvPr id="159" name="Text 157"/>
          <p:cNvSpPr/>
          <p:nvPr/>
        </p:nvSpPr>
        <p:spPr>
          <a:xfrm>
            <a:off x="7379208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Bugs · 7 SRs no periodo</a:t>
            </a:r>
            <a:endParaRPr lang="en-US" sz="750" dirty="0"/>
          </a:p>
        </p:txBody>
      </p:sp>
      <p:sp>
        <p:nvSpPr>
          <p:cNvPr id="160" name="Text 158"/>
          <p:cNvSpPr/>
          <p:nvPr/>
        </p:nvSpPr>
        <p:spPr>
          <a:xfrm>
            <a:off x="7379208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Horas nao planejadas: 142.4h</a:t>
            </a:r>
            <a:endParaRPr lang="en-US" sz="750" dirty="0"/>
          </a:p>
        </p:txBody>
      </p:sp>
      <p:sp>
        <p:nvSpPr>
          <p:cNvPr id="161" name="Shape 159"/>
          <p:cNvSpPr/>
          <p:nvPr/>
        </p:nvSpPr>
        <p:spPr>
          <a:xfrm>
            <a:off x="9738360" y="4873752"/>
            <a:ext cx="2350008" cy="877824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2" name="Text 160"/>
          <p:cNvSpPr/>
          <p:nvPr/>
        </p:nvSpPr>
        <p:spPr>
          <a:xfrm>
            <a:off x="9811512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EXPANSAO DE ESCOPO</a:t>
            </a:r>
            <a:endParaRPr lang="en-US" sz="700" dirty="0"/>
          </a:p>
        </p:txBody>
      </p:sp>
      <p:sp>
        <p:nvSpPr>
          <p:cNvPr id="163" name="Shape 161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95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itens</a:t>
            </a:r>
            <a:endParaRPr lang="en-US" sz="650" dirty="0"/>
          </a:p>
        </p:txBody>
      </p:sp>
      <p:sp>
        <p:nvSpPr>
          <p:cNvPr id="165" name="Text 163"/>
          <p:cNvSpPr/>
          <p:nvPr/>
        </p:nvSpPr>
        <p:spPr>
          <a:xfrm>
            <a:off x="9811512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95 itens criados pos 01/05</a:t>
            </a:r>
            <a:endParaRPr lang="en-US" sz="750" dirty="0"/>
          </a:p>
        </p:txBody>
      </p:sp>
      <p:sp>
        <p:nvSpPr>
          <p:cNvPr id="166" name="Text 164"/>
          <p:cNvSpPr/>
          <p:nvPr/>
        </p:nvSpPr>
        <p:spPr>
          <a:xfrm>
            <a:off x="9811512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Princ +18h · Redund +133h · Obs +9h</a:t>
            </a:r>
            <a:endParaRPr lang="en-US" sz="750" dirty="0"/>
          </a:p>
        </p:txBody>
      </p:sp>
      <p:sp>
        <p:nvSpPr>
          <p:cNvPr id="167" name="Shape 165"/>
          <p:cNvSpPr/>
          <p:nvPr/>
        </p:nvSpPr>
        <p:spPr>
          <a:xfrm>
            <a:off x="2441448" y="5797296"/>
            <a:ext cx="8257032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2441448" y="5797296"/>
            <a:ext cx="82570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 E V S</a:t>
            </a:r>
            <a:endParaRPr lang="en-US" sz="700" dirty="0"/>
          </a:p>
        </p:txBody>
      </p:sp>
      <p:sp>
        <p:nvSpPr>
          <p:cNvPr id="169" name="Shape 167"/>
          <p:cNvSpPr/>
          <p:nvPr/>
        </p:nvSpPr>
        <p:spPr>
          <a:xfrm>
            <a:off x="10780776" y="5797296"/>
            <a:ext cx="1307592" cy="7315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10780776" y="5797296"/>
            <a:ext cx="1307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Q A</a:t>
            </a:r>
            <a:endParaRPr lang="en-US" sz="700" dirty="0"/>
          </a:p>
        </p:txBody>
      </p:sp>
      <p:sp>
        <p:nvSpPr>
          <p:cNvPr id="171" name="Shape 169"/>
          <p:cNvSpPr/>
          <p:nvPr/>
        </p:nvSpPr>
        <p:spPr>
          <a:xfrm>
            <a:off x="2441448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72" name="Text 170"/>
          <p:cNvSpPr/>
          <p:nvPr/>
        </p:nvSpPr>
        <p:spPr>
          <a:xfrm>
            <a:off x="2496312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Gabriel Pigatto</a:t>
            </a:r>
            <a:endParaRPr lang="en-US" sz="850" dirty="0"/>
          </a:p>
        </p:txBody>
      </p:sp>
      <p:sp>
        <p:nvSpPr>
          <p:cNvPr id="173" name="Shape 171"/>
          <p:cNvSpPr/>
          <p:nvPr/>
        </p:nvSpPr>
        <p:spPr>
          <a:xfrm>
            <a:off x="2496312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2496312" y="6153912"/>
            <a:ext cx="1163942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2496312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164.7h · 33 subs finalizadas</a:t>
            </a:r>
            <a:endParaRPr lang="en-US" sz="950" dirty="0"/>
          </a:p>
        </p:txBody>
      </p:sp>
      <p:sp>
        <p:nvSpPr>
          <p:cNvPr id="176" name="Text 174"/>
          <p:cNvSpPr/>
          <p:nvPr/>
        </p:nvSpPr>
        <p:spPr>
          <a:xfrm>
            <a:off x="2496312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169.5h estimadas</a:t>
            </a:r>
            <a:endParaRPr lang="en-US" sz="850" dirty="0"/>
          </a:p>
        </p:txBody>
      </p:sp>
      <p:sp>
        <p:nvSpPr>
          <p:cNvPr id="177" name="Shape 175"/>
          <p:cNvSpPr/>
          <p:nvPr/>
        </p:nvSpPr>
        <p:spPr>
          <a:xfrm>
            <a:off x="3831336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78" name="Text 176"/>
          <p:cNvSpPr/>
          <p:nvPr/>
        </p:nvSpPr>
        <p:spPr>
          <a:xfrm>
            <a:off x="3886200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Artur Silva</a:t>
            </a:r>
            <a:endParaRPr lang="en-US" sz="850" dirty="0"/>
          </a:p>
        </p:txBody>
      </p:sp>
      <p:sp>
        <p:nvSpPr>
          <p:cNvPr id="179" name="Shape 177"/>
          <p:cNvSpPr/>
          <p:nvPr/>
        </p:nvSpPr>
        <p:spPr>
          <a:xfrm>
            <a:off x="3886200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3886200" y="6153912"/>
            <a:ext cx="1197864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3886200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269.5h · 45 subs finalizadas</a:t>
            </a:r>
            <a:endParaRPr lang="en-US" sz="950" dirty="0"/>
          </a:p>
        </p:txBody>
      </p:sp>
      <p:sp>
        <p:nvSpPr>
          <p:cNvPr id="182" name="Text 180"/>
          <p:cNvSpPr/>
          <p:nvPr/>
        </p:nvSpPr>
        <p:spPr>
          <a:xfrm>
            <a:off x="3886200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151.5h estimadas</a:t>
            </a:r>
            <a:endParaRPr lang="en-US" sz="850" dirty="0"/>
          </a:p>
        </p:txBody>
      </p:sp>
      <p:sp>
        <p:nvSpPr>
          <p:cNvPr id="183" name="Shape 181"/>
          <p:cNvSpPr/>
          <p:nvPr/>
        </p:nvSpPr>
        <p:spPr>
          <a:xfrm>
            <a:off x="5221224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4" name="Text 182"/>
          <p:cNvSpPr/>
          <p:nvPr/>
        </p:nvSpPr>
        <p:spPr>
          <a:xfrm>
            <a:off x="5276088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Carlos H. Almeida</a:t>
            </a:r>
            <a:endParaRPr lang="en-US" sz="850" dirty="0"/>
          </a:p>
        </p:txBody>
      </p:sp>
      <p:sp>
        <p:nvSpPr>
          <p:cNvPr id="185" name="Shape 183"/>
          <p:cNvSpPr/>
          <p:nvPr/>
        </p:nvSpPr>
        <p:spPr>
          <a:xfrm>
            <a:off x="5276088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5276088" y="6153912"/>
            <a:ext cx="1197864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5276088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240.7h · 30 subs finalizadas</a:t>
            </a:r>
            <a:endParaRPr lang="en-US" sz="950" dirty="0"/>
          </a:p>
        </p:txBody>
      </p:sp>
      <p:sp>
        <p:nvSpPr>
          <p:cNvPr id="188" name="Text 186"/>
          <p:cNvSpPr/>
          <p:nvPr/>
        </p:nvSpPr>
        <p:spPr>
          <a:xfrm>
            <a:off x="5276088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214h estimadas</a:t>
            </a:r>
            <a:endParaRPr lang="en-US" sz="850" dirty="0"/>
          </a:p>
        </p:txBody>
      </p:sp>
      <p:sp>
        <p:nvSpPr>
          <p:cNvPr id="189" name="Shape 187"/>
          <p:cNvSpPr/>
          <p:nvPr/>
        </p:nvSpPr>
        <p:spPr>
          <a:xfrm>
            <a:off x="6611112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0" name="Text 188"/>
          <p:cNvSpPr/>
          <p:nvPr/>
        </p:nvSpPr>
        <p:spPr>
          <a:xfrm>
            <a:off x="6665976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Maria E. Muniz</a:t>
            </a:r>
            <a:endParaRPr lang="en-US" sz="850" dirty="0"/>
          </a:p>
        </p:txBody>
      </p:sp>
      <p:sp>
        <p:nvSpPr>
          <p:cNvPr id="191" name="Shape 189"/>
          <p:cNvSpPr/>
          <p:nvPr/>
        </p:nvSpPr>
        <p:spPr>
          <a:xfrm>
            <a:off x="6665976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665976" y="6153912"/>
            <a:ext cx="1197864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6665976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65.5h · 17 subs finalizadas</a:t>
            </a:r>
            <a:endParaRPr lang="en-US" sz="950" dirty="0"/>
          </a:p>
        </p:txBody>
      </p:sp>
      <p:sp>
        <p:nvSpPr>
          <p:cNvPr id="194" name="Text 192"/>
          <p:cNvSpPr/>
          <p:nvPr/>
        </p:nvSpPr>
        <p:spPr>
          <a:xfrm>
            <a:off x="6665976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34h estimadas</a:t>
            </a:r>
            <a:endParaRPr lang="en-US" sz="850" dirty="0"/>
          </a:p>
        </p:txBody>
      </p:sp>
      <p:sp>
        <p:nvSpPr>
          <p:cNvPr id="195" name="Shape 193"/>
          <p:cNvSpPr/>
          <p:nvPr/>
        </p:nvSpPr>
        <p:spPr>
          <a:xfrm>
            <a:off x="8001000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6" name="Text 194"/>
          <p:cNvSpPr/>
          <p:nvPr/>
        </p:nvSpPr>
        <p:spPr>
          <a:xfrm>
            <a:off x="8055864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Fabio Santos</a:t>
            </a:r>
            <a:endParaRPr lang="en-US" sz="850" dirty="0"/>
          </a:p>
        </p:txBody>
      </p:sp>
      <p:sp>
        <p:nvSpPr>
          <p:cNvPr id="197" name="Shape 195"/>
          <p:cNvSpPr/>
          <p:nvPr/>
        </p:nvSpPr>
        <p:spPr>
          <a:xfrm>
            <a:off x="8055864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8055864" y="6153912"/>
            <a:ext cx="1197864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8055864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164.5h · 21 subs finalizadas</a:t>
            </a:r>
            <a:endParaRPr lang="en-US" sz="950" dirty="0"/>
          </a:p>
        </p:txBody>
      </p:sp>
      <p:sp>
        <p:nvSpPr>
          <p:cNvPr id="200" name="Text 198"/>
          <p:cNvSpPr/>
          <p:nvPr/>
        </p:nvSpPr>
        <p:spPr>
          <a:xfrm>
            <a:off x="8055864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164h estimadas</a:t>
            </a:r>
            <a:endParaRPr lang="en-US" sz="850" dirty="0"/>
          </a:p>
        </p:txBody>
      </p:sp>
      <p:sp>
        <p:nvSpPr>
          <p:cNvPr id="201" name="Shape 199"/>
          <p:cNvSpPr/>
          <p:nvPr/>
        </p:nvSpPr>
        <p:spPr>
          <a:xfrm>
            <a:off x="9390888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2" name="Text 200"/>
          <p:cNvSpPr/>
          <p:nvPr/>
        </p:nvSpPr>
        <p:spPr>
          <a:xfrm>
            <a:off x="9445752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Albert V. Foureaux</a:t>
            </a:r>
            <a:endParaRPr lang="en-US" sz="850" dirty="0"/>
          </a:p>
        </p:txBody>
      </p:sp>
      <p:sp>
        <p:nvSpPr>
          <p:cNvPr id="203" name="Shape 201"/>
          <p:cNvSpPr/>
          <p:nvPr/>
        </p:nvSpPr>
        <p:spPr>
          <a:xfrm>
            <a:off x="9445752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9445752" y="6153912"/>
            <a:ext cx="119786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9445752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6.5h · 1 subs finalizadas</a:t>
            </a:r>
            <a:endParaRPr lang="en-US" sz="950" dirty="0"/>
          </a:p>
        </p:txBody>
      </p:sp>
      <p:sp>
        <p:nvSpPr>
          <p:cNvPr id="206" name="Text 204"/>
          <p:cNvSpPr/>
          <p:nvPr/>
        </p:nvSpPr>
        <p:spPr>
          <a:xfrm>
            <a:off x="9445752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6.5h estimadas</a:t>
            </a:r>
            <a:endParaRPr lang="en-US" sz="850" dirty="0"/>
          </a:p>
        </p:txBody>
      </p:sp>
      <p:sp>
        <p:nvSpPr>
          <p:cNvPr id="207" name="Shape 205"/>
          <p:cNvSpPr/>
          <p:nvPr/>
        </p:nvSpPr>
        <p:spPr>
          <a:xfrm>
            <a:off x="10780776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8" name="Text 206"/>
          <p:cNvSpPr/>
          <p:nvPr/>
        </p:nvSpPr>
        <p:spPr>
          <a:xfrm>
            <a:off x="10835640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James G. Pereira</a:t>
            </a:r>
            <a:endParaRPr lang="en-US" sz="850" dirty="0"/>
          </a:p>
        </p:txBody>
      </p:sp>
      <p:sp>
        <p:nvSpPr>
          <p:cNvPr id="209" name="Shape 207"/>
          <p:cNvSpPr/>
          <p:nvPr/>
        </p:nvSpPr>
        <p:spPr>
          <a:xfrm>
            <a:off x="10835640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835640" y="6153912"/>
            <a:ext cx="860005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10835640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28h · 5 subs finalizadas</a:t>
            </a:r>
            <a:endParaRPr lang="en-US" sz="950" dirty="0"/>
          </a:p>
        </p:txBody>
      </p:sp>
      <p:sp>
        <p:nvSpPr>
          <p:cNvPr id="212" name="Text 210"/>
          <p:cNvSpPr/>
          <p:nvPr/>
        </p:nvSpPr>
        <p:spPr>
          <a:xfrm>
            <a:off x="10835640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39h estimadas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— Quadro de Aulas</dc:title>
  <dc:subject>PptxGenJS Presentation</dc:subject>
  <dc:creator>PptxGenJS</dc:creator>
  <cp:lastModifiedBy>PptxGenJS</cp:lastModifiedBy>
  <cp:revision>1</cp:revision>
  <dcterms:created xsi:type="dcterms:W3CDTF">2026-06-09T00:52:43Z</dcterms:created>
  <dcterms:modified xsi:type="dcterms:W3CDTF">2026-06-09T00:52:43Z</dcterms:modified>
</cp:coreProperties>
</file>