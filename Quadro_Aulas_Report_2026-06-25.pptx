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31720" cy="685800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" y="164592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400" kern="0" dirty="0">
                <a:solidFill>
                  <a:srgbClr val="8FA3C0"/>
                </a:solidFill>
              </a:rPr>
              <a:t>STATUS REPORT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137160" y="329184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Quadro de Aulas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37160" y="640080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8FA3C0"/>
                </a:solidFill>
              </a:rPr>
              <a:t>Resiliencia Sistemica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37160" y="822960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FA3C0"/>
                </a:solidFill>
              </a:rPr>
              <a:t>25 de Junho de 2026 as 09:53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137160" y="1005840"/>
            <a:ext cx="2057400" cy="13716"/>
          </a:xfrm>
          <a:prstGeom prst="rect">
            <a:avLst/>
          </a:prstGeom>
          <a:solidFill>
            <a:srgbClr val="2D4A73"/>
          </a:solidFill>
          <a:ln w="12700">
            <a:solidFill>
              <a:srgbClr val="2D4A7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" y="1078992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TOTAL DE ITENS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137160" y="1225296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394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37160" y="1645920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CONCLUIDOS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37160" y="1792224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4ADE80"/>
                </a:solidFill>
              </a:rPr>
              <a:t>327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37160" y="2212848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EM PROGRESSO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137160" y="2359152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CD34D"/>
                </a:solidFill>
              </a:rPr>
              <a:t>7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37160" y="2779776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A FAZER / BACKLOG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137160" y="292608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87171"/>
                </a:solidFill>
              </a:rPr>
              <a:t>41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37160" y="3383280"/>
            <a:ext cx="2148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PROGRESSO GERAL</a:t>
            </a:r>
            <a:endParaRPr lang="en-US" sz="650" dirty="0"/>
          </a:p>
        </p:txBody>
      </p:sp>
      <p:sp>
        <p:nvSpPr>
          <p:cNvPr id="17" name="Shape 15"/>
          <p:cNvSpPr/>
          <p:nvPr/>
        </p:nvSpPr>
        <p:spPr>
          <a:xfrm>
            <a:off x="137160" y="3538728"/>
            <a:ext cx="2057400" cy="914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7160" y="3538728"/>
            <a:ext cx="1707642" cy="9144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7160" y="3648456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FA3C0"/>
                </a:solidFill>
              </a:rPr>
              <a:t>83% concluido  .  327 de 394 itens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137160" y="3794760"/>
            <a:ext cx="2148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FA3C0"/>
                </a:solidFill>
              </a:rPr>
              <a:t>Cancelados excluidos do escopo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137160" y="3977640"/>
            <a:ext cx="2148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VELOCIDADE RECENTE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137160" y="4114800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CD34D"/>
                </a:solidFill>
              </a:rPr>
              <a:t>18h/dia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37160" y="4425696"/>
            <a:ext cx="2148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FA3C0"/>
                </a:solidFill>
              </a:rPr>
              <a:t>velocidade fixada pelo time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137160" y="6492240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FA3C0"/>
                </a:solidFill>
              </a:rPr>
              <a:t>Squad Lecionar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137160" y="6647688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FA3C0"/>
                </a:solidFill>
              </a:rPr>
              <a:t>Cintia Baricatti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2441448" y="73152"/>
            <a:ext cx="2350008" cy="25603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441448" y="73152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PRINCIPAL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441448" y="329184"/>
            <a:ext cx="235000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2514600" y="402336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5 Stories · 3 NFT · 69 itens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2514600" y="566928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A Fazer: 1 . Em progresso: 0 . Finalizados: 68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2514600" y="713232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Est: 274h . Real: 268.8h . Rem: 1h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2514600" y="859536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514600" y="859536"/>
            <a:ext cx="1939260" cy="5029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514600" y="914400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Stories/NFTs: 88% · 7 de 8</a:t>
            </a:r>
            <a:endParaRPr lang="en-US" sz="650" dirty="0"/>
          </a:p>
        </p:txBody>
      </p:sp>
      <p:sp>
        <p:nvSpPr>
          <p:cNvPr id="35" name="Shape 33"/>
          <p:cNvSpPr/>
          <p:nvPr/>
        </p:nvSpPr>
        <p:spPr>
          <a:xfrm>
            <a:off x="2514600" y="1033272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514600" y="1033272"/>
            <a:ext cx="2181667" cy="5029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514600" y="1088136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Subs: 99% · 68 de 69</a:t>
            </a:r>
            <a:endParaRPr lang="en-US" sz="650" dirty="0"/>
          </a:p>
        </p:txBody>
      </p:sp>
      <p:sp>
        <p:nvSpPr>
          <p:cNvPr id="38" name="Text 36"/>
          <p:cNvSpPr/>
          <p:nvPr/>
        </p:nvSpPr>
        <p:spPr>
          <a:xfrm>
            <a:off x="2514600" y="1234440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D9E75"/>
                </a:solidFill>
              </a:rPr>
              <a:t>Projetado: 269.8h (-4.2h / -2%)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873752" y="73152"/>
            <a:ext cx="2350008" cy="25603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73752" y="73152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REDUNDANTE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873752" y="329184"/>
            <a:ext cx="235000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4946904" y="402336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7 Stories · 4 NFT · 111 itens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4946904" y="566928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A Fazer: 11 . Em progresso: 1 . Finalizados: 99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4946904" y="713232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Est: 427.5h . Real: 526.8h . Rem: 27.5h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4946904" y="859536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946904" y="859536"/>
            <a:ext cx="1807037" cy="5029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946904" y="914400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Stories/NFTs: 82% · 9 de 11</a:t>
            </a:r>
            <a:endParaRPr lang="en-US" sz="650" dirty="0"/>
          </a:p>
        </p:txBody>
      </p:sp>
      <p:sp>
        <p:nvSpPr>
          <p:cNvPr id="48" name="Shape 46"/>
          <p:cNvSpPr/>
          <p:nvPr/>
        </p:nvSpPr>
        <p:spPr>
          <a:xfrm>
            <a:off x="4946904" y="1033272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946904" y="1033272"/>
            <a:ext cx="1961297" cy="5029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946904" y="1088136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Subs: 89% · 99 de 111</a:t>
            </a:r>
            <a:endParaRPr lang="en-US" sz="650" dirty="0"/>
          </a:p>
        </p:txBody>
      </p:sp>
      <p:sp>
        <p:nvSpPr>
          <p:cNvPr id="51" name="Text 49"/>
          <p:cNvSpPr/>
          <p:nvPr/>
        </p:nvSpPr>
        <p:spPr>
          <a:xfrm>
            <a:off x="4946904" y="1234440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C2626"/>
                </a:solidFill>
              </a:rPr>
              <a:t>Projetado: 554.3h (+126.8h / +30%)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7306056" y="73152"/>
            <a:ext cx="2350008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306056" y="73152"/>
            <a:ext cx="145700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COMPLEMENTARES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8786561" y="73152"/>
            <a:ext cx="86950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D5D5"/>
                </a:solidFill>
              </a:rPr>
              <a:t>CANCELADO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7306056" y="329184"/>
            <a:ext cx="235000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7379208" y="402336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1 Story · 9 itens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7379208" y="566928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A Fazer: 0 . Em progresso: 0 . Finalizados: 9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7379208" y="713232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Est: 27h . Real: 75.5h . Rem: 0h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7379208" y="859536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379208" y="859536"/>
            <a:ext cx="2203704" cy="502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379208" y="914400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Stories/NFTs: 100% · 1 de 1</a:t>
            </a:r>
            <a:endParaRPr lang="en-US" sz="650" dirty="0"/>
          </a:p>
        </p:txBody>
      </p:sp>
      <p:sp>
        <p:nvSpPr>
          <p:cNvPr id="62" name="Shape 60"/>
          <p:cNvSpPr/>
          <p:nvPr/>
        </p:nvSpPr>
        <p:spPr>
          <a:xfrm>
            <a:off x="7379208" y="1033272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379208" y="1033272"/>
            <a:ext cx="2203704" cy="502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379208" y="1088136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Subs: 100% · 9 de 9</a:t>
            </a:r>
            <a:endParaRPr lang="en-US" sz="650" dirty="0"/>
          </a:p>
        </p:txBody>
      </p:sp>
      <p:sp>
        <p:nvSpPr>
          <p:cNvPr id="65" name="Text 63"/>
          <p:cNvSpPr/>
          <p:nvPr/>
        </p:nvSpPr>
        <p:spPr>
          <a:xfrm>
            <a:off x="7379208" y="1234440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C2626"/>
                </a:solidFill>
              </a:rPr>
              <a:t>Projetado: 75.5h (+48.5h / +180%)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9738360" y="73152"/>
            <a:ext cx="2350008" cy="256032"/>
          </a:xfrm>
          <a:prstGeom prst="rect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9738360" y="73152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OBSERVABILIDADE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9738360" y="329184"/>
            <a:ext cx="235000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69" name="Text 67"/>
          <p:cNvSpPr/>
          <p:nvPr/>
        </p:nvSpPr>
        <p:spPr>
          <a:xfrm>
            <a:off x="9811512" y="402336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17 Stories · 120 itens</a:t>
            </a:r>
            <a:endParaRPr lang="en-US" sz="750" dirty="0"/>
          </a:p>
        </p:txBody>
      </p:sp>
      <p:sp>
        <p:nvSpPr>
          <p:cNvPr id="70" name="Text 68"/>
          <p:cNvSpPr/>
          <p:nvPr/>
        </p:nvSpPr>
        <p:spPr>
          <a:xfrm>
            <a:off x="9811512" y="566928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A Fazer: 27 . Em progresso: 5 . Finalizados: 88</a:t>
            </a:r>
            <a:endParaRPr lang="en-US" sz="750" dirty="0"/>
          </a:p>
        </p:txBody>
      </p:sp>
      <p:sp>
        <p:nvSpPr>
          <p:cNvPr id="71" name="Text 69"/>
          <p:cNvSpPr/>
          <p:nvPr/>
        </p:nvSpPr>
        <p:spPr>
          <a:xfrm>
            <a:off x="9811512" y="713232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Est: 497.5h . Real: 255.8h . Rem: 111h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9811512" y="859536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9811512" y="859536"/>
            <a:ext cx="0" cy="50292"/>
          </a:xfrm>
          <a:prstGeom prst="rect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9811512" y="914400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Stories/NFTs: 0% · 0 de 17</a:t>
            </a:r>
            <a:endParaRPr lang="en-US" sz="650" dirty="0"/>
          </a:p>
        </p:txBody>
      </p:sp>
      <p:sp>
        <p:nvSpPr>
          <p:cNvPr id="75" name="Shape 73"/>
          <p:cNvSpPr/>
          <p:nvPr/>
        </p:nvSpPr>
        <p:spPr>
          <a:xfrm>
            <a:off x="9811512" y="1033272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9811512" y="1033272"/>
            <a:ext cx="1608704" cy="50292"/>
          </a:xfrm>
          <a:prstGeom prst="rect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9811512" y="1088136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Subs: 73% · 88 de 120</a:t>
            </a:r>
            <a:endParaRPr lang="en-US" sz="650" dirty="0"/>
          </a:p>
        </p:txBody>
      </p:sp>
      <p:sp>
        <p:nvSpPr>
          <p:cNvPr id="78" name="Text 76"/>
          <p:cNvSpPr/>
          <p:nvPr/>
        </p:nvSpPr>
        <p:spPr>
          <a:xfrm>
            <a:off x="9811512" y="1234440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D9E75"/>
                </a:solidFill>
              </a:rPr>
              <a:t>Projetado: 366.8h (-130.7h / -26%)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2441448" y="2121408"/>
            <a:ext cx="9646920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80" name="Text 78"/>
          <p:cNvSpPr/>
          <p:nvPr/>
        </p:nvSpPr>
        <p:spPr>
          <a:xfrm>
            <a:off x="2532888" y="2176272"/>
            <a:ext cx="9464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spc="200" kern="0" dirty="0">
                <a:solidFill>
                  <a:srgbClr val="888888"/>
                </a:solidFill>
              </a:rPr>
              <a:t>HORAS - ESTIMADO vs. PROJETADO</a:t>
            </a:r>
            <a:endParaRPr lang="en-US" sz="700" dirty="0"/>
          </a:p>
        </p:txBody>
      </p:sp>
      <p:sp>
        <p:nvSpPr>
          <p:cNvPr id="81" name="Text 79"/>
          <p:cNvSpPr/>
          <p:nvPr/>
        </p:nvSpPr>
        <p:spPr>
          <a:xfrm>
            <a:off x="2532888" y="2322576"/>
            <a:ext cx="22288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00" kern="0" dirty="0">
                <a:solidFill>
                  <a:srgbClr val="888888"/>
                </a:solidFill>
              </a:rPr>
              <a:t>PLANEJADO</a:t>
            </a:r>
            <a:endParaRPr lang="en-US" sz="700" dirty="0"/>
          </a:p>
        </p:txBody>
      </p:sp>
      <p:sp>
        <p:nvSpPr>
          <p:cNvPr id="82" name="Text 80"/>
          <p:cNvSpPr/>
          <p:nvPr/>
        </p:nvSpPr>
        <p:spPr>
          <a:xfrm>
            <a:off x="2532888" y="2450592"/>
            <a:ext cx="22288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</a:rPr>
              <a:t>1251h</a:t>
            </a:r>
            <a:endParaRPr lang="en-US" sz="2400" dirty="0"/>
          </a:p>
        </p:txBody>
      </p:sp>
      <p:sp>
        <p:nvSpPr>
          <p:cNvPr id="83" name="Text 81"/>
          <p:cNvSpPr/>
          <p:nvPr/>
        </p:nvSpPr>
        <p:spPr>
          <a:xfrm>
            <a:off x="2532888" y="2779776"/>
            <a:ext cx="222885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original estimate</a:t>
            </a:r>
            <a:endParaRPr lang="en-US" sz="700" dirty="0"/>
          </a:p>
        </p:txBody>
      </p:sp>
      <p:sp>
        <p:nvSpPr>
          <p:cNvPr id="84" name="Shape 82"/>
          <p:cNvSpPr/>
          <p:nvPr/>
        </p:nvSpPr>
        <p:spPr>
          <a:xfrm>
            <a:off x="4853178" y="2322576"/>
            <a:ext cx="9144" cy="603504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944618" y="2322576"/>
            <a:ext cx="22288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00" kern="0" dirty="0">
                <a:solidFill>
                  <a:srgbClr val="888888"/>
                </a:solidFill>
              </a:rPr>
              <a:t>JA GASTO</a:t>
            </a:r>
            <a:endParaRPr lang="en-US" sz="700" dirty="0"/>
          </a:p>
        </p:txBody>
      </p:sp>
      <p:sp>
        <p:nvSpPr>
          <p:cNvPr id="86" name="Text 84"/>
          <p:cNvSpPr/>
          <p:nvPr/>
        </p:nvSpPr>
        <p:spPr>
          <a:xfrm>
            <a:off x="4944618" y="2450592"/>
            <a:ext cx="22288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97706"/>
                </a:solidFill>
              </a:rPr>
              <a:t>1268.4h</a:t>
            </a:r>
            <a:endParaRPr lang="en-US" sz="2400" dirty="0"/>
          </a:p>
        </p:txBody>
      </p:sp>
      <p:sp>
        <p:nvSpPr>
          <p:cNvPr id="87" name="Text 85"/>
          <p:cNvSpPr/>
          <p:nvPr/>
        </p:nvSpPr>
        <p:spPr>
          <a:xfrm>
            <a:off x="4944618" y="2779776"/>
            <a:ext cx="222885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completed work</a:t>
            </a:r>
            <a:endParaRPr lang="en-US" sz="700" dirty="0"/>
          </a:p>
        </p:txBody>
      </p:sp>
      <p:sp>
        <p:nvSpPr>
          <p:cNvPr id="88" name="Shape 86"/>
          <p:cNvSpPr/>
          <p:nvPr/>
        </p:nvSpPr>
        <p:spPr>
          <a:xfrm>
            <a:off x="7264908" y="2322576"/>
            <a:ext cx="9144" cy="603504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7356348" y="2322576"/>
            <a:ext cx="22288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00" kern="0" dirty="0">
                <a:solidFill>
                  <a:srgbClr val="888888"/>
                </a:solidFill>
              </a:rPr>
              <a:t>FALTA</a:t>
            </a:r>
            <a:endParaRPr lang="en-US" sz="700" dirty="0"/>
          </a:p>
        </p:txBody>
      </p:sp>
      <p:sp>
        <p:nvSpPr>
          <p:cNvPr id="90" name="Text 88"/>
          <p:cNvSpPr/>
          <p:nvPr/>
        </p:nvSpPr>
        <p:spPr>
          <a:xfrm>
            <a:off x="7356348" y="2450592"/>
            <a:ext cx="22288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87171"/>
                </a:solidFill>
              </a:rPr>
              <a:t>139.5h</a:t>
            </a:r>
            <a:endParaRPr lang="en-US" sz="2400" dirty="0"/>
          </a:p>
        </p:txBody>
      </p:sp>
      <p:sp>
        <p:nvSpPr>
          <p:cNvPr id="91" name="Text 89"/>
          <p:cNvSpPr/>
          <p:nvPr/>
        </p:nvSpPr>
        <p:spPr>
          <a:xfrm>
            <a:off x="7356348" y="2779776"/>
            <a:ext cx="222885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remaining (devs)</a:t>
            </a:r>
            <a:endParaRPr lang="en-US" sz="700" dirty="0"/>
          </a:p>
        </p:txBody>
      </p:sp>
      <p:sp>
        <p:nvSpPr>
          <p:cNvPr id="92" name="Shape 90"/>
          <p:cNvSpPr/>
          <p:nvPr/>
        </p:nvSpPr>
        <p:spPr>
          <a:xfrm>
            <a:off x="9676638" y="2322576"/>
            <a:ext cx="9144" cy="603504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9768078" y="2322576"/>
            <a:ext cx="22288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00" kern="0" dirty="0">
                <a:solidFill>
                  <a:srgbClr val="888888"/>
                </a:solidFill>
              </a:rPr>
              <a:t>AUMENTO DE ESFORCO</a:t>
            </a:r>
            <a:endParaRPr lang="en-US" sz="700" dirty="0"/>
          </a:p>
        </p:txBody>
      </p:sp>
      <p:sp>
        <p:nvSpPr>
          <p:cNvPr id="94" name="Text 92"/>
          <p:cNvSpPr/>
          <p:nvPr/>
        </p:nvSpPr>
        <p:spPr>
          <a:xfrm>
            <a:off x="9768078" y="2450592"/>
            <a:ext cx="22288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97706"/>
                </a:solidFill>
              </a:rPr>
              <a:t>+156.9h</a:t>
            </a:r>
            <a:endParaRPr lang="en-US" sz="2400" dirty="0"/>
          </a:p>
        </p:txBody>
      </p:sp>
      <p:sp>
        <p:nvSpPr>
          <p:cNvPr id="95" name="Text 93"/>
          <p:cNvSpPr/>
          <p:nvPr/>
        </p:nvSpPr>
        <p:spPr>
          <a:xfrm>
            <a:off x="9768078" y="2779776"/>
            <a:ext cx="222885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projetado: 1407.9h (+13%)</a:t>
            </a:r>
            <a:endParaRPr lang="en-US" sz="700" dirty="0"/>
          </a:p>
        </p:txBody>
      </p:sp>
      <p:sp>
        <p:nvSpPr>
          <p:cNvPr id="96" name="Shape 94"/>
          <p:cNvSpPr/>
          <p:nvPr/>
        </p:nvSpPr>
        <p:spPr>
          <a:xfrm>
            <a:off x="2441448" y="2916936"/>
            <a:ext cx="8691067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11132515" y="2916936"/>
            <a:ext cx="955853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2441448" y="3008376"/>
            <a:ext cx="477774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99" name="Text 97"/>
          <p:cNvSpPr/>
          <p:nvPr/>
        </p:nvSpPr>
        <p:spPr>
          <a:xfrm>
            <a:off x="2551176" y="3081528"/>
            <a:ext cx="40096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937"/>
                </a:solidFill>
              </a:rPr>
              <a:t>Entrega 1 · Resiliencia Sistemica</a:t>
            </a:r>
            <a:endParaRPr lang="en-US" sz="800" dirty="0"/>
          </a:p>
        </p:txBody>
      </p:sp>
      <p:sp>
        <p:nvSpPr>
          <p:cNvPr id="100" name="Shape 98"/>
          <p:cNvSpPr/>
          <p:nvPr/>
        </p:nvSpPr>
        <p:spPr>
          <a:xfrm>
            <a:off x="6560820" y="3072384"/>
            <a:ext cx="566928" cy="182880"/>
          </a:xfrm>
          <a:prstGeom prst="rect">
            <a:avLst>
              <a:gd name="adj" fmla="val 40000"/>
            </a:avLst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6560820" y="3072384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6E56"/>
                </a:solidFill>
              </a:rPr>
              <a:t>93% concluido</a:t>
            </a:r>
            <a:endParaRPr lang="en-US" sz="650" dirty="0"/>
          </a:p>
        </p:txBody>
      </p:sp>
      <p:sp>
        <p:nvSpPr>
          <p:cNvPr id="102" name="Shape 100"/>
          <p:cNvSpPr/>
          <p:nvPr/>
        </p:nvSpPr>
        <p:spPr>
          <a:xfrm>
            <a:off x="2551176" y="3291840"/>
            <a:ext cx="4558284" cy="64008"/>
          </a:xfrm>
          <a:prstGeom prst="rect">
            <a:avLst/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2551176" y="3291840"/>
            <a:ext cx="4239204" cy="6400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2551176" y="3410712"/>
            <a:ext cx="1482852" cy="20116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2551176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PROJETADO</a:t>
            </a:r>
            <a:endParaRPr lang="en-US" sz="650" dirty="0"/>
          </a:p>
        </p:txBody>
      </p:sp>
      <p:sp>
        <p:nvSpPr>
          <p:cNvPr id="106" name="Text 104"/>
          <p:cNvSpPr/>
          <p:nvPr/>
        </p:nvSpPr>
        <p:spPr>
          <a:xfrm>
            <a:off x="2551176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9E75"/>
                </a:solidFill>
              </a:rPr>
              <a:t>26/06/2026</a:t>
            </a:r>
            <a:endParaRPr lang="en-US" sz="1050" dirty="0"/>
          </a:p>
        </p:txBody>
      </p:sp>
      <p:sp>
        <p:nvSpPr>
          <p:cNvPr id="107" name="Shape 105"/>
          <p:cNvSpPr/>
          <p:nvPr/>
        </p:nvSpPr>
        <p:spPr>
          <a:xfrm>
            <a:off x="4070604" y="3410712"/>
            <a:ext cx="1482852" cy="2011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4070604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BASE</a:t>
            </a:r>
            <a:endParaRPr lang="en-US" sz="650" dirty="0"/>
          </a:p>
        </p:txBody>
      </p:sp>
      <p:sp>
        <p:nvSpPr>
          <p:cNvPr id="109" name="Text 107"/>
          <p:cNvSpPr/>
          <p:nvPr/>
        </p:nvSpPr>
        <p:spPr>
          <a:xfrm>
            <a:off x="4070604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7706"/>
                </a:solidFill>
              </a:rPr>
              <a:t>15/05/2026</a:t>
            </a:r>
            <a:endParaRPr lang="en-US" sz="1050" dirty="0"/>
          </a:p>
        </p:txBody>
      </p:sp>
      <p:sp>
        <p:nvSpPr>
          <p:cNvPr id="110" name="Shape 108"/>
          <p:cNvSpPr/>
          <p:nvPr/>
        </p:nvSpPr>
        <p:spPr>
          <a:xfrm>
            <a:off x="5590032" y="3410712"/>
            <a:ext cx="1482852" cy="2011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5590032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PESSIMISTA</a:t>
            </a:r>
            <a:endParaRPr lang="en-US" sz="650" dirty="0"/>
          </a:p>
        </p:txBody>
      </p:sp>
      <p:sp>
        <p:nvSpPr>
          <p:cNvPr id="112" name="Text 110"/>
          <p:cNvSpPr/>
          <p:nvPr/>
        </p:nvSpPr>
        <p:spPr>
          <a:xfrm>
            <a:off x="5590032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C2626"/>
                </a:solidFill>
              </a:rPr>
              <a:t>29/05/2026</a:t>
            </a:r>
            <a:endParaRPr lang="en-US" sz="1050" dirty="0"/>
          </a:p>
        </p:txBody>
      </p:sp>
      <p:sp>
        <p:nvSpPr>
          <p:cNvPr id="113" name="Shape 111"/>
          <p:cNvSpPr/>
          <p:nvPr/>
        </p:nvSpPr>
        <p:spPr>
          <a:xfrm>
            <a:off x="7310628" y="3008376"/>
            <a:ext cx="477774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14" name="Text 112"/>
          <p:cNvSpPr/>
          <p:nvPr/>
        </p:nvSpPr>
        <p:spPr>
          <a:xfrm>
            <a:off x="7420356" y="3081528"/>
            <a:ext cx="40096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937"/>
                </a:solidFill>
              </a:rPr>
              <a:t>Entrega 2 · Observabilidade</a:t>
            </a:r>
            <a:endParaRPr lang="en-US" sz="800" dirty="0"/>
          </a:p>
        </p:txBody>
      </p:sp>
      <p:sp>
        <p:nvSpPr>
          <p:cNvPr id="115" name="Shape 113"/>
          <p:cNvSpPr/>
          <p:nvPr/>
        </p:nvSpPr>
        <p:spPr>
          <a:xfrm>
            <a:off x="11430000" y="3072384"/>
            <a:ext cx="566928" cy="182880"/>
          </a:xfrm>
          <a:prstGeom prst="rect">
            <a:avLst>
              <a:gd name="adj" fmla="val 40000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11430000" y="3072384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991B1B"/>
                </a:solidFill>
              </a:rPr>
              <a:t>73% concluido</a:t>
            </a:r>
            <a:endParaRPr lang="en-US" sz="650" dirty="0"/>
          </a:p>
        </p:txBody>
      </p:sp>
      <p:sp>
        <p:nvSpPr>
          <p:cNvPr id="117" name="Shape 115"/>
          <p:cNvSpPr/>
          <p:nvPr/>
        </p:nvSpPr>
        <p:spPr>
          <a:xfrm>
            <a:off x="7420356" y="3291840"/>
            <a:ext cx="4558284" cy="64008"/>
          </a:xfrm>
          <a:prstGeom prst="rect">
            <a:avLst/>
          </a:prstGeom>
          <a:solidFill>
            <a:srgbClr val="E6F1FB"/>
          </a:solidFill>
          <a:ln w="12700">
            <a:solidFill>
              <a:srgbClr val="E6F1FB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7420356" y="3291840"/>
            <a:ext cx="3327547" cy="64008"/>
          </a:xfrm>
          <a:prstGeom prst="rect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7420356" y="3410712"/>
            <a:ext cx="1482852" cy="20116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7420356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PROJETADO</a:t>
            </a:r>
            <a:endParaRPr lang="en-US" sz="650" dirty="0"/>
          </a:p>
        </p:txBody>
      </p:sp>
      <p:sp>
        <p:nvSpPr>
          <p:cNvPr id="121" name="Text 119"/>
          <p:cNvSpPr/>
          <p:nvPr/>
        </p:nvSpPr>
        <p:spPr>
          <a:xfrm>
            <a:off x="7420356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9E75"/>
                </a:solidFill>
              </a:rPr>
              <a:t>03/07/2026</a:t>
            </a:r>
            <a:endParaRPr lang="en-US" sz="1050" dirty="0"/>
          </a:p>
        </p:txBody>
      </p:sp>
      <p:sp>
        <p:nvSpPr>
          <p:cNvPr id="122" name="Shape 120"/>
          <p:cNvSpPr/>
          <p:nvPr/>
        </p:nvSpPr>
        <p:spPr>
          <a:xfrm>
            <a:off x="8939784" y="3410712"/>
            <a:ext cx="1482852" cy="2011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8939784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BASE</a:t>
            </a:r>
            <a:endParaRPr lang="en-US" sz="650" dirty="0"/>
          </a:p>
        </p:txBody>
      </p:sp>
      <p:sp>
        <p:nvSpPr>
          <p:cNvPr id="124" name="Text 122"/>
          <p:cNvSpPr/>
          <p:nvPr/>
        </p:nvSpPr>
        <p:spPr>
          <a:xfrm>
            <a:off x="8939784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7706"/>
                </a:solidFill>
              </a:rPr>
              <a:t>29/05/2026</a:t>
            </a:r>
            <a:endParaRPr lang="en-US" sz="1050" dirty="0"/>
          </a:p>
        </p:txBody>
      </p:sp>
      <p:sp>
        <p:nvSpPr>
          <p:cNvPr id="125" name="Shape 123"/>
          <p:cNvSpPr/>
          <p:nvPr/>
        </p:nvSpPr>
        <p:spPr>
          <a:xfrm>
            <a:off x="10459212" y="3410712"/>
            <a:ext cx="1482852" cy="2011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10459212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PESSIMISTA</a:t>
            </a:r>
            <a:endParaRPr lang="en-US" sz="650" dirty="0"/>
          </a:p>
        </p:txBody>
      </p:sp>
      <p:sp>
        <p:nvSpPr>
          <p:cNvPr id="127" name="Text 125"/>
          <p:cNvSpPr/>
          <p:nvPr/>
        </p:nvSpPr>
        <p:spPr>
          <a:xfrm>
            <a:off x="10459212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C2626"/>
                </a:solidFill>
              </a:rPr>
              <a:t>12/06/2026</a:t>
            </a:r>
            <a:endParaRPr lang="en-US" sz="1050" dirty="0"/>
          </a:p>
        </p:txBody>
      </p:sp>
      <p:sp>
        <p:nvSpPr>
          <p:cNvPr id="128" name="Shape 126"/>
          <p:cNvSpPr/>
          <p:nvPr/>
        </p:nvSpPr>
        <p:spPr>
          <a:xfrm>
            <a:off x="2441448" y="3913632"/>
            <a:ext cx="96469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29" name="Text 127"/>
          <p:cNvSpPr/>
          <p:nvPr/>
        </p:nvSpPr>
        <p:spPr>
          <a:xfrm>
            <a:off x="2532888" y="3968496"/>
            <a:ext cx="9464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spc="200" kern="0" dirty="0">
                <a:solidFill>
                  <a:srgbClr val="888888"/>
                </a:solidFill>
              </a:rPr>
              <a:t>EFICIENCIA DA ENTREGA</a:t>
            </a:r>
            <a:endParaRPr lang="en-US" sz="700" dirty="0"/>
          </a:p>
        </p:txBody>
      </p:sp>
      <p:sp>
        <p:nvSpPr>
          <p:cNvPr id="130" name="Text 128"/>
          <p:cNvSpPr/>
          <p:nvPr/>
        </p:nvSpPr>
        <p:spPr>
          <a:xfrm>
            <a:off x="2532888" y="4059936"/>
            <a:ext cx="22288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85A30"/>
                </a:solidFill>
              </a:rPr>
              <a:t>17.4%</a:t>
            </a:r>
            <a:endParaRPr lang="en-US" sz="2200" dirty="0"/>
          </a:p>
        </p:txBody>
      </p:sp>
      <p:sp>
        <p:nvSpPr>
          <p:cNvPr id="131" name="Text 129"/>
          <p:cNvSpPr/>
          <p:nvPr/>
        </p:nvSpPr>
        <p:spPr>
          <a:xfrm>
            <a:off x="2532888" y="4389120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</a:rPr>
              <a:t>Itens Estourados</a:t>
            </a:r>
            <a:endParaRPr lang="en-US" sz="800" dirty="0"/>
          </a:p>
        </p:txBody>
      </p:sp>
      <p:sp>
        <p:nvSpPr>
          <p:cNvPr id="132" name="Text 130"/>
          <p:cNvSpPr/>
          <p:nvPr/>
        </p:nvSpPr>
        <p:spPr>
          <a:xfrm>
            <a:off x="2532888" y="4553712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das subs com estimativa</a:t>
            </a:r>
            <a:endParaRPr lang="en-US" sz="700" dirty="0"/>
          </a:p>
        </p:txBody>
      </p:sp>
      <p:sp>
        <p:nvSpPr>
          <p:cNvPr id="133" name="Shape 131"/>
          <p:cNvSpPr/>
          <p:nvPr/>
        </p:nvSpPr>
        <p:spPr>
          <a:xfrm>
            <a:off x="4853178" y="4059936"/>
            <a:ext cx="9144" cy="6217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4944618" y="4059936"/>
            <a:ext cx="22288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34AB7"/>
                </a:solidFill>
              </a:rPr>
              <a:t>11.3%</a:t>
            </a:r>
            <a:endParaRPr lang="en-US" sz="2200" dirty="0"/>
          </a:p>
        </p:txBody>
      </p:sp>
      <p:sp>
        <p:nvSpPr>
          <p:cNvPr id="135" name="Text 133"/>
          <p:cNvSpPr/>
          <p:nvPr/>
        </p:nvSpPr>
        <p:spPr>
          <a:xfrm>
            <a:off x="4944618" y="4389120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</a:rPr>
              <a:t>Retrabalho Registrado</a:t>
            </a:r>
            <a:endParaRPr lang="en-US" sz="800" dirty="0"/>
          </a:p>
        </p:txBody>
      </p:sp>
      <p:sp>
        <p:nvSpPr>
          <p:cNvPr id="136" name="Text 134"/>
          <p:cNvSpPr/>
          <p:nvPr/>
        </p:nvSpPr>
        <p:spPr>
          <a:xfrm>
            <a:off x="4944618" y="4553712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26 Sub Bug (ADO) · 136.8h</a:t>
            </a:r>
            <a:endParaRPr lang="en-US" sz="700" dirty="0"/>
          </a:p>
        </p:txBody>
      </p:sp>
      <p:sp>
        <p:nvSpPr>
          <p:cNvPr id="137" name="Shape 135"/>
          <p:cNvSpPr/>
          <p:nvPr/>
        </p:nvSpPr>
        <p:spPr>
          <a:xfrm>
            <a:off x="7264908" y="4059936"/>
            <a:ext cx="9144" cy="6217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7356348" y="4059936"/>
            <a:ext cx="22288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C2626"/>
                </a:solidFill>
              </a:rPr>
              <a:t>36</a:t>
            </a:r>
            <a:endParaRPr lang="en-US" sz="2200" dirty="0"/>
          </a:p>
        </p:txBody>
      </p:sp>
      <p:sp>
        <p:nvSpPr>
          <p:cNvPr id="139" name="Text 137"/>
          <p:cNvSpPr/>
          <p:nvPr/>
        </p:nvSpPr>
        <p:spPr>
          <a:xfrm>
            <a:off x="7356348" y="4389120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</a:rPr>
              <a:t>Retrabalho Oculto</a:t>
            </a:r>
            <a:endParaRPr lang="en-US" sz="800" dirty="0"/>
          </a:p>
        </p:txBody>
      </p:sp>
      <p:sp>
        <p:nvSpPr>
          <p:cNvPr id="140" name="Text 138"/>
          <p:cNvSpPr/>
          <p:nvPr/>
        </p:nvSpPr>
        <p:spPr>
          <a:xfrm>
            <a:off x="7356348" y="4553712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fixes sem card no Git · 46% do time com card</a:t>
            </a:r>
            <a:endParaRPr lang="en-US" sz="700" dirty="0"/>
          </a:p>
        </p:txBody>
      </p:sp>
      <p:sp>
        <p:nvSpPr>
          <p:cNvPr id="141" name="Shape 139"/>
          <p:cNvSpPr/>
          <p:nvPr/>
        </p:nvSpPr>
        <p:spPr>
          <a:xfrm>
            <a:off x="9676638" y="4059936"/>
            <a:ext cx="9144" cy="6217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9768078" y="4059936"/>
            <a:ext cx="22288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D9E75"/>
                </a:solidFill>
              </a:rPr>
              <a:t>82.6%</a:t>
            </a:r>
            <a:endParaRPr lang="en-US" sz="2200" dirty="0"/>
          </a:p>
        </p:txBody>
      </p:sp>
      <p:sp>
        <p:nvSpPr>
          <p:cNvPr id="143" name="Text 141"/>
          <p:cNvSpPr/>
          <p:nvPr/>
        </p:nvSpPr>
        <p:spPr>
          <a:xfrm>
            <a:off x="9768078" y="4389120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</a:rPr>
              <a:t>Dentro da Estimativa</a:t>
            </a:r>
            <a:endParaRPr lang="en-US" sz="800" dirty="0"/>
          </a:p>
        </p:txBody>
      </p:sp>
      <p:sp>
        <p:nvSpPr>
          <p:cNvPr id="144" name="Text 142"/>
          <p:cNvSpPr/>
          <p:nvPr/>
        </p:nvSpPr>
        <p:spPr>
          <a:xfrm>
            <a:off x="9768078" y="4553712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entregues dentro do planejado</a:t>
            </a:r>
            <a:endParaRPr lang="en-US" sz="700" dirty="0"/>
          </a:p>
        </p:txBody>
      </p:sp>
      <p:sp>
        <p:nvSpPr>
          <p:cNvPr id="145" name="Text 143"/>
          <p:cNvSpPr/>
          <p:nvPr/>
        </p:nvSpPr>
        <p:spPr>
          <a:xfrm>
            <a:off x="2441448" y="4754880"/>
            <a:ext cx="9646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spc="300" kern="0" dirty="0">
                <a:solidFill>
                  <a:srgbClr val="888888"/>
                </a:solidFill>
              </a:rPr>
              <a:t>R I S C O S</a:t>
            </a:r>
            <a:endParaRPr lang="en-US" sz="650" dirty="0"/>
          </a:p>
        </p:txBody>
      </p:sp>
      <p:sp>
        <p:nvSpPr>
          <p:cNvPr id="146" name="Shape 144"/>
          <p:cNvSpPr/>
          <p:nvPr/>
        </p:nvSpPr>
        <p:spPr>
          <a:xfrm>
            <a:off x="2441448" y="4873752"/>
            <a:ext cx="2350008" cy="877824"/>
          </a:xfrm>
          <a:prstGeom prst="rect">
            <a:avLst/>
          </a:prstGeom>
          <a:solidFill>
            <a:srgbClr val="F0FDF4"/>
          </a:solidFill>
          <a:ln w="12700">
            <a:solidFill>
              <a:srgbClr val="1D9E75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47" name="Text 145"/>
          <p:cNvSpPr/>
          <p:nvPr/>
        </p:nvSpPr>
        <p:spPr>
          <a:xfrm>
            <a:off x="2514600" y="4937760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D9E75"/>
                </a:solidFill>
              </a:rPr>
              <a:t>SEM RISCO</a:t>
            </a:r>
            <a:endParaRPr lang="en-US" sz="700" dirty="0"/>
          </a:p>
        </p:txBody>
      </p:sp>
      <p:sp>
        <p:nvSpPr>
          <p:cNvPr id="148" name="Shape 146"/>
          <p:cNvSpPr/>
          <p:nvPr/>
        </p:nvSpPr>
        <p:spPr>
          <a:xfrm>
            <a:off x="4261104" y="4928616"/>
            <a:ext cx="475488" cy="29260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49" name="Text 147"/>
          <p:cNvSpPr/>
          <p:nvPr/>
        </p:nvSpPr>
        <p:spPr>
          <a:xfrm>
            <a:off x="4261104" y="4928616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0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riscos</a:t>
            </a:r>
            <a:endParaRPr lang="en-US" sz="650" dirty="0"/>
          </a:p>
        </p:txBody>
      </p:sp>
      <p:sp>
        <p:nvSpPr>
          <p:cNvPr id="150" name="Text 148"/>
          <p:cNvSpPr/>
          <p:nvPr/>
        </p:nvSpPr>
        <p:spPr>
          <a:xfrm>
            <a:off x="2514600" y="5184648"/>
            <a:ext cx="2203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Nenhum estouro ou refinamento pendente</a:t>
            </a:r>
            <a:endParaRPr lang="en-US" sz="750" dirty="0"/>
          </a:p>
        </p:txBody>
      </p:sp>
      <p:sp>
        <p:nvSpPr>
          <p:cNvPr id="151" name="Text 149"/>
          <p:cNvSpPr/>
          <p:nvPr/>
        </p:nvSpPr>
        <p:spPr>
          <a:xfrm>
            <a:off x="2514600" y="5367528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750" dirty="0"/>
          </a:p>
        </p:txBody>
      </p:sp>
      <p:sp>
        <p:nvSpPr>
          <p:cNvPr id="152" name="Shape 150"/>
          <p:cNvSpPr/>
          <p:nvPr/>
        </p:nvSpPr>
        <p:spPr>
          <a:xfrm>
            <a:off x="4873752" y="4873752"/>
            <a:ext cx="2350008" cy="877824"/>
          </a:xfrm>
          <a:prstGeom prst="rect">
            <a:avLst/>
          </a:prstGeom>
          <a:solidFill>
            <a:srgbClr val="F5F3FF"/>
          </a:solidFill>
          <a:ln w="12700">
            <a:solidFill>
              <a:srgbClr val="6B3FA0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53" name="Text 151"/>
          <p:cNvSpPr/>
          <p:nvPr/>
        </p:nvSpPr>
        <p:spPr>
          <a:xfrm>
            <a:off x="4946904" y="4937760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6B3FA0"/>
                </a:solidFill>
              </a:rPr>
              <a:t>ATENCAO · Janela de Entrega</a:t>
            </a:r>
            <a:endParaRPr lang="en-US" sz="700" dirty="0"/>
          </a:p>
        </p:txBody>
      </p:sp>
      <p:sp>
        <p:nvSpPr>
          <p:cNvPr id="154" name="Shape 152"/>
          <p:cNvSpPr/>
          <p:nvPr/>
        </p:nvSpPr>
        <p:spPr>
          <a:xfrm>
            <a:off x="6693408" y="4928616"/>
            <a:ext cx="475488" cy="292608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55" name="Text 153"/>
          <p:cNvSpPr/>
          <p:nvPr/>
        </p:nvSpPr>
        <p:spPr>
          <a:xfrm>
            <a:off x="6693408" y="4928616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~7 dias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uteis</a:t>
            </a:r>
            <a:endParaRPr lang="en-US" sz="650" dirty="0"/>
          </a:p>
        </p:txBody>
      </p:sp>
      <p:sp>
        <p:nvSpPr>
          <p:cNvPr id="156" name="Text 154"/>
          <p:cNvSpPr/>
          <p:nvPr/>
        </p:nvSpPr>
        <p:spPr>
          <a:xfrm>
            <a:off x="4946904" y="5184648"/>
            <a:ext cx="2203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Observabilidade: Proj 03/07/2026 · Base 29/05/2026</a:t>
            </a:r>
            <a:endParaRPr lang="en-US" sz="750" dirty="0"/>
          </a:p>
        </p:txBody>
      </p:sp>
      <p:sp>
        <p:nvSpPr>
          <p:cNvPr id="157" name="Text 155"/>
          <p:cNvSpPr/>
          <p:nvPr/>
        </p:nvSpPr>
        <p:spPr>
          <a:xfrm>
            <a:off x="4946904" y="5367528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750" dirty="0"/>
          </a:p>
        </p:txBody>
      </p:sp>
      <p:sp>
        <p:nvSpPr>
          <p:cNvPr id="158" name="Shape 156"/>
          <p:cNvSpPr/>
          <p:nvPr/>
        </p:nvSpPr>
        <p:spPr>
          <a:xfrm>
            <a:off x="7306056" y="4873752"/>
            <a:ext cx="2350008" cy="877824"/>
          </a:xfrm>
          <a:prstGeom prst="rect">
            <a:avLst/>
          </a:prstGeom>
          <a:solidFill>
            <a:srgbClr val="FFF1F2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59" name="Text 157"/>
          <p:cNvSpPr/>
          <p:nvPr/>
        </p:nvSpPr>
        <p:spPr>
          <a:xfrm>
            <a:off x="7379208" y="4937760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DC2626"/>
                </a:solidFill>
              </a:rPr>
              <a:t>BUG / SUSTENTACAO</a:t>
            </a:r>
            <a:endParaRPr lang="en-US" sz="700" dirty="0"/>
          </a:p>
        </p:txBody>
      </p:sp>
      <p:sp>
        <p:nvSpPr>
          <p:cNvPr id="160" name="Shape 158"/>
          <p:cNvSpPr/>
          <p:nvPr/>
        </p:nvSpPr>
        <p:spPr>
          <a:xfrm>
            <a:off x="9125712" y="4928616"/>
            <a:ext cx="475488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1" name="Text 159"/>
          <p:cNvSpPr/>
          <p:nvPr/>
        </p:nvSpPr>
        <p:spPr>
          <a:xfrm>
            <a:off x="9125712" y="4928616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106.3h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realizadas</a:t>
            </a:r>
            <a:endParaRPr lang="en-US" sz="650" dirty="0"/>
          </a:p>
        </p:txBody>
      </p:sp>
      <p:sp>
        <p:nvSpPr>
          <p:cNvPr id="162" name="Text 160"/>
          <p:cNvSpPr/>
          <p:nvPr/>
        </p:nvSpPr>
        <p:spPr>
          <a:xfrm>
            <a:off x="7379208" y="5184648"/>
            <a:ext cx="2203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7 Bugs · 6 SRs no periodo</a:t>
            </a:r>
            <a:endParaRPr lang="en-US" sz="750" dirty="0"/>
          </a:p>
        </p:txBody>
      </p:sp>
      <p:sp>
        <p:nvSpPr>
          <p:cNvPr id="163" name="Text 161"/>
          <p:cNvSpPr/>
          <p:nvPr/>
        </p:nvSpPr>
        <p:spPr>
          <a:xfrm>
            <a:off x="7379208" y="5367528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Horas nao planejadas: 106.3h</a:t>
            </a:r>
            <a:endParaRPr lang="en-US" sz="750" dirty="0"/>
          </a:p>
        </p:txBody>
      </p:sp>
      <p:sp>
        <p:nvSpPr>
          <p:cNvPr id="164" name="Shape 162"/>
          <p:cNvSpPr/>
          <p:nvPr/>
        </p:nvSpPr>
        <p:spPr>
          <a:xfrm>
            <a:off x="9738360" y="4873752"/>
            <a:ext cx="2350008" cy="877824"/>
          </a:xfrm>
          <a:prstGeom prst="rect">
            <a:avLst/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65" name="Text 163"/>
          <p:cNvSpPr/>
          <p:nvPr/>
        </p:nvSpPr>
        <p:spPr>
          <a:xfrm>
            <a:off x="9811512" y="4937760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D97706"/>
                </a:solidFill>
              </a:rPr>
              <a:t>EXPANSAO DE ESCOPO</a:t>
            </a:r>
            <a:endParaRPr lang="en-US" sz="700" dirty="0"/>
          </a:p>
        </p:txBody>
      </p:sp>
      <p:sp>
        <p:nvSpPr>
          <p:cNvPr id="166" name="Shape 164"/>
          <p:cNvSpPr/>
          <p:nvPr/>
        </p:nvSpPr>
        <p:spPr>
          <a:xfrm>
            <a:off x="11558016" y="4928616"/>
            <a:ext cx="475488" cy="2926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7" name="Text 165"/>
          <p:cNvSpPr/>
          <p:nvPr/>
        </p:nvSpPr>
        <p:spPr>
          <a:xfrm>
            <a:off x="11558016" y="4928616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131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itens</a:t>
            </a:r>
            <a:endParaRPr lang="en-US" sz="650" dirty="0"/>
          </a:p>
        </p:txBody>
      </p:sp>
      <p:sp>
        <p:nvSpPr>
          <p:cNvPr id="168" name="Text 166"/>
          <p:cNvSpPr/>
          <p:nvPr/>
        </p:nvSpPr>
        <p:spPr>
          <a:xfrm>
            <a:off x="9811512" y="5184648"/>
            <a:ext cx="2203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131 itens criados pos 01/05</a:t>
            </a:r>
            <a:endParaRPr lang="en-US" sz="750" dirty="0"/>
          </a:p>
        </p:txBody>
      </p:sp>
      <p:sp>
        <p:nvSpPr>
          <p:cNvPr id="169" name="Text 167"/>
          <p:cNvSpPr/>
          <p:nvPr/>
        </p:nvSpPr>
        <p:spPr>
          <a:xfrm>
            <a:off x="9811512" y="5367528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Princ +55h · Redund +164h · Obs +18h</a:t>
            </a:r>
            <a:endParaRPr lang="en-US" sz="750" dirty="0"/>
          </a:p>
        </p:txBody>
      </p:sp>
      <p:sp>
        <p:nvSpPr>
          <p:cNvPr id="170" name="Shape 168"/>
          <p:cNvSpPr/>
          <p:nvPr/>
        </p:nvSpPr>
        <p:spPr>
          <a:xfrm>
            <a:off x="2441448" y="5797296"/>
            <a:ext cx="7214616" cy="73152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71" name="Text 169"/>
          <p:cNvSpPr/>
          <p:nvPr/>
        </p:nvSpPr>
        <p:spPr>
          <a:xfrm>
            <a:off x="2441448" y="5797296"/>
            <a:ext cx="72146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D E V S</a:t>
            </a:r>
            <a:endParaRPr lang="en-US" sz="700" dirty="0"/>
          </a:p>
        </p:txBody>
      </p:sp>
      <p:sp>
        <p:nvSpPr>
          <p:cNvPr id="172" name="Shape 170"/>
          <p:cNvSpPr/>
          <p:nvPr/>
        </p:nvSpPr>
        <p:spPr>
          <a:xfrm>
            <a:off x="9738360" y="5797296"/>
            <a:ext cx="1133856" cy="73152"/>
          </a:xfrm>
          <a:prstGeom prst="rect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173" name="Text 171"/>
          <p:cNvSpPr/>
          <p:nvPr/>
        </p:nvSpPr>
        <p:spPr>
          <a:xfrm>
            <a:off x="9738360" y="5797296"/>
            <a:ext cx="113385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Q A</a:t>
            </a:r>
            <a:endParaRPr lang="en-US" sz="700" dirty="0"/>
          </a:p>
        </p:txBody>
      </p:sp>
      <p:sp>
        <p:nvSpPr>
          <p:cNvPr id="174" name="Shape 172"/>
          <p:cNvSpPr/>
          <p:nvPr/>
        </p:nvSpPr>
        <p:spPr>
          <a:xfrm>
            <a:off x="10954512" y="5797296"/>
            <a:ext cx="1133856" cy="7315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75" name="Text 173"/>
          <p:cNvSpPr/>
          <p:nvPr/>
        </p:nvSpPr>
        <p:spPr>
          <a:xfrm>
            <a:off x="10954512" y="5797296"/>
            <a:ext cx="113385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LIDERANCA TECNICA</a:t>
            </a:r>
            <a:endParaRPr lang="en-US" sz="700" dirty="0"/>
          </a:p>
        </p:txBody>
      </p:sp>
      <p:sp>
        <p:nvSpPr>
          <p:cNvPr id="176" name="Shape 174"/>
          <p:cNvSpPr/>
          <p:nvPr/>
        </p:nvSpPr>
        <p:spPr>
          <a:xfrm>
            <a:off x="2441448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77" name="Text 175"/>
          <p:cNvSpPr/>
          <p:nvPr/>
        </p:nvSpPr>
        <p:spPr>
          <a:xfrm>
            <a:off x="2496312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Gabriel Pigatto</a:t>
            </a:r>
            <a:endParaRPr lang="en-US" sz="850" dirty="0"/>
          </a:p>
        </p:txBody>
      </p:sp>
      <p:sp>
        <p:nvSpPr>
          <p:cNvPr id="178" name="Shape 176"/>
          <p:cNvSpPr/>
          <p:nvPr/>
        </p:nvSpPr>
        <p:spPr>
          <a:xfrm>
            <a:off x="2496312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2496312" y="6153912"/>
            <a:ext cx="1024128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0" name="Text 178"/>
          <p:cNvSpPr/>
          <p:nvPr/>
        </p:nvSpPr>
        <p:spPr>
          <a:xfrm>
            <a:off x="2496312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97706"/>
                </a:solidFill>
              </a:rPr>
              <a:t>224.2h · 43 subs finalizadas</a:t>
            </a:r>
            <a:endParaRPr lang="en-US" sz="950" dirty="0"/>
          </a:p>
        </p:txBody>
      </p:sp>
      <p:sp>
        <p:nvSpPr>
          <p:cNvPr id="181" name="Text 179"/>
          <p:cNvSpPr/>
          <p:nvPr/>
        </p:nvSpPr>
        <p:spPr>
          <a:xfrm>
            <a:off x="2496312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214h estimadas</a:t>
            </a:r>
            <a:endParaRPr lang="en-US" sz="850" dirty="0"/>
          </a:p>
        </p:txBody>
      </p:sp>
      <p:sp>
        <p:nvSpPr>
          <p:cNvPr id="182" name="Shape 180"/>
          <p:cNvSpPr/>
          <p:nvPr/>
        </p:nvSpPr>
        <p:spPr>
          <a:xfrm>
            <a:off x="2496312" y="6647688"/>
            <a:ext cx="1024128" cy="201168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83" name="Text 181"/>
          <p:cNvSpPr/>
          <p:nvPr/>
        </p:nvSpPr>
        <p:spPr>
          <a:xfrm>
            <a:off x="2496312" y="664768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⚠ 1 fix(s) sem card</a:t>
            </a:r>
            <a:endParaRPr lang="en-US" sz="750" dirty="0"/>
          </a:p>
        </p:txBody>
      </p:sp>
      <p:sp>
        <p:nvSpPr>
          <p:cNvPr id="184" name="Shape 182"/>
          <p:cNvSpPr/>
          <p:nvPr/>
        </p:nvSpPr>
        <p:spPr>
          <a:xfrm>
            <a:off x="3657600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85" name="Text 183"/>
          <p:cNvSpPr/>
          <p:nvPr/>
        </p:nvSpPr>
        <p:spPr>
          <a:xfrm>
            <a:off x="3712464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Artur Silva</a:t>
            </a:r>
            <a:endParaRPr lang="en-US" sz="850" dirty="0"/>
          </a:p>
        </p:txBody>
      </p:sp>
      <p:sp>
        <p:nvSpPr>
          <p:cNvPr id="186" name="Shape 184"/>
          <p:cNvSpPr/>
          <p:nvPr/>
        </p:nvSpPr>
        <p:spPr>
          <a:xfrm>
            <a:off x="3712464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3712464" y="6153912"/>
            <a:ext cx="1024128" cy="73152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188" name="Text 186"/>
          <p:cNvSpPr/>
          <p:nvPr/>
        </p:nvSpPr>
        <p:spPr>
          <a:xfrm>
            <a:off x="3712464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85A30"/>
                </a:solidFill>
              </a:rPr>
              <a:t>314.5h · 48 subs finalizadas</a:t>
            </a:r>
            <a:endParaRPr lang="en-US" sz="950" dirty="0"/>
          </a:p>
        </p:txBody>
      </p:sp>
      <p:sp>
        <p:nvSpPr>
          <p:cNvPr id="189" name="Text 187"/>
          <p:cNvSpPr/>
          <p:nvPr/>
        </p:nvSpPr>
        <p:spPr>
          <a:xfrm>
            <a:off x="3712464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157.5h estimadas</a:t>
            </a:r>
            <a:endParaRPr lang="en-US" sz="850" dirty="0"/>
          </a:p>
        </p:txBody>
      </p:sp>
      <p:sp>
        <p:nvSpPr>
          <p:cNvPr id="190" name="Shape 188"/>
          <p:cNvSpPr/>
          <p:nvPr/>
        </p:nvSpPr>
        <p:spPr>
          <a:xfrm>
            <a:off x="3712464" y="6647688"/>
            <a:ext cx="1024128" cy="201168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91" name="Text 189"/>
          <p:cNvSpPr/>
          <p:nvPr/>
        </p:nvSpPr>
        <p:spPr>
          <a:xfrm>
            <a:off x="3712464" y="664768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⚠ 3 fix(s) sem card</a:t>
            </a:r>
            <a:endParaRPr lang="en-US" sz="750" dirty="0"/>
          </a:p>
        </p:txBody>
      </p:sp>
      <p:sp>
        <p:nvSpPr>
          <p:cNvPr id="192" name="Shape 190"/>
          <p:cNvSpPr/>
          <p:nvPr/>
        </p:nvSpPr>
        <p:spPr>
          <a:xfrm>
            <a:off x="4873752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93" name="Text 191"/>
          <p:cNvSpPr/>
          <p:nvPr/>
        </p:nvSpPr>
        <p:spPr>
          <a:xfrm>
            <a:off x="4928616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Carlos H. Almeida</a:t>
            </a:r>
            <a:endParaRPr lang="en-US" sz="850" dirty="0"/>
          </a:p>
        </p:txBody>
      </p:sp>
      <p:sp>
        <p:nvSpPr>
          <p:cNvPr id="194" name="Shape 192"/>
          <p:cNvSpPr/>
          <p:nvPr/>
        </p:nvSpPr>
        <p:spPr>
          <a:xfrm>
            <a:off x="4928616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4928616" y="6153912"/>
            <a:ext cx="1024128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6" name="Text 194"/>
          <p:cNvSpPr/>
          <p:nvPr/>
        </p:nvSpPr>
        <p:spPr>
          <a:xfrm>
            <a:off x="4928616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97706"/>
                </a:solidFill>
              </a:rPr>
              <a:t>268.2h · 34 subs finalizadas</a:t>
            </a:r>
            <a:endParaRPr lang="en-US" sz="950" dirty="0"/>
          </a:p>
        </p:txBody>
      </p:sp>
      <p:sp>
        <p:nvSpPr>
          <p:cNvPr id="197" name="Text 195"/>
          <p:cNvSpPr/>
          <p:nvPr/>
        </p:nvSpPr>
        <p:spPr>
          <a:xfrm>
            <a:off x="4928616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217h estimadas</a:t>
            </a:r>
            <a:endParaRPr lang="en-US" sz="850" dirty="0"/>
          </a:p>
        </p:txBody>
      </p:sp>
      <p:sp>
        <p:nvSpPr>
          <p:cNvPr id="198" name="Shape 196"/>
          <p:cNvSpPr/>
          <p:nvPr/>
        </p:nvSpPr>
        <p:spPr>
          <a:xfrm>
            <a:off x="4928616" y="6647688"/>
            <a:ext cx="1024128" cy="201168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99" name="Text 197"/>
          <p:cNvSpPr/>
          <p:nvPr/>
        </p:nvSpPr>
        <p:spPr>
          <a:xfrm>
            <a:off x="4928616" y="664768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⚠ 6 fix(s) sem card</a:t>
            </a:r>
            <a:endParaRPr lang="en-US" sz="750" dirty="0"/>
          </a:p>
        </p:txBody>
      </p:sp>
      <p:sp>
        <p:nvSpPr>
          <p:cNvPr id="200" name="Shape 198"/>
          <p:cNvSpPr/>
          <p:nvPr/>
        </p:nvSpPr>
        <p:spPr>
          <a:xfrm>
            <a:off x="6089904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01" name="Text 199"/>
          <p:cNvSpPr/>
          <p:nvPr/>
        </p:nvSpPr>
        <p:spPr>
          <a:xfrm>
            <a:off x="6144768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Maria E. Muniz</a:t>
            </a:r>
            <a:endParaRPr lang="en-US" sz="850" dirty="0"/>
          </a:p>
        </p:txBody>
      </p:sp>
      <p:sp>
        <p:nvSpPr>
          <p:cNvPr id="202" name="Shape 200"/>
          <p:cNvSpPr/>
          <p:nvPr/>
        </p:nvSpPr>
        <p:spPr>
          <a:xfrm>
            <a:off x="6144768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6144768" y="6153912"/>
            <a:ext cx="1024128" cy="73152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204" name="Text 202"/>
          <p:cNvSpPr/>
          <p:nvPr/>
        </p:nvSpPr>
        <p:spPr>
          <a:xfrm>
            <a:off x="6144768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85A30"/>
                </a:solidFill>
              </a:rPr>
              <a:t>91.5h · 21 subs finalizadas</a:t>
            </a:r>
            <a:endParaRPr lang="en-US" sz="950" dirty="0"/>
          </a:p>
        </p:txBody>
      </p:sp>
      <p:sp>
        <p:nvSpPr>
          <p:cNvPr id="205" name="Text 203"/>
          <p:cNvSpPr/>
          <p:nvPr/>
        </p:nvSpPr>
        <p:spPr>
          <a:xfrm>
            <a:off x="6144768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53h estimadas</a:t>
            </a:r>
            <a:endParaRPr lang="en-US" sz="850" dirty="0"/>
          </a:p>
        </p:txBody>
      </p:sp>
      <p:sp>
        <p:nvSpPr>
          <p:cNvPr id="206" name="Shape 204"/>
          <p:cNvSpPr/>
          <p:nvPr/>
        </p:nvSpPr>
        <p:spPr>
          <a:xfrm>
            <a:off x="7306056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07" name="Text 205"/>
          <p:cNvSpPr/>
          <p:nvPr/>
        </p:nvSpPr>
        <p:spPr>
          <a:xfrm>
            <a:off x="7360920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Fabio Santos</a:t>
            </a:r>
            <a:endParaRPr lang="en-US" sz="850" dirty="0"/>
          </a:p>
        </p:txBody>
      </p:sp>
      <p:sp>
        <p:nvSpPr>
          <p:cNvPr id="208" name="Shape 206"/>
          <p:cNvSpPr/>
          <p:nvPr/>
        </p:nvSpPr>
        <p:spPr>
          <a:xfrm>
            <a:off x="7360920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7360920" y="6153912"/>
            <a:ext cx="731804" cy="731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10" name="Text 208"/>
          <p:cNvSpPr/>
          <p:nvPr/>
        </p:nvSpPr>
        <p:spPr>
          <a:xfrm>
            <a:off x="7360920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9E75"/>
                </a:solidFill>
              </a:rPr>
              <a:t>220.8h · 54 subs finalizadas</a:t>
            </a:r>
            <a:endParaRPr lang="en-US" sz="950" dirty="0"/>
          </a:p>
        </p:txBody>
      </p:sp>
      <p:sp>
        <p:nvSpPr>
          <p:cNvPr id="211" name="Text 209"/>
          <p:cNvSpPr/>
          <p:nvPr/>
        </p:nvSpPr>
        <p:spPr>
          <a:xfrm>
            <a:off x="7360920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309h estimadas</a:t>
            </a:r>
            <a:endParaRPr lang="en-US" sz="850" dirty="0"/>
          </a:p>
        </p:txBody>
      </p:sp>
      <p:sp>
        <p:nvSpPr>
          <p:cNvPr id="212" name="Shape 210"/>
          <p:cNvSpPr/>
          <p:nvPr/>
        </p:nvSpPr>
        <p:spPr>
          <a:xfrm>
            <a:off x="7360920" y="6647688"/>
            <a:ext cx="1024128" cy="201168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213" name="Text 211"/>
          <p:cNvSpPr/>
          <p:nvPr/>
        </p:nvSpPr>
        <p:spPr>
          <a:xfrm>
            <a:off x="7360920" y="664768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⚠ 19 fix(s) sem card</a:t>
            </a:r>
            <a:endParaRPr lang="en-US" sz="750" dirty="0"/>
          </a:p>
        </p:txBody>
      </p:sp>
      <p:sp>
        <p:nvSpPr>
          <p:cNvPr id="214" name="Shape 212"/>
          <p:cNvSpPr/>
          <p:nvPr/>
        </p:nvSpPr>
        <p:spPr>
          <a:xfrm>
            <a:off x="8522208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15" name="Text 213"/>
          <p:cNvSpPr/>
          <p:nvPr/>
        </p:nvSpPr>
        <p:spPr>
          <a:xfrm>
            <a:off x="8577072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Albert V. Foureaux</a:t>
            </a:r>
            <a:endParaRPr lang="en-US" sz="850" dirty="0"/>
          </a:p>
        </p:txBody>
      </p:sp>
      <p:sp>
        <p:nvSpPr>
          <p:cNvPr id="216" name="Shape 214"/>
          <p:cNvSpPr/>
          <p:nvPr/>
        </p:nvSpPr>
        <p:spPr>
          <a:xfrm>
            <a:off x="8577072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8577072" y="6153912"/>
            <a:ext cx="1024128" cy="731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18" name="Text 216"/>
          <p:cNvSpPr/>
          <p:nvPr/>
        </p:nvSpPr>
        <p:spPr>
          <a:xfrm>
            <a:off x="8577072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9E75"/>
                </a:solidFill>
              </a:rPr>
              <a:t>6.5h · 1 subs finalizadas</a:t>
            </a:r>
            <a:endParaRPr lang="en-US" sz="950" dirty="0"/>
          </a:p>
        </p:txBody>
      </p:sp>
      <p:sp>
        <p:nvSpPr>
          <p:cNvPr id="219" name="Text 217"/>
          <p:cNvSpPr/>
          <p:nvPr/>
        </p:nvSpPr>
        <p:spPr>
          <a:xfrm>
            <a:off x="8577072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6.5h estimadas</a:t>
            </a:r>
            <a:endParaRPr lang="en-US" sz="850" dirty="0"/>
          </a:p>
        </p:txBody>
      </p:sp>
      <p:sp>
        <p:nvSpPr>
          <p:cNvPr id="220" name="Shape 218"/>
          <p:cNvSpPr/>
          <p:nvPr/>
        </p:nvSpPr>
        <p:spPr>
          <a:xfrm>
            <a:off x="8577072" y="6647688"/>
            <a:ext cx="1024128" cy="201168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221" name="Text 219"/>
          <p:cNvSpPr/>
          <p:nvPr/>
        </p:nvSpPr>
        <p:spPr>
          <a:xfrm>
            <a:off x="8577072" y="664768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⚠ 7 fix(s) sem card</a:t>
            </a:r>
            <a:endParaRPr lang="en-US" sz="750" dirty="0"/>
          </a:p>
        </p:txBody>
      </p:sp>
      <p:sp>
        <p:nvSpPr>
          <p:cNvPr id="222" name="Shape 220"/>
          <p:cNvSpPr/>
          <p:nvPr/>
        </p:nvSpPr>
        <p:spPr>
          <a:xfrm>
            <a:off x="9738360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23" name="Text 221"/>
          <p:cNvSpPr/>
          <p:nvPr/>
        </p:nvSpPr>
        <p:spPr>
          <a:xfrm>
            <a:off x="9793224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James G. Pereira</a:t>
            </a:r>
            <a:endParaRPr lang="en-US" sz="850" dirty="0"/>
          </a:p>
        </p:txBody>
      </p:sp>
      <p:sp>
        <p:nvSpPr>
          <p:cNvPr id="224" name="Shape 222"/>
          <p:cNvSpPr/>
          <p:nvPr/>
        </p:nvSpPr>
        <p:spPr>
          <a:xfrm>
            <a:off x="9793224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9793224" y="6153912"/>
            <a:ext cx="931025" cy="731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26" name="Text 224"/>
          <p:cNvSpPr/>
          <p:nvPr/>
        </p:nvSpPr>
        <p:spPr>
          <a:xfrm>
            <a:off x="9793224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9E75"/>
                </a:solidFill>
              </a:rPr>
              <a:t>30h · 5 subs finalizadas</a:t>
            </a:r>
            <a:endParaRPr lang="en-US" sz="950" dirty="0"/>
          </a:p>
        </p:txBody>
      </p:sp>
      <p:sp>
        <p:nvSpPr>
          <p:cNvPr id="227" name="Text 225"/>
          <p:cNvSpPr/>
          <p:nvPr/>
        </p:nvSpPr>
        <p:spPr>
          <a:xfrm>
            <a:off x="9793224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33h estimadas</a:t>
            </a:r>
            <a:endParaRPr lang="en-US" sz="850" dirty="0"/>
          </a:p>
        </p:txBody>
      </p:sp>
      <p:sp>
        <p:nvSpPr>
          <p:cNvPr id="228" name="Shape 226"/>
          <p:cNvSpPr/>
          <p:nvPr/>
        </p:nvSpPr>
        <p:spPr>
          <a:xfrm>
            <a:off x="10954512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29" name="Text 227"/>
          <p:cNvSpPr/>
          <p:nvPr/>
        </p:nvSpPr>
        <p:spPr>
          <a:xfrm>
            <a:off x="11009376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Ricardo Cardoso</a:t>
            </a:r>
            <a:endParaRPr lang="en-US" sz="850" dirty="0"/>
          </a:p>
        </p:txBody>
      </p:sp>
      <p:sp>
        <p:nvSpPr>
          <p:cNvPr id="230" name="Shape 228"/>
          <p:cNvSpPr/>
          <p:nvPr/>
        </p:nvSpPr>
        <p:spPr>
          <a:xfrm>
            <a:off x="11009376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11009376" y="6153912"/>
            <a:ext cx="881888" cy="731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32" name="Text 230"/>
          <p:cNvSpPr/>
          <p:nvPr/>
        </p:nvSpPr>
        <p:spPr>
          <a:xfrm>
            <a:off x="11009376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9E75"/>
                </a:solidFill>
              </a:rPr>
              <a:t>124h · 88 subs finalizadas</a:t>
            </a:r>
            <a:endParaRPr lang="en-US" sz="950" dirty="0"/>
          </a:p>
        </p:txBody>
      </p:sp>
      <p:sp>
        <p:nvSpPr>
          <p:cNvPr id="233" name="Text 231"/>
          <p:cNvSpPr/>
          <p:nvPr/>
        </p:nvSpPr>
        <p:spPr>
          <a:xfrm>
            <a:off x="11009376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144h estimadas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Status Report — Quadro de Aulas</dc:title>
  <dc:subject>PptxGenJS Presentation</dc:subject>
  <dc:creator>PptxGenJS</dc:creator>
  <cp:lastModifiedBy>PptxGenJS</cp:lastModifiedBy>
  <cp:revision>1</cp:revision>
  <dcterms:created xsi:type="dcterms:W3CDTF">2026-06-25T12:53:04Z</dcterms:created>
  <dcterms:modified xsi:type="dcterms:W3CDTF">2026-06-25T12:53:04Z</dcterms:modified>
</cp:coreProperties>
</file>