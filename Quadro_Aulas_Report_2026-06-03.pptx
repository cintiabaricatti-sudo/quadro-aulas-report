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331720" cy="6858000"/>
          </a:xfrm>
          <a:prstGeom prst="rect">
            <a:avLst/>
          </a:prstGeom>
          <a:solidFill>
            <a:srgbClr val="1C2B4A"/>
          </a:solidFill>
          <a:ln w="12700">
            <a:solidFill>
              <a:srgbClr val="1C2B4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137160" y="164592"/>
            <a:ext cx="21488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b="1" spc="400" kern="0" dirty="0">
                <a:solidFill>
                  <a:srgbClr val="8FA3C0"/>
                </a:solidFill>
              </a:rPr>
              <a:t>STATUS REPORT</a:t>
            </a:r>
            <a:endParaRPr lang="en-US" sz="650" dirty="0"/>
          </a:p>
        </p:txBody>
      </p:sp>
      <p:sp>
        <p:nvSpPr>
          <p:cNvPr id="4" name="Text 2"/>
          <p:cNvSpPr/>
          <p:nvPr/>
        </p:nvSpPr>
        <p:spPr>
          <a:xfrm>
            <a:off x="137160" y="329184"/>
            <a:ext cx="2148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FFFFFF"/>
                </a:solidFill>
              </a:rPr>
              <a:t>Quadro de Aulas</a:t>
            </a:r>
            <a:endParaRPr lang="en-US" sz="1350" dirty="0"/>
          </a:p>
        </p:txBody>
      </p:sp>
      <p:sp>
        <p:nvSpPr>
          <p:cNvPr id="5" name="Text 3"/>
          <p:cNvSpPr/>
          <p:nvPr/>
        </p:nvSpPr>
        <p:spPr>
          <a:xfrm>
            <a:off x="137160" y="640080"/>
            <a:ext cx="21488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i="1" dirty="0">
                <a:solidFill>
                  <a:srgbClr val="8FA3C0"/>
                </a:solidFill>
              </a:rPr>
              <a:t>Resiliencia Sistemica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137160" y="822960"/>
            <a:ext cx="21488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dirty="0">
                <a:solidFill>
                  <a:srgbClr val="8FA3C0"/>
                </a:solidFill>
              </a:rPr>
              <a:t>3 de Junho de 2026 as 09:30</a:t>
            </a:r>
            <a:endParaRPr lang="en-US" sz="700" dirty="0"/>
          </a:p>
        </p:txBody>
      </p:sp>
      <p:sp>
        <p:nvSpPr>
          <p:cNvPr id="7" name="Shape 5"/>
          <p:cNvSpPr/>
          <p:nvPr/>
        </p:nvSpPr>
        <p:spPr>
          <a:xfrm>
            <a:off x="137160" y="1005840"/>
            <a:ext cx="2057400" cy="13716"/>
          </a:xfrm>
          <a:prstGeom prst="rect">
            <a:avLst/>
          </a:prstGeom>
          <a:solidFill>
            <a:srgbClr val="2D4A73"/>
          </a:solidFill>
          <a:ln w="12700">
            <a:solidFill>
              <a:srgbClr val="2D4A73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37160" y="1078992"/>
            <a:ext cx="21488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b="1" spc="200" kern="0" dirty="0">
                <a:solidFill>
                  <a:srgbClr val="8FA3C0"/>
                </a:solidFill>
              </a:rPr>
              <a:t>TOTAL DE ITENS</a:t>
            </a:r>
            <a:endParaRPr lang="en-US" sz="650" dirty="0"/>
          </a:p>
        </p:txBody>
      </p:sp>
      <p:sp>
        <p:nvSpPr>
          <p:cNvPr id="9" name="Text 7"/>
          <p:cNvSpPr/>
          <p:nvPr/>
        </p:nvSpPr>
        <p:spPr>
          <a:xfrm>
            <a:off x="137160" y="1225296"/>
            <a:ext cx="2148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347</a:t>
            </a:r>
            <a:endParaRPr lang="en-US" sz="2400" dirty="0"/>
          </a:p>
        </p:txBody>
      </p:sp>
      <p:sp>
        <p:nvSpPr>
          <p:cNvPr id="10" name="Text 8"/>
          <p:cNvSpPr/>
          <p:nvPr/>
        </p:nvSpPr>
        <p:spPr>
          <a:xfrm>
            <a:off x="137160" y="1645920"/>
            <a:ext cx="21488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b="1" spc="200" kern="0" dirty="0">
                <a:solidFill>
                  <a:srgbClr val="8FA3C0"/>
                </a:solidFill>
              </a:rPr>
              <a:t>CONCLUIDOS</a:t>
            </a:r>
            <a:endParaRPr lang="en-US" sz="650" dirty="0"/>
          </a:p>
        </p:txBody>
      </p:sp>
      <p:sp>
        <p:nvSpPr>
          <p:cNvPr id="11" name="Text 9"/>
          <p:cNvSpPr/>
          <p:nvPr/>
        </p:nvSpPr>
        <p:spPr>
          <a:xfrm>
            <a:off x="137160" y="1792224"/>
            <a:ext cx="2148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4ADE80"/>
                </a:solidFill>
              </a:rPr>
              <a:t>240</a:t>
            </a:r>
            <a:endParaRPr lang="en-US" sz="2400" dirty="0"/>
          </a:p>
        </p:txBody>
      </p:sp>
      <p:sp>
        <p:nvSpPr>
          <p:cNvPr id="12" name="Text 10"/>
          <p:cNvSpPr/>
          <p:nvPr/>
        </p:nvSpPr>
        <p:spPr>
          <a:xfrm>
            <a:off x="137160" y="2212848"/>
            <a:ext cx="21488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b="1" spc="200" kern="0" dirty="0">
                <a:solidFill>
                  <a:srgbClr val="8FA3C0"/>
                </a:solidFill>
              </a:rPr>
              <a:t>EM PROGRESSO</a:t>
            </a:r>
            <a:endParaRPr lang="en-US" sz="650" dirty="0"/>
          </a:p>
        </p:txBody>
      </p:sp>
      <p:sp>
        <p:nvSpPr>
          <p:cNvPr id="13" name="Text 11"/>
          <p:cNvSpPr/>
          <p:nvPr/>
        </p:nvSpPr>
        <p:spPr>
          <a:xfrm>
            <a:off x="137160" y="2359152"/>
            <a:ext cx="2148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FCD34D"/>
                </a:solidFill>
              </a:rPr>
              <a:t>15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137160" y="2779776"/>
            <a:ext cx="21488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b="1" spc="200" kern="0" dirty="0">
                <a:solidFill>
                  <a:srgbClr val="8FA3C0"/>
                </a:solidFill>
              </a:rPr>
              <a:t>A FAZER / BACKLOG</a:t>
            </a:r>
            <a:endParaRPr lang="en-US" sz="650" dirty="0"/>
          </a:p>
        </p:txBody>
      </p:sp>
      <p:sp>
        <p:nvSpPr>
          <p:cNvPr id="15" name="Text 13"/>
          <p:cNvSpPr/>
          <p:nvPr/>
        </p:nvSpPr>
        <p:spPr>
          <a:xfrm>
            <a:off x="137160" y="2926080"/>
            <a:ext cx="2148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F87171"/>
                </a:solidFill>
              </a:rPr>
              <a:t>82</a:t>
            </a:r>
            <a:endParaRPr lang="en-US" sz="2400" dirty="0"/>
          </a:p>
        </p:txBody>
      </p:sp>
      <p:sp>
        <p:nvSpPr>
          <p:cNvPr id="16" name="Text 14"/>
          <p:cNvSpPr/>
          <p:nvPr/>
        </p:nvSpPr>
        <p:spPr>
          <a:xfrm>
            <a:off x="137160" y="3383280"/>
            <a:ext cx="214884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b="1" spc="200" kern="0" dirty="0">
                <a:solidFill>
                  <a:srgbClr val="8FA3C0"/>
                </a:solidFill>
              </a:rPr>
              <a:t>PROGRESSO GERAL</a:t>
            </a:r>
            <a:endParaRPr lang="en-US" sz="650" dirty="0"/>
          </a:p>
        </p:txBody>
      </p:sp>
      <p:sp>
        <p:nvSpPr>
          <p:cNvPr id="17" name="Shape 15"/>
          <p:cNvSpPr/>
          <p:nvPr/>
        </p:nvSpPr>
        <p:spPr>
          <a:xfrm>
            <a:off x="137160" y="3538728"/>
            <a:ext cx="2057400" cy="91440"/>
          </a:xfrm>
          <a:prstGeom prst="rect">
            <a:avLst/>
          </a:prstGeom>
          <a:solidFill>
            <a:srgbClr val="1E3A5F"/>
          </a:solidFill>
          <a:ln w="12700">
            <a:solidFill>
              <a:srgbClr val="1E3A5F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137160" y="3538728"/>
            <a:ext cx="1419606" cy="91440"/>
          </a:xfrm>
          <a:prstGeom prst="rect">
            <a:avLst/>
          </a:prstGeom>
          <a:solidFill>
            <a:srgbClr val="4ADE80"/>
          </a:solidFill>
          <a:ln w="12700">
            <a:solidFill>
              <a:srgbClr val="4ADE8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137160" y="3648456"/>
            <a:ext cx="21488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dirty="0">
                <a:solidFill>
                  <a:srgbClr val="8FA3C0"/>
                </a:solidFill>
              </a:rPr>
              <a:t>69% concluido  .  240 de 347 itens</a:t>
            </a:r>
            <a:endParaRPr lang="en-US" sz="700" dirty="0"/>
          </a:p>
        </p:txBody>
      </p:sp>
      <p:sp>
        <p:nvSpPr>
          <p:cNvPr id="20" name="Text 18"/>
          <p:cNvSpPr/>
          <p:nvPr/>
        </p:nvSpPr>
        <p:spPr>
          <a:xfrm>
            <a:off x="137160" y="3794760"/>
            <a:ext cx="214884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dirty="0">
                <a:solidFill>
                  <a:srgbClr val="8FA3C0"/>
                </a:solidFill>
              </a:rPr>
              <a:t>Cancelados excluidos do escopo</a:t>
            </a:r>
            <a:endParaRPr lang="en-US" sz="650" dirty="0"/>
          </a:p>
        </p:txBody>
      </p:sp>
      <p:sp>
        <p:nvSpPr>
          <p:cNvPr id="21" name="Text 19"/>
          <p:cNvSpPr/>
          <p:nvPr/>
        </p:nvSpPr>
        <p:spPr>
          <a:xfrm>
            <a:off x="137160" y="3977640"/>
            <a:ext cx="214884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b="1" spc="200" kern="0" dirty="0">
                <a:solidFill>
                  <a:srgbClr val="8FA3C0"/>
                </a:solidFill>
              </a:rPr>
              <a:t>VELOCIDADE RECENTE</a:t>
            </a:r>
            <a:endParaRPr lang="en-US" sz="650" dirty="0"/>
          </a:p>
        </p:txBody>
      </p:sp>
      <p:sp>
        <p:nvSpPr>
          <p:cNvPr id="22" name="Text 20"/>
          <p:cNvSpPr/>
          <p:nvPr/>
        </p:nvSpPr>
        <p:spPr>
          <a:xfrm>
            <a:off x="137160" y="4114800"/>
            <a:ext cx="2148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FCD34D"/>
                </a:solidFill>
              </a:rPr>
              <a:t>18h/dia</a:t>
            </a:r>
            <a:endParaRPr lang="en-US" sz="2200" dirty="0"/>
          </a:p>
        </p:txBody>
      </p:sp>
      <p:sp>
        <p:nvSpPr>
          <p:cNvPr id="23" name="Text 21"/>
          <p:cNvSpPr/>
          <p:nvPr/>
        </p:nvSpPr>
        <p:spPr>
          <a:xfrm>
            <a:off x="137160" y="4425696"/>
            <a:ext cx="214884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dirty="0">
                <a:solidFill>
                  <a:srgbClr val="8FA3C0"/>
                </a:solidFill>
              </a:rPr>
              <a:t>velocidade fixada pelo time</a:t>
            </a:r>
            <a:endParaRPr lang="en-US" sz="650" dirty="0"/>
          </a:p>
        </p:txBody>
      </p:sp>
      <p:sp>
        <p:nvSpPr>
          <p:cNvPr id="24" name="Text 22"/>
          <p:cNvSpPr/>
          <p:nvPr/>
        </p:nvSpPr>
        <p:spPr>
          <a:xfrm>
            <a:off x="137160" y="6492240"/>
            <a:ext cx="21488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dirty="0">
                <a:solidFill>
                  <a:srgbClr val="8FA3C0"/>
                </a:solidFill>
              </a:rPr>
              <a:t>Squad Lecionar</a:t>
            </a:r>
            <a:endParaRPr lang="en-US" sz="700" dirty="0"/>
          </a:p>
        </p:txBody>
      </p:sp>
      <p:sp>
        <p:nvSpPr>
          <p:cNvPr id="25" name="Text 23"/>
          <p:cNvSpPr/>
          <p:nvPr/>
        </p:nvSpPr>
        <p:spPr>
          <a:xfrm>
            <a:off x="137160" y="6647688"/>
            <a:ext cx="21488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dirty="0">
                <a:solidFill>
                  <a:srgbClr val="8FA3C0"/>
                </a:solidFill>
              </a:rPr>
              <a:t>Cintia Baricatti</a:t>
            </a:r>
            <a:endParaRPr lang="en-US" sz="700" dirty="0"/>
          </a:p>
        </p:txBody>
      </p:sp>
      <p:sp>
        <p:nvSpPr>
          <p:cNvPr id="26" name="Shape 24"/>
          <p:cNvSpPr/>
          <p:nvPr/>
        </p:nvSpPr>
        <p:spPr>
          <a:xfrm>
            <a:off x="2441448" y="73152"/>
            <a:ext cx="2350008" cy="256032"/>
          </a:xfrm>
          <a:prstGeom prst="rect">
            <a:avLst/>
          </a:prstGeom>
          <a:solidFill>
            <a:srgbClr val="1D9E75"/>
          </a:solidFill>
          <a:ln w="12700">
            <a:solidFill>
              <a:srgbClr val="1D9E75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441448" y="73152"/>
            <a:ext cx="23500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</a:rPr>
              <a:t>PRINCIPAL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2441448" y="329184"/>
            <a:ext cx="2350008" cy="1755648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29" name="Text 27"/>
          <p:cNvSpPr/>
          <p:nvPr/>
        </p:nvSpPr>
        <p:spPr>
          <a:xfrm>
            <a:off x="2514600" y="402336"/>
            <a:ext cx="22037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4 Stories · 4 NFT · 59 itens</a:t>
            </a:r>
            <a:endParaRPr lang="en-US" sz="750" dirty="0"/>
          </a:p>
        </p:txBody>
      </p:sp>
      <p:sp>
        <p:nvSpPr>
          <p:cNvPr id="30" name="Text 28"/>
          <p:cNvSpPr/>
          <p:nvPr/>
        </p:nvSpPr>
        <p:spPr>
          <a:xfrm>
            <a:off x="2514600" y="566928"/>
            <a:ext cx="220370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A Fazer: 0 . Em progresso: 0 . Finalizados: 59</a:t>
            </a:r>
            <a:endParaRPr lang="en-US" sz="750" dirty="0"/>
          </a:p>
        </p:txBody>
      </p:sp>
      <p:sp>
        <p:nvSpPr>
          <p:cNvPr id="31" name="Text 29"/>
          <p:cNvSpPr/>
          <p:nvPr/>
        </p:nvSpPr>
        <p:spPr>
          <a:xfrm>
            <a:off x="2514600" y="713232"/>
            <a:ext cx="220370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Est: 237.5h . Real: 240.2h . Rem: 0h</a:t>
            </a:r>
            <a:endParaRPr lang="en-US" sz="750" dirty="0"/>
          </a:p>
        </p:txBody>
      </p:sp>
      <p:sp>
        <p:nvSpPr>
          <p:cNvPr id="32" name="Shape 30"/>
          <p:cNvSpPr/>
          <p:nvPr/>
        </p:nvSpPr>
        <p:spPr>
          <a:xfrm>
            <a:off x="2514600" y="859536"/>
            <a:ext cx="2203704" cy="5029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514600" y="859536"/>
            <a:ext cx="1939260" cy="50292"/>
          </a:xfrm>
          <a:prstGeom prst="rect">
            <a:avLst/>
          </a:prstGeom>
          <a:solidFill>
            <a:srgbClr val="1D9E75"/>
          </a:solidFill>
          <a:ln w="12700">
            <a:solidFill>
              <a:srgbClr val="1D9E75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514600" y="914400"/>
            <a:ext cx="2203704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dirty="0">
                <a:solidFill>
                  <a:srgbClr val="888888"/>
                </a:solidFill>
              </a:rPr>
              <a:t>Stories/NFTs: 88% · 7 de 8</a:t>
            </a:r>
            <a:endParaRPr lang="en-US" sz="650" dirty="0"/>
          </a:p>
        </p:txBody>
      </p:sp>
      <p:sp>
        <p:nvSpPr>
          <p:cNvPr id="35" name="Shape 33"/>
          <p:cNvSpPr/>
          <p:nvPr/>
        </p:nvSpPr>
        <p:spPr>
          <a:xfrm>
            <a:off x="2514600" y="1033272"/>
            <a:ext cx="2203704" cy="5029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2514600" y="1033272"/>
            <a:ext cx="2203704" cy="50292"/>
          </a:xfrm>
          <a:prstGeom prst="rect">
            <a:avLst/>
          </a:prstGeom>
          <a:solidFill>
            <a:srgbClr val="1D9E75"/>
          </a:solidFill>
          <a:ln w="12700">
            <a:solidFill>
              <a:srgbClr val="1D9E75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2514600" y="1088136"/>
            <a:ext cx="2203704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dirty="0">
                <a:solidFill>
                  <a:srgbClr val="888888"/>
                </a:solidFill>
              </a:rPr>
              <a:t>Subs: 100% · 59 de 59</a:t>
            </a:r>
            <a:endParaRPr lang="en-US" sz="650" dirty="0"/>
          </a:p>
        </p:txBody>
      </p:sp>
      <p:sp>
        <p:nvSpPr>
          <p:cNvPr id="38" name="Text 36"/>
          <p:cNvSpPr/>
          <p:nvPr/>
        </p:nvSpPr>
        <p:spPr>
          <a:xfrm>
            <a:off x="2514600" y="1234440"/>
            <a:ext cx="22037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1D9E75"/>
                </a:solidFill>
              </a:rPr>
              <a:t>Projetado: 240.2h (+2.7h / +1%)</a:t>
            </a:r>
            <a:endParaRPr lang="en-US" sz="800" dirty="0"/>
          </a:p>
        </p:txBody>
      </p:sp>
      <p:sp>
        <p:nvSpPr>
          <p:cNvPr id="39" name="Shape 37"/>
          <p:cNvSpPr/>
          <p:nvPr/>
        </p:nvSpPr>
        <p:spPr>
          <a:xfrm>
            <a:off x="4873752" y="73152"/>
            <a:ext cx="2350008" cy="256032"/>
          </a:xfrm>
          <a:prstGeom prst="rect">
            <a:avLst/>
          </a:prstGeom>
          <a:solidFill>
            <a:srgbClr val="534AB7"/>
          </a:solidFill>
          <a:ln w="12700">
            <a:solidFill>
              <a:srgbClr val="534AB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4873752" y="73152"/>
            <a:ext cx="23500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</a:rPr>
              <a:t>REDUNDANTE</a:t>
            </a:r>
            <a:endParaRPr lang="en-US" sz="850" dirty="0"/>
          </a:p>
        </p:txBody>
      </p:sp>
      <p:sp>
        <p:nvSpPr>
          <p:cNvPr id="41" name="Shape 39"/>
          <p:cNvSpPr/>
          <p:nvPr/>
        </p:nvSpPr>
        <p:spPr>
          <a:xfrm>
            <a:off x="4873752" y="329184"/>
            <a:ext cx="2350008" cy="1755648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42" name="Text 40"/>
          <p:cNvSpPr/>
          <p:nvPr/>
        </p:nvSpPr>
        <p:spPr>
          <a:xfrm>
            <a:off x="4946904" y="402336"/>
            <a:ext cx="22037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8 Stories · 3 NFT · 98 itens</a:t>
            </a:r>
            <a:endParaRPr lang="en-US" sz="750" dirty="0"/>
          </a:p>
        </p:txBody>
      </p:sp>
      <p:sp>
        <p:nvSpPr>
          <p:cNvPr id="43" name="Text 41"/>
          <p:cNvSpPr/>
          <p:nvPr/>
        </p:nvSpPr>
        <p:spPr>
          <a:xfrm>
            <a:off x="4946904" y="566928"/>
            <a:ext cx="220370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A Fazer: 16 . Em progresso: 4 . Finalizados: 78</a:t>
            </a:r>
            <a:endParaRPr lang="en-US" sz="750" dirty="0"/>
          </a:p>
        </p:txBody>
      </p:sp>
      <p:sp>
        <p:nvSpPr>
          <p:cNvPr id="44" name="Text 42"/>
          <p:cNvSpPr/>
          <p:nvPr/>
        </p:nvSpPr>
        <p:spPr>
          <a:xfrm>
            <a:off x="4946904" y="713232"/>
            <a:ext cx="220370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Est: 397h . Real: 431.9h . Rem: 42.3h</a:t>
            </a:r>
            <a:endParaRPr lang="en-US" sz="750" dirty="0"/>
          </a:p>
        </p:txBody>
      </p:sp>
      <p:sp>
        <p:nvSpPr>
          <p:cNvPr id="45" name="Shape 43"/>
          <p:cNvSpPr/>
          <p:nvPr/>
        </p:nvSpPr>
        <p:spPr>
          <a:xfrm>
            <a:off x="4946904" y="859536"/>
            <a:ext cx="2203704" cy="5029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4946904" y="859536"/>
            <a:ext cx="1212037" cy="50292"/>
          </a:xfrm>
          <a:prstGeom prst="rect">
            <a:avLst/>
          </a:prstGeom>
          <a:solidFill>
            <a:srgbClr val="534AB7"/>
          </a:solidFill>
          <a:ln w="12700">
            <a:solidFill>
              <a:srgbClr val="534AB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4946904" y="914400"/>
            <a:ext cx="2203704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dirty="0">
                <a:solidFill>
                  <a:srgbClr val="888888"/>
                </a:solidFill>
              </a:rPr>
              <a:t>Stories/NFTs: 55% · 6 de 11</a:t>
            </a:r>
            <a:endParaRPr lang="en-US" sz="650" dirty="0"/>
          </a:p>
        </p:txBody>
      </p:sp>
      <p:sp>
        <p:nvSpPr>
          <p:cNvPr id="48" name="Shape 46"/>
          <p:cNvSpPr/>
          <p:nvPr/>
        </p:nvSpPr>
        <p:spPr>
          <a:xfrm>
            <a:off x="4946904" y="1033272"/>
            <a:ext cx="2203704" cy="5029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4946904" y="1033272"/>
            <a:ext cx="1762963" cy="50292"/>
          </a:xfrm>
          <a:prstGeom prst="rect">
            <a:avLst/>
          </a:prstGeom>
          <a:solidFill>
            <a:srgbClr val="534AB7"/>
          </a:solidFill>
          <a:ln w="12700">
            <a:solidFill>
              <a:srgbClr val="534AB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4946904" y="1088136"/>
            <a:ext cx="2203704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dirty="0">
                <a:solidFill>
                  <a:srgbClr val="888888"/>
                </a:solidFill>
              </a:rPr>
              <a:t>Subs: 80% · 78 de 98</a:t>
            </a:r>
            <a:endParaRPr lang="en-US" sz="650" dirty="0"/>
          </a:p>
        </p:txBody>
      </p:sp>
      <p:sp>
        <p:nvSpPr>
          <p:cNvPr id="51" name="Text 49"/>
          <p:cNvSpPr/>
          <p:nvPr/>
        </p:nvSpPr>
        <p:spPr>
          <a:xfrm>
            <a:off x="4946904" y="1234440"/>
            <a:ext cx="22037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D97706"/>
                </a:solidFill>
              </a:rPr>
              <a:t>Projetado: 474.2h (+77.2h / +19%)</a:t>
            </a:r>
            <a:endParaRPr lang="en-US" sz="800" dirty="0"/>
          </a:p>
        </p:txBody>
      </p:sp>
      <p:sp>
        <p:nvSpPr>
          <p:cNvPr id="52" name="Shape 50"/>
          <p:cNvSpPr/>
          <p:nvPr/>
        </p:nvSpPr>
        <p:spPr>
          <a:xfrm>
            <a:off x="7306056" y="73152"/>
            <a:ext cx="2350008" cy="256032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7306056" y="73152"/>
            <a:ext cx="145700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</a:rPr>
              <a:t>COMPLEMENTARES</a:t>
            </a:r>
            <a:endParaRPr lang="en-US" sz="850" dirty="0"/>
          </a:p>
        </p:txBody>
      </p:sp>
      <p:sp>
        <p:nvSpPr>
          <p:cNvPr id="54" name="Text 52"/>
          <p:cNvSpPr/>
          <p:nvPr/>
        </p:nvSpPr>
        <p:spPr>
          <a:xfrm>
            <a:off x="8692561" y="73152"/>
            <a:ext cx="188001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AAAA"/>
                </a:solidFill>
              </a:rPr>
              <a:t>·</a:t>
            </a:r>
            <a:endParaRPr lang="en-US" sz="900" dirty="0"/>
          </a:p>
        </p:txBody>
      </p:sp>
      <p:sp>
        <p:nvSpPr>
          <p:cNvPr id="55" name="Text 53"/>
          <p:cNvSpPr/>
          <p:nvPr/>
        </p:nvSpPr>
        <p:spPr>
          <a:xfrm>
            <a:off x="8786561" y="73152"/>
            <a:ext cx="869503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D5D5"/>
                </a:solidFill>
              </a:rPr>
              <a:t>CANCELADO</a:t>
            </a:r>
            <a:endParaRPr lang="en-US" sz="800" dirty="0"/>
          </a:p>
        </p:txBody>
      </p:sp>
      <p:sp>
        <p:nvSpPr>
          <p:cNvPr id="56" name="Shape 54"/>
          <p:cNvSpPr/>
          <p:nvPr/>
        </p:nvSpPr>
        <p:spPr>
          <a:xfrm>
            <a:off x="7306056" y="329184"/>
            <a:ext cx="2350008" cy="1755648"/>
          </a:xfrm>
          <a:prstGeom prst="rect">
            <a:avLst/>
          </a:prstGeom>
          <a:solidFill>
            <a:srgbClr val="FFFFFF"/>
          </a:solidFill>
          <a:ln w="12700">
            <a:solidFill>
              <a:srgbClr val="DC2626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57" name="Text 55"/>
          <p:cNvSpPr/>
          <p:nvPr/>
        </p:nvSpPr>
        <p:spPr>
          <a:xfrm>
            <a:off x="7379208" y="402336"/>
            <a:ext cx="22037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1 Story · 9 itens</a:t>
            </a:r>
            <a:endParaRPr lang="en-US" sz="750" dirty="0"/>
          </a:p>
        </p:txBody>
      </p:sp>
      <p:sp>
        <p:nvSpPr>
          <p:cNvPr id="58" name="Text 56"/>
          <p:cNvSpPr/>
          <p:nvPr/>
        </p:nvSpPr>
        <p:spPr>
          <a:xfrm>
            <a:off x="7379208" y="566928"/>
            <a:ext cx="220370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A Fazer: 0 . Em progresso: 0 . Finalizados: 9</a:t>
            </a:r>
            <a:endParaRPr lang="en-US" sz="750" dirty="0"/>
          </a:p>
        </p:txBody>
      </p:sp>
      <p:sp>
        <p:nvSpPr>
          <p:cNvPr id="59" name="Text 57"/>
          <p:cNvSpPr/>
          <p:nvPr/>
        </p:nvSpPr>
        <p:spPr>
          <a:xfrm>
            <a:off x="7379208" y="713232"/>
            <a:ext cx="220370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Est: 27h . Real: 75.5h . Rem: 0h</a:t>
            </a:r>
            <a:endParaRPr lang="en-US" sz="750" dirty="0"/>
          </a:p>
        </p:txBody>
      </p:sp>
      <p:sp>
        <p:nvSpPr>
          <p:cNvPr id="60" name="Shape 58"/>
          <p:cNvSpPr/>
          <p:nvPr/>
        </p:nvSpPr>
        <p:spPr>
          <a:xfrm>
            <a:off x="7379208" y="859536"/>
            <a:ext cx="2203704" cy="5029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61" name="Shape 59"/>
          <p:cNvSpPr/>
          <p:nvPr/>
        </p:nvSpPr>
        <p:spPr>
          <a:xfrm>
            <a:off x="7379208" y="859536"/>
            <a:ext cx="2203704" cy="50292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7379208" y="914400"/>
            <a:ext cx="2203704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dirty="0">
                <a:solidFill>
                  <a:srgbClr val="888888"/>
                </a:solidFill>
              </a:rPr>
              <a:t>Stories/NFTs: 100% · 1 de 1</a:t>
            </a:r>
            <a:endParaRPr lang="en-US" sz="650" dirty="0"/>
          </a:p>
        </p:txBody>
      </p:sp>
      <p:sp>
        <p:nvSpPr>
          <p:cNvPr id="63" name="Shape 61"/>
          <p:cNvSpPr/>
          <p:nvPr/>
        </p:nvSpPr>
        <p:spPr>
          <a:xfrm>
            <a:off x="7379208" y="1033272"/>
            <a:ext cx="2203704" cy="5029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64" name="Shape 62"/>
          <p:cNvSpPr/>
          <p:nvPr/>
        </p:nvSpPr>
        <p:spPr>
          <a:xfrm>
            <a:off x="7379208" y="1033272"/>
            <a:ext cx="2203704" cy="50292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65" name="Text 63"/>
          <p:cNvSpPr/>
          <p:nvPr/>
        </p:nvSpPr>
        <p:spPr>
          <a:xfrm>
            <a:off x="7379208" y="1088136"/>
            <a:ext cx="2203704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dirty="0">
                <a:solidFill>
                  <a:srgbClr val="888888"/>
                </a:solidFill>
              </a:rPr>
              <a:t>Subs: 100% · 9 de 9</a:t>
            </a:r>
            <a:endParaRPr lang="en-US" sz="650" dirty="0"/>
          </a:p>
        </p:txBody>
      </p:sp>
      <p:sp>
        <p:nvSpPr>
          <p:cNvPr id="66" name="Text 64"/>
          <p:cNvSpPr/>
          <p:nvPr/>
        </p:nvSpPr>
        <p:spPr>
          <a:xfrm>
            <a:off x="7379208" y="1234440"/>
            <a:ext cx="22037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DC2626"/>
                </a:solidFill>
              </a:rPr>
              <a:t>Projetado: 75.5h (+48.5h / +180%)</a:t>
            </a:r>
            <a:endParaRPr lang="en-US" sz="800" dirty="0"/>
          </a:p>
        </p:txBody>
      </p:sp>
      <p:sp>
        <p:nvSpPr>
          <p:cNvPr id="67" name="Shape 65"/>
          <p:cNvSpPr/>
          <p:nvPr/>
        </p:nvSpPr>
        <p:spPr>
          <a:xfrm>
            <a:off x="9738360" y="73152"/>
            <a:ext cx="2350008" cy="256032"/>
          </a:xfrm>
          <a:prstGeom prst="rect">
            <a:avLst/>
          </a:prstGeom>
          <a:solidFill>
            <a:srgbClr val="1E6FA8"/>
          </a:solidFill>
          <a:ln w="12700">
            <a:solidFill>
              <a:srgbClr val="1E6FA8"/>
            </a:solidFill>
            <a:prstDash val="solid"/>
          </a:ln>
        </p:spPr>
      </p:sp>
      <p:sp>
        <p:nvSpPr>
          <p:cNvPr id="68" name="Text 66"/>
          <p:cNvSpPr/>
          <p:nvPr/>
        </p:nvSpPr>
        <p:spPr>
          <a:xfrm>
            <a:off x="9738360" y="73152"/>
            <a:ext cx="23500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</a:rPr>
              <a:t>OBSERVABILIDADE</a:t>
            </a:r>
            <a:endParaRPr lang="en-US" sz="850" dirty="0"/>
          </a:p>
        </p:txBody>
      </p:sp>
      <p:sp>
        <p:nvSpPr>
          <p:cNvPr id="69" name="Shape 67"/>
          <p:cNvSpPr/>
          <p:nvPr/>
        </p:nvSpPr>
        <p:spPr>
          <a:xfrm>
            <a:off x="9738360" y="329184"/>
            <a:ext cx="2350008" cy="1755648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70" name="Text 68"/>
          <p:cNvSpPr/>
          <p:nvPr/>
        </p:nvSpPr>
        <p:spPr>
          <a:xfrm>
            <a:off x="9811512" y="402336"/>
            <a:ext cx="22037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16 Stories · 106 itens</a:t>
            </a:r>
            <a:endParaRPr lang="en-US" sz="750" dirty="0"/>
          </a:p>
        </p:txBody>
      </p:sp>
      <p:sp>
        <p:nvSpPr>
          <p:cNvPr id="71" name="Text 69"/>
          <p:cNvSpPr/>
          <p:nvPr/>
        </p:nvSpPr>
        <p:spPr>
          <a:xfrm>
            <a:off x="9811512" y="566928"/>
            <a:ext cx="220370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A Fazer: 63 . Em progresso: 1 . Finalizados: 42</a:t>
            </a:r>
            <a:endParaRPr lang="en-US" sz="750" dirty="0"/>
          </a:p>
        </p:txBody>
      </p:sp>
      <p:sp>
        <p:nvSpPr>
          <p:cNvPr id="72" name="Text 70"/>
          <p:cNvSpPr/>
          <p:nvPr/>
        </p:nvSpPr>
        <p:spPr>
          <a:xfrm>
            <a:off x="9811512" y="713232"/>
            <a:ext cx="220370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Est: 486.5h . Real: 188h . Rem: 282.5h</a:t>
            </a:r>
            <a:endParaRPr lang="en-US" sz="750" dirty="0"/>
          </a:p>
        </p:txBody>
      </p:sp>
      <p:sp>
        <p:nvSpPr>
          <p:cNvPr id="73" name="Shape 71"/>
          <p:cNvSpPr/>
          <p:nvPr/>
        </p:nvSpPr>
        <p:spPr>
          <a:xfrm>
            <a:off x="9811512" y="859536"/>
            <a:ext cx="2203704" cy="5029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74" name="Shape 72"/>
          <p:cNvSpPr/>
          <p:nvPr/>
        </p:nvSpPr>
        <p:spPr>
          <a:xfrm>
            <a:off x="9811512" y="859536"/>
            <a:ext cx="0" cy="50292"/>
          </a:xfrm>
          <a:prstGeom prst="rect">
            <a:avLst/>
          </a:prstGeom>
          <a:solidFill>
            <a:srgbClr val="1E6FA8"/>
          </a:solidFill>
          <a:ln w="12700">
            <a:solidFill>
              <a:srgbClr val="1E6FA8"/>
            </a:solidFill>
            <a:prstDash val="solid"/>
          </a:ln>
        </p:spPr>
      </p:sp>
      <p:sp>
        <p:nvSpPr>
          <p:cNvPr id="75" name="Text 73"/>
          <p:cNvSpPr/>
          <p:nvPr/>
        </p:nvSpPr>
        <p:spPr>
          <a:xfrm>
            <a:off x="9811512" y="914400"/>
            <a:ext cx="2203704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dirty="0">
                <a:solidFill>
                  <a:srgbClr val="888888"/>
                </a:solidFill>
              </a:rPr>
              <a:t>Stories/NFTs: 0% · 0 de 16</a:t>
            </a:r>
            <a:endParaRPr lang="en-US" sz="650" dirty="0"/>
          </a:p>
        </p:txBody>
      </p:sp>
      <p:sp>
        <p:nvSpPr>
          <p:cNvPr id="76" name="Shape 74"/>
          <p:cNvSpPr/>
          <p:nvPr/>
        </p:nvSpPr>
        <p:spPr>
          <a:xfrm>
            <a:off x="9811512" y="1033272"/>
            <a:ext cx="2203704" cy="5029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77" name="Shape 75"/>
          <p:cNvSpPr/>
          <p:nvPr/>
        </p:nvSpPr>
        <p:spPr>
          <a:xfrm>
            <a:off x="9811512" y="1033272"/>
            <a:ext cx="881482" cy="50292"/>
          </a:xfrm>
          <a:prstGeom prst="rect">
            <a:avLst/>
          </a:prstGeom>
          <a:solidFill>
            <a:srgbClr val="1E6FA8"/>
          </a:solidFill>
          <a:ln w="12700">
            <a:solidFill>
              <a:srgbClr val="1E6FA8"/>
            </a:solidFill>
            <a:prstDash val="solid"/>
          </a:ln>
        </p:spPr>
      </p:sp>
      <p:sp>
        <p:nvSpPr>
          <p:cNvPr id="78" name="Text 76"/>
          <p:cNvSpPr/>
          <p:nvPr/>
        </p:nvSpPr>
        <p:spPr>
          <a:xfrm>
            <a:off x="9811512" y="1088136"/>
            <a:ext cx="2203704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dirty="0">
                <a:solidFill>
                  <a:srgbClr val="888888"/>
                </a:solidFill>
              </a:rPr>
              <a:t>Subs: 40% · 42 de 106</a:t>
            </a:r>
            <a:endParaRPr lang="en-US" sz="650" dirty="0"/>
          </a:p>
        </p:txBody>
      </p:sp>
      <p:sp>
        <p:nvSpPr>
          <p:cNvPr id="79" name="Text 77"/>
          <p:cNvSpPr/>
          <p:nvPr/>
        </p:nvSpPr>
        <p:spPr>
          <a:xfrm>
            <a:off x="9811512" y="1234440"/>
            <a:ext cx="22037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1D9E75"/>
                </a:solidFill>
              </a:rPr>
              <a:t>Projetado: 470.5h (-16.0h / -3%)</a:t>
            </a:r>
            <a:endParaRPr lang="en-US" sz="800" dirty="0"/>
          </a:p>
        </p:txBody>
      </p:sp>
      <p:sp>
        <p:nvSpPr>
          <p:cNvPr id="80" name="Shape 78"/>
          <p:cNvSpPr/>
          <p:nvPr/>
        </p:nvSpPr>
        <p:spPr>
          <a:xfrm>
            <a:off x="2441448" y="2121408"/>
            <a:ext cx="9646920" cy="859536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81" name="Text 79"/>
          <p:cNvSpPr/>
          <p:nvPr/>
        </p:nvSpPr>
        <p:spPr>
          <a:xfrm>
            <a:off x="2532888" y="2176272"/>
            <a:ext cx="94640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spc="200" kern="0" dirty="0">
                <a:solidFill>
                  <a:srgbClr val="888888"/>
                </a:solidFill>
              </a:rPr>
              <a:t>HORAS - ESTIMADO vs. PROJETADO</a:t>
            </a:r>
            <a:endParaRPr lang="en-US" sz="700" dirty="0"/>
          </a:p>
        </p:txBody>
      </p:sp>
      <p:sp>
        <p:nvSpPr>
          <p:cNvPr id="82" name="Text 80"/>
          <p:cNvSpPr/>
          <p:nvPr/>
        </p:nvSpPr>
        <p:spPr>
          <a:xfrm>
            <a:off x="2532888" y="2322576"/>
            <a:ext cx="222885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spc="100" kern="0" dirty="0">
                <a:solidFill>
                  <a:srgbClr val="888888"/>
                </a:solidFill>
              </a:rPr>
              <a:t>PLANEJADO</a:t>
            </a:r>
            <a:endParaRPr lang="en-US" sz="700" dirty="0"/>
          </a:p>
        </p:txBody>
      </p:sp>
      <p:sp>
        <p:nvSpPr>
          <p:cNvPr id="83" name="Text 81"/>
          <p:cNvSpPr/>
          <p:nvPr/>
        </p:nvSpPr>
        <p:spPr>
          <a:xfrm>
            <a:off x="2532888" y="2450592"/>
            <a:ext cx="222885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222222"/>
                </a:solidFill>
              </a:rPr>
              <a:t>1166h</a:t>
            </a:r>
            <a:endParaRPr lang="en-US" sz="2400" dirty="0"/>
          </a:p>
        </p:txBody>
      </p:sp>
      <p:sp>
        <p:nvSpPr>
          <p:cNvPr id="84" name="Text 82"/>
          <p:cNvSpPr/>
          <p:nvPr/>
        </p:nvSpPr>
        <p:spPr>
          <a:xfrm>
            <a:off x="2532888" y="2779776"/>
            <a:ext cx="222885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dirty="0">
                <a:solidFill>
                  <a:srgbClr val="888888"/>
                </a:solidFill>
              </a:rPr>
              <a:t>original estimate</a:t>
            </a:r>
            <a:endParaRPr lang="en-US" sz="700" dirty="0"/>
          </a:p>
        </p:txBody>
      </p:sp>
      <p:sp>
        <p:nvSpPr>
          <p:cNvPr id="85" name="Shape 83"/>
          <p:cNvSpPr/>
          <p:nvPr/>
        </p:nvSpPr>
        <p:spPr>
          <a:xfrm>
            <a:off x="4853178" y="2322576"/>
            <a:ext cx="9144" cy="603504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86" name="Text 84"/>
          <p:cNvSpPr/>
          <p:nvPr/>
        </p:nvSpPr>
        <p:spPr>
          <a:xfrm>
            <a:off x="4944618" y="2322576"/>
            <a:ext cx="222885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spc="100" kern="0" dirty="0">
                <a:solidFill>
                  <a:srgbClr val="888888"/>
                </a:solidFill>
              </a:rPr>
              <a:t>JA GASTO</a:t>
            </a:r>
            <a:endParaRPr lang="en-US" sz="700" dirty="0"/>
          </a:p>
        </p:txBody>
      </p:sp>
      <p:sp>
        <p:nvSpPr>
          <p:cNvPr id="87" name="Text 85"/>
          <p:cNvSpPr/>
          <p:nvPr/>
        </p:nvSpPr>
        <p:spPr>
          <a:xfrm>
            <a:off x="4944618" y="2450592"/>
            <a:ext cx="222885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D97706"/>
                </a:solidFill>
              </a:rPr>
              <a:t>1025h</a:t>
            </a:r>
            <a:endParaRPr lang="en-US" sz="2400" dirty="0"/>
          </a:p>
        </p:txBody>
      </p:sp>
      <p:sp>
        <p:nvSpPr>
          <p:cNvPr id="88" name="Text 86"/>
          <p:cNvSpPr/>
          <p:nvPr/>
        </p:nvSpPr>
        <p:spPr>
          <a:xfrm>
            <a:off x="4944618" y="2779776"/>
            <a:ext cx="222885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dirty="0">
                <a:solidFill>
                  <a:srgbClr val="888888"/>
                </a:solidFill>
              </a:rPr>
              <a:t>completed work</a:t>
            </a:r>
            <a:endParaRPr lang="en-US" sz="700" dirty="0"/>
          </a:p>
        </p:txBody>
      </p:sp>
      <p:sp>
        <p:nvSpPr>
          <p:cNvPr id="89" name="Shape 87"/>
          <p:cNvSpPr/>
          <p:nvPr/>
        </p:nvSpPr>
        <p:spPr>
          <a:xfrm>
            <a:off x="7264908" y="2322576"/>
            <a:ext cx="9144" cy="603504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90" name="Text 88"/>
          <p:cNvSpPr/>
          <p:nvPr/>
        </p:nvSpPr>
        <p:spPr>
          <a:xfrm>
            <a:off x="7356348" y="2322576"/>
            <a:ext cx="222885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spc="100" kern="0" dirty="0">
                <a:solidFill>
                  <a:srgbClr val="888888"/>
                </a:solidFill>
              </a:rPr>
              <a:t>FALTA</a:t>
            </a:r>
            <a:endParaRPr lang="en-US" sz="700" dirty="0"/>
          </a:p>
        </p:txBody>
      </p:sp>
      <p:sp>
        <p:nvSpPr>
          <p:cNvPr id="91" name="Text 89"/>
          <p:cNvSpPr/>
          <p:nvPr/>
        </p:nvSpPr>
        <p:spPr>
          <a:xfrm>
            <a:off x="7356348" y="2450592"/>
            <a:ext cx="222885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F87171"/>
                </a:solidFill>
              </a:rPr>
              <a:t>324.8h</a:t>
            </a:r>
            <a:endParaRPr lang="en-US" sz="2400" dirty="0"/>
          </a:p>
        </p:txBody>
      </p:sp>
      <p:sp>
        <p:nvSpPr>
          <p:cNvPr id="92" name="Text 90"/>
          <p:cNvSpPr/>
          <p:nvPr/>
        </p:nvSpPr>
        <p:spPr>
          <a:xfrm>
            <a:off x="7356348" y="2779776"/>
            <a:ext cx="222885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dirty="0">
                <a:solidFill>
                  <a:srgbClr val="888888"/>
                </a:solidFill>
              </a:rPr>
              <a:t>remaining (devs)</a:t>
            </a:r>
            <a:endParaRPr lang="en-US" sz="700" dirty="0"/>
          </a:p>
        </p:txBody>
      </p:sp>
      <p:sp>
        <p:nvSpPr>
          <p:cNvPr id="93" name="Shape 91"/>
          <p:cNvSpPr/>
          <p:nvPr/>
        </p:nvSpPr>
        <p:spPr>
          <a:xfrm>
            <a:off x="9676638" y="2322576"/>
            <a:ext cx="9144" cy="603504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94" name="Text 92"/>
          <p:cNvSpPr/>
          <p:nvPr/>
        </p:nvSpPr>
        <p:spPr>
          <a:xfrm>
            <a:off x="9768078" y="2322576"/>
            <a:ext cx="222885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spc="100" kern="0" dirty="0">
                <a:solidFill>
                  <a:srgbClr val="888888"/>
                </a:solidFill>
              </a:rPr>
              <a:t>AUMENTO DE ESFORCO</a:t>
            </a:r>
            <a:endParaRPr lang="en-US" sz="700" dirty="0"/>
          </a:p>
        </p:txBody>
      </p:sp>
      <p:sp>
        <p:nvSpPr>
          <p:cNvPr id="95" name="Text 93"/>
          <p:cNvSpPr/>
          <p:nvPr/>
        </p:nvSpPr>
        <p:spPr>
          <a:xfrm>
            <a:off x="9768078" y="2450592"/>
            <a:ext cx="222885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D97706"/>
                </a:solidFill>
              </a:rPr>
              <a:t>+183.8h</a:t>
            </a:r>
            <a:endParaRPr lang="en-US" sz="2400" dirty="0"/>
          </a:p>
        </p:txBody>
      </p:sp>
      <p:sp>
        <p:nvSpPr>
          <p:cNvPr id="96" name="Text 94"/>
          <p:cNvSpPr/>
          <p:nvPr/>
        </p:nvSpPr>
        <p:spPr>
          <a:xfrm>
            <a:off x="9768078" y="2779776"/>
            <a:ext cx="222885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dirty="0">
                <a:solidFill>
                  <a:srgbClr val="888888"/>
                </a:solidFill>
              </a:rPr>
              <a:t>projetado: 1349.8h (+16%)</a:t>
            </a:r>
            <a:endParaRPr lang="en-US" sz="700" dirty="0"/>
          </a:p>
        </p:txBody>
      </p:sp>
      <p:sp>
        <p:nvSpPr>
          <p:cNvPr id="97" name="Shape 95"/>
          <p:cNvSpPr/>
          <p:nvPr/>
        </p:nvSpPr>
        <p:spPr>
          <a:xfrm>
            <a:off x="2441448" y="2916936"/>
            <a:ext cx="7325599" cy="54864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98" name="Shape 96"/>
          <p:cNvSpPr/>
          <p:nvPr/>
        </p:nvSpPr>
        <p:spPr>
          <a:xfrm>
            <a:off x="9767047" y="2916936"/>
            <a:ext cx="2321321" cy="54864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99" name="Shape 97"/>
          <p:cNvSpPr/>
          <p:nvPr/>
        </p:nvSpPr>
        <p:spPr>
          <a:xfrm>
            <a:off x="2441448" y="3008376"/>
            <a:ext cx="4777740" cy="877824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100" name="Text 98"/>
          <p:cNvSpPr/>
          <p:nvPr/>
        </p:nvSpPr>
        <p:spPr>
          <a:xfrm>
            <a:off x="2551176" y="3081528"/>
            <a:ext cx="400964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1F2937"/>
                </a:solidFill>
              </a:rPr>
              <a:t>Entrega 1 · Resiliencia Sistemica</a:t>
            </a:r>
            <a:endParaRPr lang="en-US" sz="800" dirty="0"/>
          </a:p>
        </p:txBody>
      </p:sp>
      <p:sp>
        <p:nvSpPr>
          <p:cNvPr id="101" name="Shape 99"/>
          <p:cNvSpPr/>
          <p:nvPr/>
        </p:nvSpPr>
        <p:spPr>
          <a:xfrm>
            <a:off x="6560820" y="3072384"/>
            <a:ext cx="566928" cy="182880"/>
          </a:xfrm>
          <a:prstGeom prst="rect">
            <a:avLst>
              <a:gd name="adj" fmla="val 40000"/>
            </a:avLst>
          </a:prstGeom>
          <a:solidFill>
            <a:srgbClr val="E1F5EE"/>
          </a:solidFill>
          <a:ln w="12700">
            <a:solidFill>
              <a:srgbClr val="E1F5EE"/>
            </a:solidFill>
            <a:prstDash val="solid"/>
          </a:ln>
        </p:spPr>
      </p:sp>
      <p:sp>
        <p:nvSpPr>
          <p:cNvPr id="102" name="Text 100"/>
          <p:cNvSpPr/>
          <p:nvPr/>
        </p:nvSpPr>
        <p:spPr>
          <a:xfrm>
            <a:off x="6560820" y="3072384"/>
            <a:ext cx="5669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0F6E56"/>
                </a:solidFill>
              </a:rPr>
              <a:t>88% concluido</a:t>
            </a:r>
            <a:endParaRPr lang="en-US" sz="650" dirty="0"/>
          </a:p>
        </p:txBody>
      </p:sp>
      <p:sp>
        <p:nvSpPr>
          <p:cNvPr id="103" name="Shape 101"/>
          <p:cNvSpPr/>
          <p:nvPr/>
        </p:nvSpPr>
        <p:spPr>
          <a:xfrm>
            <a:off x="2551176" y="3291840"/>
            <a:ext cx="4558284" cy="64008"/>
          </a:xfrm>
          <a:prstGeom prst="rect">
            <a:avLst/>
          </a:prstGeom>
          <a:solidFill>
            <a:srgbClr val="E1F5EE"/>
          </a:solidFill>
          <a:ln w="12700">
            <a:solidFill>
              <a:srgbClr val="E1F5EE"/>
            </a:solidFill>
            <a:prstDash val="solid"/>
          </a:ln>
        </p:spPr>
      </p:sp>
      <p:sp>
        <p:nvSpPr>
          <p:cNvPr id="104" name="Shape 102"/>
          <p:cNvSpPr/>
          <p:nvPr/>
        </p:nvSpPr>
        <p:spPr>
          <a:xfrm>
            <a:off x="2551176" y="3291840"/>
            <a:ext cx="4011290" cy="64008"/>
          </a:xfrm>
          <a:prstGeom prst="rect">
            <a:avLst/>
          </a:prstGeom>
          <a:solidFill>
            <a:srgbClr val="1D9E75"/>
          </a:solidFill>
          <a:ln w="12700">
            <a:solidFill>
              <a:srgbClr val="1D9E75"/>
            </a:solidFill>
            <a:prstDash val="solid"/>
          </a:ln>
        </p:spPr>
      </p:sp>
      <p:sp>
        <p:nvSpPr>
          <p:cNvPr id="105" name="Shape 103"/>
          <p:cNvSpPr/>
          <p:nvPr/>
        </p:nvSpPr>
        <p:spPr>
          <a:xfrm>
            <a:off x="2551176" y="3410712"/>
            <a:ext cx="1482852" cy="201168"/>
          </a:xfrm>
          <a:prstGeom prst="rect">
            <a:avLst/>
          </a:prstGeom>
          <a:solidFill>
            <a:srgbClr val="1D9E75"/>
          </a:solidFill>
          <a:ln w="12700">
            <a:solidFill>
              <a:srgbClr val="1D9E75"/>
            </a:solidFill>
            <a:prstDash val="solid"/>
          </a:ln>
        </p:spPr>
      </p:sp>
      <p:sp>
        <p:nvSpPr>
          <p:cNvPr id="106" name="Text 104"/>
          <p:cNvSpPr/>
          <p:nvPr/>
        </p:nvSpPr>
        <p:spPr>
          <a:xfrm>
            <a:off x="2551176" y="3410712"/>
            <a:ext cx="14828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PROJETADO</a:t>
            </a:r>
            <a:endParaRPr lang="en-US" sz="650" dirty="0"/>
          </a:p>
        </p:txBody>
      </p:sp>
      <p:sp>
        <p:nvSpPr>
          <p:cNvPr id="107" name="Text 105"/>
          <p:cNvSpPr/>
          <p:nvPr/>
        </p:nvSpPr>
        <p:spPr>
          <a:xfrm>
            <a:off x="2551176" y="3630168"/>
            <a:ext cx="148285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D9E75"/>
                </a:solidFill>
              </a:rPr>
              <a:t>05/06/2026</a:t>
            </a:r>
            <a:endParaRPr lang="en-US" sz="1050" dirty="0"/>
          </a:p>
        </p:txBody>
      </p:sp>
      <p:sp>
        <p:nvSpPr>
          <p:cNvPr id="108" name="Shape 106"/>
          <p:cNvSpPr/>
          <p:nvPr/>
        </p:nvSpPr>
        <p:spPr>
          <a:xfrm>
            <a:off x="4070604" y="3410712"/>
            <a:ext cx="1482852" cy="201168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09" name="Text 107"/>
          <p:cNvSpPr/>
          <p:nvPr/>
        </p:nvSpPr>
        <p:spPr>
          <a:xfrm>
            <a:off x="4070604" y="3410712"/>
            <a:ext cx="14828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BASE</a:t>
            </a:r>
            <a:endParaRPr lang="en-US" sz="650" dirty="0"/>
          </a:p>
        </p:txBody>
      </p:sp>
      <p:sp>
        <p:nvSpPr>
          <p:cNvPr id="110" name="Text 108"/>
          <p:cNvSpPr/>
          <p:nvPr/>
        </p:nvSpPr>
        <p:spPr>
          <a:xfrm>
            <a:off x="4070604" y="3630168"/>
            <a:ext cx="148285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D97706"/>
                </a:solidFill>
              </a:rPr>
              <a:t>15/05/2026</a:t>
            </a:r>
            <a:endParaRPr lang="en-US" sz="1050" dirty="0"/>
          </a:p>
        </p:txBody>
      </p:sp>
      <p:sp>
        <p:nvSpPr>
          <p:cNvPr id="111" name="Shape 109"/>
          <p:cNvSpPr/>
          <p:nvPr/>
        </p:nvSpPr>
        <p:spPr>
          <a:xfrm>
            <a:off x="5590032" y="3410712"/>
            <a:ext cx="1482852" cy="201168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12" name="Text 110"/>
          <p:cNvSpPr/>
          <p:nvPr/>
        </p:nvSpPr>
        <p:spPr>
          <a:xfrm>
            <a:off x="5590032" y="3410712"/>
            <a:ext cx="14828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PESSIMISTA</a:t>
            </a:r>
            <a:endParaRPr lang="en-US" sz="650" dirty="0"/>
          </a:p>
        </p:txBody>
      </p:sp>
      <p:sp>
        <p:nvSpPr>
          <p:cNvPr id="113" name="Text 111"/>
          <p:cNvSpPr/>
          <p:nvPr/>
        </p:nvSpPr>
        <p:spPr>
          <a:xfrm>
            <a:off x="5590032" y="3630168"/>
            <a:ext cx="148285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DC2626"/>
                </a:solidFill>
              </a:rPr>
              <a:t>29/05/2026</a:t>
            </a:r>
            <a:endParaRPr lang="en-US" sz="1050" dirty="0"/>
          </a:p>
        </p:txBody>
      </p:sp>
      <p:sp>
        <p:nvSpPr>
          <p:cNvPr id="114" name="Shape 112"/>
          <p:cNvSpPr/>
          <p:nvPr/>
        </p:nvSpPr>
        <p:spPr>
          <a:xfrm>
            <a:off x="7310628" y="3008376"/>
            <a:ext cx="4777740" cy="877824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115" name="Text 113"/>
          <p:cNvSpPr/>
          <p:nvPr/>
        </p:nvSpPr>
        <p:spPr>
          <a:xfrm>
            <a:off x="7420356" y="3081528"/>
            <a:ext cx="400964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1F2937"/>
                </a:solidFill>
              </a:rPr>
              <a:t>Entrega 2 · Observabilidade</a:t>
            </a:r>
            <a:endParaRPr lang="en-US" sz="800" dirty="0"/>
          </a:p>
        </p:txBody>
      </p:sp>
      <p:sp>
        <p:nvSpPr>
          <p:cNvPr id="116" name="Shape 114"/>
          <p:cNvSpPr/>
          <p:nvPr/>
        </p:nvSpPr>
        <p:spPr>
          <a:xfrm>
            <a:off x="11430000" y="3072384"/>
            <a:ext cx="566928" cy="182880"/>
          </a:xfrm>
          <a:prstGeom prst="rect">
            <a:avLst>
              <a:gd name="adj" fmla="val 40000"/>
            </a:avLst>
          </a:prstGeom>
          <a:solidFill>
            <a:srgbClr val="FEE2E2"/>
          </a:solidFill>
          <a:ln w="12700">
            <a:solidFill>
              <a:srgbClr val="FEE2E2"/>
            </a:solidFill>
            <a:prstDash val="solid"/>
          </a:ln>
        </p:spPr>
      </p:sp>
      <p:sp>
        <p:nvSpPr>
          <p:cNvPr id="117" name="Text 115"/>
          <p:cNvSpPr/>
          <p:nvPr/>
        </p:nvSpPr>
        <p:spPr>
          <a:xfrm>
            <a:off x="11430000" y="3072384"/>
            <a:ext cx="5669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991B1B"/>
                </a:solidFill>
              </a:rPr>
              <a:t>40% concluido</a:t>
            </a:r>
            <a:endParaRPr lang="en-US" sz="650" dirty="0"/>
          </a:p>
        </p:txBody>
      </p:sp>
      <p:sp>
        <p:nvSpPr>
          <p:cNvPr id="118" name="Shape 116"/>
          <p:cNvSpPr/>
          <p:nvPr/>
        </p:nvSpPr>
        <p:spPr>
          <a:xfrm>
            <a:off x="7420356" y="3291840"/>
            <a:ext cx="4558284" cy="64008"/>
          </a:xfrm>
          <a:prstGeom prst="rect">
            <a:avLst/>
          </a:prstGeom>
          <a:solidFill>
            <a:srgbClr val="E6F1FB"/>
          </a:solidFill>
          <a:ln w="12700">
            <a:solidFill>
              <a:srgbClr val="E6F1FB"/>
            </a:solidFill>
            <a:prstDash val="solid"/>
          </a:ln>
        </p:spPr>
      </p:sp>
      <p:sp>
        <p:nvSpPr>
          <p:cNvPr id="119" name="Shape 117"/>
          <p:cNvSpPr/>
          <p:nvPr/>
        </p:nvSpPr>
        <p:spPr>
          <a:xfrm>
            <a:off x="7420356" y="3291840"/>
            <a:ext cx="1823314" cy="64008"/>
          </a:xfrm>
          <a:prstGeom prst="rect">
            <a:avLst/>
          </a:prstGeom>
          <a:solidFill>
            <a:srgbClr val="1E6FA8"/>
          </a:solidFill>
          <a:ln w="12700">
            <a:solidFill>
              <a:srgbClr val="1E6FA8"/>
            </a:solidFill>
            <a:prstDash val="solid"/>
          </a:ln>
        </p:spPr>
      </p:sp>
      <p:sp>
        <p:nvSpPr>
          <p:cNvPr id="120" name="Shape 118"/>
          <p:cNvSpPr/>
          <p:nvPr/>
        </p:nvSpPr>
        <p:spPr>
          <a:xfrm>
            <a:off x="7420356" y="3410712"/>
            <a:ext cx="1482852" cy="201168"/>
          </a:xfrm>
          <a:prstGeom prst="rect">
            <a:avLst/>
          </a:prstGeom>
          <a:solidFill>
            <a:srgbClr val="1D9E75"/>
          </a:solidFill>
          <a:ln w="12700">
            <a:solidFill>
              <a:srgbClr val="1D9E75"/>
            </a:solidFill>
            <a:prstDash val="solid"/>
          </a:ln>
        </p:spPr>
      </p:sp>
      <p:sp>
        <p:nvSpPr>
          <p:cNvPr id="121" name="Text 119"/>
          <p:cNvSpPr/>
          <p:nvPr/>
        </p:nvSpPr>
        <p:spPr>
          <a:xfrm>
            <a:off x="7420356" y="3410712"/>
            <a:ext cx="14828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PROJETADO</a:t>
            </a:r>
            <a:endParaRPr lang="en-US" sz="650" dirty="0"/>
          </a:p>
        </p:txBody>
      </p:sp>
      <p:sp>
        <p:nvSpPr>
          <p:cNvPr id="122" name="Text 120"/>
          <p:cNvSpPr/>
          <p:nvPr/>
        </p:nvSpPr>
        <p:spPr>
          <a:xfrm>
            <a:off x="7420356" y="3630168"/>
            <a:ext cx="148285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D9E75"/>
                </a:solidFill>
              </a:rPr>
              <a:t>24/06/2026</a:t>
            </a:r>
            <a:endParaRPr lang="en-US" sz="1050" dirty="0"/>
          </a:p>
        </p:txBody>
      </p:sp>
      <p:sp>
        <p:nvSpPr>
          <p:cNvPr id="123" name="Shape 121"/>
          <p:cNvSpPr/>
          <p:nvPr/>
        </p:nvSpPr>
        <p:spPr>
          <a:xfrm>
            <a:off x="8939784" y="3410712"/>
            <a:ext cx="1482852" cy="201168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24" name="Text 122"/>
          <p:cNvSpPr/>
          <p:nvPr/>
        </p:nvSpPr>
        <p:spPr>
          <a:xfrm>
            <a:off x="8939784" y="3410712"/>
            <a:ext cx="14828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BASE</a:t>
            </a:r>
            <a:endParaRPr lang="en-US" sz="650" dirty="0"/>
          </a:p>
        </p:txBody>
      </p:sp>
      <p:sp>
        <p:nvSpPr>
          <p:cNvPr id="125" name="Text 123"/>
          <p:cNvSpPr/>
          <p:nvPr/>
        </p:nvSpPr>
        <p:spPr>
          <a:xfrm>
            <a:off x="8939784" y="3630168"/>
            <a:ext cx="148285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D97706"/>
                </a:solidFill>
              </a:rPr>
              <a:t>29/05/2026</a:t>
            </a:r>
            <a:endParaRPr lang="en-US" sz="1050" dirty="0"/>
          </a:p>
        </p:txBody>
      </p:sp>
      <p:sp>
        <p:nvSpPr>
          <p:cNvPr id="126" name="Shape 124"/>
          <p:cNvSpPr/>
          <p:nvPr/>
        </p:nvSpPr>
        <p:spPr>
          <a:xfrm>
            <a:off x="10459212" y="3410712"/>
            <a:ext cx="1482852" cy="201168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27" name="Text 125"/>
          <p:cNvSpPr/>
          <p:nvPr/>
        </p:nvSpPr>
        <p:spPr>
          <a:xfrm>
            <a:off x="10459212" y="3410712"/>
            <a:ext cx="14828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PESSIMISTA</a:t>
            </a:r>
            <a:endParaRPr lang="en-US" sz="650" dirty="0"/>
          </a:p>
        </p:txBody>
      </p:sp>
      <p:sp>
        <p:nvSpPr>
          <p:cNvPr id="128" name="Text 126"/>
          <p:cNvSpPr/>
          <p:nvPr/>
        </p:nvSpPr>
        <p:spPr>
          <a:xfrm>
            <a:off x="10459212" y="3630168"/>
            <a:ext cx="148285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DC2626"/>
                </a:solidFill>
              </a:rPr>
              <a:t>12/06/2026</a:t>
            </a:r>
            <a:endParaRPr lang="en-US" sz="1050" dirty="0"/>
          </a:p>
        </p:txBody>
      </p:sp>
      <p:sp>
        <p:nvSpPr>
          <p:cNvPr id="129" name="Shape 127"/>
          <p:cNvSpPr/>
          <p:nvPr/>
        </p:nvSpPr>
        <p:spPr>
          <a:xfrm>
            <a:off x="2441448" y="3913632"/>
            <a:ext cx="9646920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130" name="Text 128"/>
          <p:cNvSpPr/>
          <p:nvPr/>
        </p:nvSpPr>
        <p:spPr>
          <a:xfrm>
            <a:off x="2532888" y="3968496"/>
            <a:ext cx="94640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spc="200" kern="0" dirty="0">
                <a:solidFill>
                  <a:srgbClr val="888888"/>
                </a:solidFill>
              </a:rPr>
              <a:t>EFICIENCIA DA ENTREGA</a:t>
            </a:r>
            <a:endParaRPr lang="en-US" sz="700" dirty="0"/>
          </a:p>
        </p:txBody>
      </p:sp>
      <p:sp>
        <p:nvSpPr>
          <p:cNvPr id="131" name="Text 129"/>
          <p:cNvSpPr/>
          <p:nvPr/>
        </p:nvSpPr>
        <p:spPr>
          <a:xfrm>
            <a:off x="2532888" y="4059936"/>
            <a:ext cx="3032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D85A30"/>
                </a:solidFill>
              </a:rPr>
              <a:t>20.1%</a:t>
            </a:r>
            <a:endParaRPr lang="en-US" sz="2200" dirty="0"/>
          </a:p>
        </p:txBody>
      </p:sp>
      <p:sp>
        <p:nvSpPr>
          <p:cNvPr id="132" name="Text 130"/>
          <p:cNvSpPr/>
          <p:nvPr/>
        </p:nvSpPr>
        <p:spPr>
          <a:xfrm>
            <a:off x="2532888" y="4389120"/>
            <a:ext cx="30327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222222"/>
                </a:solidFill>
              </a:rPr>
              <a:t>Itens Estourados</a:t>
            </a:r>
            <a:endParaRPr lang="en-US" sz="800" dirty="0"/>
          </a:p>
        </p:txBody>
      </p:sp>
      <p:sp>
        <p:nvSpPr>
          <p:cNvPr id="133" name="Text 131"/>
          <p:cNvSpPr/>
          <p:nvPr/>
        </p:nvSpPr>
        <p:spPr>
          <a:xfrm>
            <a:off x="2532888" y="4553712"/>
            <a:ext cx="30327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88888"/>
                </a:solidFill>
              </a:rPr>
              <a:t>das subs com estimativa</a:t>
            </a:r>
            <a:endParaRPr lang="en-US" sz="700" dirty="0"/>
          </a:p>
        </p:txBody>
      </p:sp>
      <p:sp>
        <p:nvSpPr>
          <p:cNvPr id="134" name="Shape 132"/>
          <p:cNvSpPr/>
          <p:nvPr/>
        </p:nvSpPr>
        <p:spPr>
          <a:xfrm>
            <a:off x="5657088" y="4059936"/>
            <a:ext cx="9144" cy="62179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135" name="Text 133"/>
          <p:cNvSpPr/>
          <p:nvPr/>
        </p:nvSpPr>
        <p:spPr>
          <a:xfrm>
            <a:off x="5748528" y="4059936"/>
            <a:ext cx="3032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534AB7"/>
                </a:solidFill>
              </a:rPr>
              <a:t>8.9%</a:t>
            </a:r>
            <a:endParaRPr lang="en-US" sz="2200" dirty="0"/>
          </a:p>
        </p:txBody>
      </p:sp>
      <p:sp>
        <p:nvSpPr>
          <p:cNvPr id="136" name="Text 134"/>
          <p:cNvSpPr/>
          <p:nvPr/>
        </p:nvSpPr>
        <p:spPr>
          <a:xfrm>
            <a:off x="5748528" y="4389120"/>
            <a:ext cx="30327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222222"/>
                </a:solidFill>
              </a:rPr>
              <a:t>Retrabalho</a:t>
            </a:r>
            <a:endParaRPr lang="en-US" sz="800" dirty="0"/>
          </a:p>
        </p:txBody>
      </p:sp>
      <p:sp>
        <p:nvSpPr>
          <p:cNvPr id="137" name="Text 135"/>
          <p:cNvSpPr/>
          <p:nvPr/>
        </p:nvSpPr>
        <p:spPr>
          <a:xfrm>
            <a:off x="5748528" y="4553712"/>
            <a:ext cx="30327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88888"/>
                </a:solidFill>
              </a:rPr>
              <a:t>15 Sub Bug . 81.3h realizadas</a:t>
            </a:r>
            <a:endParaRPr lang="en-US" sz="700" dirty="0"/>
          </a:p>
        </p:txBody>
      </p:sp>
      <p:sp>
        <p:nvSpPr>
          <p:cNvPr id="138" name="Shape 136"/>
          <p:cNvSpPr/>
          <p:nvPr/>
        </p:nvSpPr>
        <p:spPr>
          <a:xfrm>
            <a:off x="8872728" y="4059936"/>
            <a:ext cx="9144" cy="62179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139" name="Text 137"/>
          <p:cNvSpPr/>
          <p:nvPr/>
        </p:nvSpPr>
        <p:spPr>
          <a:xfrm>
            <a:off x="8964168" y="4059936"/>
            <a:ext cx="3032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D9E75"/>
                </a:solidFill>
              </a:rPr>
              <a:t>79.9%</a:t>
            </a:r>
            <a:endParaRPr lang="en-US" sz="2200" dirty="0"/>
          </a:p>
        </p:txBody>
      </p:sp>
      <p:sp>
        <p:nvSpPr>
          <p:cNvPr id="140" name="Text 138"/>
          <p:cNvSpPr/>
          <p:nvPr/>
        </p:nvSpPr>
        <p:spPr>
          <a:xfrm>
            <a:off x="8964168" y="4389120"/>
            <a:ext cx="30327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222222"/>
                </a:solidFill>
              </a:rPr>
              <a:t>Dentro da Estimativa</a:t>
            </a:r>
            <a:endParaRPr lang="en-US" sz="800" dirty="0"/>
          </a:p>
        </p:txBody>
      </p:sp>
      <p:sp>
        <p:nvSpPr>
          <p:cNvPr id="141" name="Text 139"/>
          <p:cNvSpPr/>
          <p:nvPr/>
        </p:nvSpPr>
        <p:spPr>
          <a:xfrm>
            <a:off x="8964168" y="4553712"/>
            <a:ext cx="30327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88888"/>
                </a:solidFill>
              </a:rPr>
              <a:t>entregues dentro do planejado</a:t>
            </a:r>
            <a:endParaRPr lang="en-US" sz="700" dirty="0"/>
          </a:p>
        </p:txBody>
      </p:sp>
      <p:sp>
        <p:nvSpPr>
          <p:cNvPr id="142" name="Text 140"/>
          <p:cNvSpPr/>
          <p:nvPr/>
        </p:nvSpPr>
        <p:spPr>
          <a:xfrm>
            <a:off x="2441448" y="4754880"/>
            <a:ext cx="964692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spc="300" kern="0" dirty="0">
                <a:solidFill>
                  <a:srgbClr val="888888"/>
                </a:solidFill>
              </a:rPr>
              <a:t>R I S C O S</a:t>
            </a:r>
            <a:endParaRPr lang="en-US" sz="650" dirty="0"/>
          </a:p>
        </p:txBody>
      </p:sp>
      <p:sp>
        <p:nvSpPr>
          <p:cNvPr id="143" name="Shape 141"/>
          <p:cNvSpPr/>
          <p:nvPr/>
        </p:nvSpPr>
        <p:spPr>
          <a:xfrm>
            <a:off x="2441448" y="4873752"/>
            <a:ext cx="2350008" cy="877824"/>
          </a:xfrm>
          <a:prstGeom prst="rect">
            <a:avLst/>
          </a:prstGeom>
          <a:solidFill>
            <a:srgbClr val="F5F3FF"/>
          </a:solidFill>
          <a:ln w="12700">
            <a:solidFill>
              <a:srgbClr val="6B3FA0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144" name="Text 142"/>
          <p:cNvSpPr/>
          <p:nvPr/>
        </p:nvSpPr>
        <p:spPr>
          <a:xfrm>
            <a:off x="2514600" y="4937760"/>
            <a:ext cx="17556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6B3FA0"/>
                </a:solidFill>
              </a:rPr>
              <a:t>REFINAMENTO PENDENTE</a:t>
            </a:r>
            <a:endParaRPr lang="en-US" sz="700" dirty="0"/>
          </a:p>
        </p:txBody>
      </p:sp>
      <p:sp>
        <p:nvSpPr>
          <p:cNvPr id="145" name="Shape 143"/>
          <p:cNvSpPr/>
          <p:nvPr/>
        </p:nvSpPr>
        <p:spPr>
          <a:xfrm>
            <a:off x="4261104" y="4928616"/>
            <a:ext cx="475488" cy="292608"/>
          </a:xfrm>
          <a:prstGeom prst="rect">
            <a:avLst/>
          </a:prstGeom>
          <a:solidFill>
            <a:srgbClr val="6B3FA0"/>
          </a:solidFill>
          <a:ln w="12700">
            <a:solidFill>
              <a:srgbClr val="6B3FA0"/>
            </a:solidFill>
            <a:prstDash val="solid"/>
          </a:ln>
        </p:spPr>
      </p:sp>
      <p:sp>
        <p:nvSpPr>
          <p:cNvPr id="146" name="Text 144"/>
          <p:cNvSpPr/>
          <p:nvPr/>
        </p:nvSpPr>
        <p:spPr>
          <a:xfrm>
            <a:off x="4261104" y="4928616"/>
            <a:ext cx="47548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3</a:t>
            </a:r>
            <a:endParaRPr lang="en-US" sz="650" dirty="0"/>
          </a:p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stories</a:t>
            </a:r>
            <a:endParaRPr lang="en-US" sz="650" dirty="0"/>
          </a:p>
        </p:txBody>
      </p:sp>
      <p:sp>
        <p:nvSpPr>
          <p:cNvPr id="147" name="Text 145"/>
          <p:cNvSpPr/>
          <p:nvPr/>
        </p:nvSpPr>
        <p:spPr>
          <a:xfrm>
            <a:off x="2514600" y="5184648"/>
            <a:ext cx="220370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3 stories sem subtarefas</a:t>
            </a:r>
            <a:endParaRPr lang="en-US" sz="750" dirty="0"/>
          </a:p>
        </p:txBody>
      </p:sp>
      <p:sp>
        <p:nvSpPr>
          <p:cNvPr id="148" name="Text 146"/>
          <p:cNvSpPr/>
          <p:nvPr/>
        </p:nvSpPr>
        <p:spPr>
          <a:xfrm>
            <a:off x="2514600" y="5367528"/>
            <a:ext cx="22037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Redundante · Principal</a:t>
            </a:r>
            <a:endParaRPr lang="en-US" sz="750" dirty="0"/>
          </a:p>
        </p:txBody>
      </p:sp>
      <p:sp>
        <p:nvSpPr>
          <p:cNvPr id="149" name="Shape 147"/>
          <p:cNvSpPr/>
          <p:nvPr/>
        </p:nvSpPr>
        <p:spPr>
          <a:xfrm>
            <a:off x="4873752" y="4873752"/>
            <a:ext cx="2350008" cy="877824"/>
          </a:xfrm>
          <a:prstGeom prst="rect">
            <a:avLst/>
          </a:prstGeom>
          <a:solidFill>
            <a:srgbClr val="F5F3FF"/>
          </a:solidFill>
          <a:ln w="12700">
            <a:solidFill>
              <a:srgbClr val="6B3FA0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150" name="Text 148"/>
          <p:cNvSpPr/>
          <p:nvPr/>
        </p:nvSpPr>
        <p:spPr>
          <a:xfrm>
            <a:off x="4946904" y="4937760"/>
            <a:ext cx="17556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6B3FA0"/>
                </a:solidFill>
              </a:rPr>
              <a:t>ATENCAO · Janela de Entrega</a:t>
            </a:r>
            <a:endParaRPr lang="en-US" sz="700" dirty="0"/>
          </a:p>
        </p:txBody>
      </p:sp>
      <p:sp>
        <p:nvSpPr>
          <p:cNvPr id="151" name="Shape 149"/>
          <p:cNvSpPr/>
          <p:nvPr/>
        </p:nvSpPr>
        <p:spPr>
          <a:xfrm>
            <a:off x="6693408" y="4928616"/>
            <a:ext cx="475488" cy="292608"/>
          </a:xfrm>
          <a:prstGeom prst="rect">
            <a:avLst/>
          </a:prstGeom>
          <a:solidFill>
            <a:srgbClr val="6B3FA0"/>
          </a:solidFill>
          <a:ln w="12700">
            <a:solidFill>
              <a:srgbClr val="6B3FA0"/>
            </a:solidFill>
            <a:prstDash val="solid"/>
          </a:ln>
        </p:spPr>
      </p:sp>
      <p:sp>
        <p:nvSpPr>
          <p:cNvPr id="152" name="Text 150"/>
          <p:cNvSpPr/>
          <p:nvPr/>
        </p:nvSpPr>
        <p:spPr>
          <a:xfrm>
            <a:off x="6693408" y="4928616"/>
            <a:ext cx="47548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~16 dias</a:t>
            </a:r>
            <a:endParaRPr lang="en-US" sz="650" dirty="0"/>
          </a:p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uteis</a:t>
            </a:r>
            <a:endParaRPr lang="en-US" sz="650" dirty="0"/>
          </a:p>
        </p:txBody>
      </p:sp>
      <p:sp>
        <p:nvSpPr>
          <p:cNvPr id="153" name="Text 151"/>
          <p:cNvSpPr/>
          <p:nvPr/>
        </p:nvSpPr>
        <p:spPr>
          <a:xfrm>
            <a:off x="4946904" y="5184648"/>
            <a:ext cx="220370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Observabilidade: Projetado 24/06/2026 · Base 29/05/2026</a:t>
            </a:r>
            <a:endParaRPr lang="en-US" sz="750" dirty="0"/>
          </a:p>
        </p:txBody>
      </p:sp>
      <p:sp>
        <p:nvSpPr>
          <p:cNvPr id="154" name="Text 152"/>
          <p:cNvSpPr/>
          <p:nvPr/>
        </p:nvSpPr>
        <p:spPr>
          <a:xfrm>
            <a:off x="4946904" y="5367528"/>
            <a:ext cx="22037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750" dirty="0"/>
          </a:p>
        </p:txBody>
      </p:sp>
      <p:sp>
        <p:nvSpPr>
          <p:cNvPr id="155" name="Shape 153"/>
          <p:cNvSpPr/>
          <p:nvPr/>
        </p:nvSpPr>
        <p:spPr>
          <a:xfrm>
            <a:off x="7306056" y="4873752"/>
            <a:ext cx="2350008" cy="877824"/>
          </a:xfrm>
          <a:prstGeom prst="rect">
            <a:avLst/>
          </a:prstGeom>
          <a:solidFill>
            <a:srgbClr val="FFF1F2"/>
          </a:solidFill>
          <a:ln w="12700">
            <a:solidFill>
              <a:srgbClr val="DC2626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156" name="Text 154"/>
          <p:cNvSpPr/>
          <p:nvPr/>
        </p:nvSpPr>
        <p:spPr>
          <a:xfrm>
            <a:off x="7379208" y="4937760"/>
            <a:ext cx="17556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DC2626"/>
                </a:solidFill>
              </a:rPr>
              <a:t>BUG / SUSTENTACAO</a:t>
            </a:r>
            <a:endParaRPr lang="en-US" sz="700" dirty="0"/>
          </a:p>
        </p:txBody>
      </p:sp>
      <p:sp>
        <p:nvSpPr>
          <p:cNvPr id="157" name="Shape 155"/>
          <p:cNvSpPr/>
          <p:nvPr/>
        </p:nvSpPr>
        <p:spPr>
          <a:xfrm>
            <a:off x="9125712" y="4928616"/>
            <a:ext cx="475488" cy="292608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58" name="Text 156"/>
          <p:cNvSpPr/>
          <p:nvPr/>
        </p:nvSpPr>
        <p:spPr>
          <a:xfrm>
            <a:off x="9125712" y="4928616"/>
            <a:ext cx="47548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142.4h</a:t>
            </a:r>
            <a:endParaRPr lang="en-US" sz="650" dirty="0"/>
          </a:p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realizadas</a:t>
            </a:r>
            <a:endParaRPr lang="en-US" sz="650" dirty="0"/>
          </a:p>
        </p:txBody>
      </p:sp>
      <p:sp>
        <p:nvSpPr>
          <p:cNvPr id="159" name="Text 157"/>
          <p:cNvSpPr/>
          <p:nvPr/>
        </p:nvSpPr>
        <p:spPr>
          <a:xfrm>
            <a:off x="7379208" y="5184648"/>
            <a:ext cx="220370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7 Bugs · 7 SRs no periodo</a:t>
            </a:r>
            <a:endParaRPr lang="en-US" sz="750" dirty="0"/>
          </a:p>
        </p:txBody>
      </p:sp>
      <p:sp>
        <p:nvSpPr>
          <p:cNvPr id="160" name="Text 158"/>
          <p:cNvSpPr/>
          <p:nvPr/>
        </p:nvSpPr>
        <p:spPr>
          <a:xfrm>
            <a:off x="7379208" y="5367528"/>
            <a:ext cx="22037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Horas nao planejadas: 142.4h</a:t>
            </a:r>
            <a:endParaRPr lang="en-US" sz="750" dirty="0"/>
          </a:p>
        </p:txBody>
      </p:sp>
      <p:sp>
        <p:nvSpPr>
          <p:cNvPr id="161" name="Shape 159"/>
          <p:cNvSpPr/>
          <p:nvPr/>
        </p:nvSpPr>
        <p:spPr>
          <a:xfrm>
            <a:off x="9738360" y="4873752"/>
            <a:ext cx="2350008" cy="877824"/>
          </a:xfrm>
          <a:prstGeom prst="rect">
            <a:avLst/>
          </a:prstGeom>
          <a:solidFill>
            <a:srgbClr val="FFFBEB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162" name="Text 160"/>
          <p:cNvSpPr/>
          <p:nvPr/>
        </p:nvSpPr>
        <p:spPr>
          <a:xfrm>
            <a:off x="9811512" y="4937760"/>
            <a:ext cx="17556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D97706"/>
                </a:solidFill>
              </a:rPr>
              <a:t>EXPANSAO DE ESCOPO</a:t>
            </a:r>
            <a:endParaRPr lang="en-US" sz="700" dirty="0"/>
          </a:p>
        </p:txBody>
      </p:sp>
      <p:sp>
        <p:nvSpPr>
          <p:cNvPr id="163" name="Shape 161"/>
          <p:cNvSpPr/>
          <p:nvPr/>
        </p:nvSpPr>
        <p:spPr>
          <a:xfrm>
            <a:off x="11558016" y="4928616"/>
            <a:ext cx="475488" cy="292608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64" name="Text 162"/>
          <p:cNvSpPr/>
          <p:nvPr/>
        </p:nvSpPr>
        <p:spPr>
          <a:xfrm>
            <a:off x="11558016" y="4928616"/>
            <a:ext cx="47548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84</a:t>
            </a:r>
            <a:endParaRPr lang="en-US" sz="650" dirty="0"/>
          </a:p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itens</a:t>
            </a:r>
            <a:endParaRPr lang="en-US" sz="650" dirty="0"/>
          </a:p>
        </p:txBody>
      </p:sp>
      <p:sp>
        <p:nvSpPr>
          <p:cNvPr id="165" name="Text 163"/>
          <p:cNvSpPr/>
          <p:nvPr/>
        </p:nvSpPr>
        <p:spPr>
          <a:xfrm>
            <a:off x="9811512" y="5184648"/>
            <a:ext cx="220370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84 itens criados pos 01/05</a:t>
            </a:r>
            <a:endParaRPr lang="en-US" sz="750" dirty="0"/>
          </a:p>
        </p:txBody>
      </p:sp>
      <p:sp>
        <p:nvSpPr>
          <p:cNvPr id="166" name="Text 164"/>
          <p:cNvSpPr/>
          <p:nvPr/>
        </p:nvSpPr>
        <p:spPr>
          <a:xfrm>
            <a:off x="9811512" y="5367528"/>
            <a:ext cx="22037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Princ +18h · Redund +133h · Obs +7h</a:t>
            </a:r>
            <a:endParaRPr lang="en-US" sz="750" dirty="0"/>
          </a:p>
        </p:txBody>
      </p:sp>
      <p:sp>
        <p:nvSpPr>
          <p:cNvPr id="167" name="Shape 165"/>
          <p:cNvSpPr/>
          <p:nvPr/>
        </p:nvSpPr>
        <p:spPr>
          <a:xfrm>
            <a:off x="2441448" y="5797296"/>
            <a:ext cx="8257032" cy="73152"/>
          </a:xfrm>
          <a:prstGeom prst="rect">
            <a:avLst/>
          </a:prstGeom>
          <a:solidFill>
            <a:srgbClr val="374151"/>
          </a:solidFill>
          <a:ln w="12700">
            <a:solidFill>
              <a:srgbClr val="374151"/>
            </a:solidFill>
            <a:prstDash val="solid"/>
          </a:ln>
        </p:spPr>
      </p:sp>
      <p:sp>
        <p:nvSpPr>
          <p:cNvPr id="168" name="Text 166"/>
          <p:cNvSpPr/>
          <p:nvPr/>
        </p:nvSpPr>
        <p:spPr>
          <a:xfrm>
            <a:off x="2441448" y="5797296"/>
            <a:ext cx="8257032" cy="731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</a:rPr>
              <a:t>D E V S</a:t>
            </a:r>
            <a:endParaRPr lang="en-US" sz="700" dirty="0"/>
          </a:p>
        </p:txBody>
      </p:sp>
      <p:sp>
        <p:nvSpPr>
          <p:cNvPr id="169" name="Shape 167"/>
          <p:cNvSpPr/>
          <p:nvPr/>
        </p:nvSpPr>
        <p:spPr>
          <a:xfrm>
            <a:off x="10780776" y="5797296"/>
            <a:ext cx="1307592" cy="73152"/>
          </a:xfrm>
          <a:prstGeom prst="rect">
            <a:avLst/>
          </a:prstGeom>
          <a:solidFill>
            <a:srgbClr val="1E6FA8"/>
          </a:solidFill>
          <a:ln w="12700">
            <a:solidFill>
              <a:srgbClr val="1E6FA8"/>
            </a:solidFill>
            <a:prstDash val="solid"/>
          </a:ln>
        </p:spPr>
      </p:sp>
      <p:sp>
        <p:nvSpPr>
          <p:cNvPr id="170" name="Text 168"/>
          <p:cNvSpPr/>
          <p:nvPr/>
        </p:nvSpPr>
        <p:spPr>
          <a:xfrm>
            <a:off x="10780776" y="5797296"/>
            <a:ext cx="1307592" cy="731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</a:rPr>
              <a:t>Q A</a:t>
            </a:r>
            <a:endParaRPr lang="en-US" sz="700" dirty="0"/>
          </a:p>
        </p:txBody>
      </p:sp>
      <p:sp>
        <p:nvSpPr>
          <p:cNvPr id="171" name="Shape 169"/>
          <p:cNvSpPr/>
          <p:nvPr/>
        </p:nvSpPr>
        <p:spPr>
          <a:xfrm>
            <a:off x="2441448" y="5879592"/>
            <a:ext cx="1307592" cy="941832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172" name="Text 170"/>
          <p:cNvSpPr/>
          <p:nvPr/>
        </p:nvSpPr>
        <p:spPr>
          <a:xfrm>
            <a:off x="2496312" y="5952744"/>
            <a:ext cx="119786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222222"/>
                </a:solidFill>
              </a:rPr>
              <a:t>Gabriel Pigatto</a:t>
            </a:r>
            <a:endParaRPr lang="en-US" sz="850" dirty="0"/>
          </a:p>
        </p:txBody>
      </p:sp>
      <p:sp>
        <p:nvSpPr>
          <p:cNvPr id="173" name="Shape 171"/>
          <p:cNvSpPr/>
          <p:nvPr/>
        </p:nvSpPr>
        <p:spPr>
          <a:xfrm>
            <a:off x="2496312" y="6153912"/>
            <a:ext cx="1197864" cy="7315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174" name="Shape 172"/>
          <p:cNvSpPr/>
          <p:nvPr/>
        </p:nvSpPr>
        <p:spPr>
          <a:xfrm>
            <a:off x="2496312" y="6153912"/>
            <a:ext cx="1119220" cy="73152"/>
          </a:xfrm>
          <a:prstGeom prst="rect">
            <a:avLst/>
          </a:prstGeom>
          <a:solidFill>
            <a:srgbClr val="1D9E75"/>
          </a:solidFill>
          <a:ln w="12700">
            <a:solidFill>
              <a:srgbClr val="1D9E75"/>
            </a:solidFill>
            <a:prstDash val="solid"/>
          </a:ln>
        </p:spPr>
      </p:sp>
      <p:sp>
        <p:nvSpPr>
          <p:cNvPr id="175" name="Text 173"/>
          <p:cNvSpPr/>
          <p:nvPr/>
        </p:nvSpPr>
        <p:spPr>
          <a:xfrm>
            <a:off x="2496312" y="6245352"/>
            <a:ext cx="119786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D9E75"/>
                </a:solidFill>
              </a:rPr>
              <a:t>153.7h · 31 subs finalizadas</a:t>
            </a:r>
            <a:endParaRPr lang="en-US" sz="950" dirty="0"/>
          </a:p>
        </p:txBody>
      </p:sp>
      <p:sp>
        <p:nvSpPr>
          <p:cNvPr id="176" name="Text 174"/>
          <p:cNvSpPr/>
          <p:nvPr/>
        </p:nvSpPr>
        <p:spPr>
          <a:xfrm>
            <a:off x="2496312" y="6464808"/>
            <a:ext cx="119786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88888"/>
                </a:solidFill>
              </a:rPr>
              <a:t>164.5h estimadas</a:t>
            </a:r>
            <a:endParaRPr lang="en-US" sz="850" dirty="0"/>
          </a:p>
        </p:txBody>
      </p:sp>
      <p:sp>
        <p:nvSpPr>
          <p:cNvPr id="177" name="Shape 175"/>
          <p:cNvSpPr/>
          <p:nvPr/>
        </p:nvSpPr>
        <p:spPr>
          <a:xfrm>
            <a:off x="3831336" y="5879592"/>
            <a:ext cx="1307592" cy="941832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178" name="Text 176"/>
          <p:cNvSpPr/>
          <p:nvPr/>
        </p:nvSpPr>
        <p:spPr>
          <a:xfrm>
            <a:off x="3886200" y="5952744"/>
            <a:ext cx="119786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222222"/>
                </a:solidFill>
              </a:rPr>
              <a:t>Artur Silva</a:t>
            </a:r>
            <a:endParaRPr lang="en-US" sz="850" dirty="0"/>
          </a:p>
        </p:txBody>
      </p:sp>
      <p:sp>
        <p:nvSpPr>
          <p:cNvPr id="179" name="Shape 177"/>
          <p:cNvSpPr/>
          <p:nvPr/>
        </p:nvSpPr>
        <p:spPr>
          <a:xfrm>
            <a:off x="3886200" y="6153912"/>
            <a:ext cx="1197864" cy="7315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180" name="Shape 178"/>
          <p:cNvSpPr/>
          <p:nvPr/>
        </p:nvSpPr>
        <p:spPr>
          <a:xfrm>
            <a:off x="3886200" y="6153912"/>
            <a:ext cx="1197864" cy="73152"/>
          </a:xfrm>
          <a:prstGeom prst="rect">
            <a:avLst/>
          </a:prstGeom>
          <a:solidFill>
            <a:srgbClr val="D85A30"/>
          </a:solidFill>
          <a:ln w="12700">
            <a:solidFill>
              <a:srgbClr val="D85A30"/>
            </a:solidFill>
            <a:prstDash val="solid"/>
          </a:ln>
        </p:spPr>
      </p:sp>
      <p:sp>
        <p:nvSpPr>
          <p:cNvPr id="181" name="Text 179"/>
          <p:cNvSpPr/>
          <p:nvPr/>
        </p:nvSpPr>
        <p:spPr>
          <a:xfrm>
            <a:off x="3886200" y="6245352"/>
            <a:ext cx="119786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D85A30"/>
                </a:solidFill>
              </a:rPr>
              <a:t>269.5h · 45 subs finalizadas</a:t>
            </a:r>
            <a:endParaRPr lang="en-US" sz="950" dirty="0"/>
          </a:p>
        </p:txBody>
      </p:sp>
      <p:sp>
        <p:nvSpPr>
          <p:cNvPr id="182" name="Text 180"/>
          <p:cNvSpPr/>
          <p:nvPr/>
        </p:nvSpPr>
        <p:spPr>
          <a:xfrm>
            <a:off x="3886200" y="6464808"/>
            <a:ext cx="119786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88888"/>
                </a:solidFill>
              </a:rPr>
              <a:t>151.5h estimadas</a:t>
            </a:r>
            <a:endParaRPr lang="en-US" sz="850" dirty="0"/>
          </a:p>
        </p:txBody>
      </p:sp>
      <p:sp>
        <p:nvSpPr>
          <p:cNvPr id="183" name="Shape 181"/>
          <p:cNvSpPr/>
          <p:nvPr/>
        </p:nvSpPr>
        <p:spPr>
          <a:xfrm>
            <a:off x="5221224" y="5879592"/>
            <a:ext cx="1307592" cy="941832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184" name="Text 182"/>
          <p:cNvSpPr/>
          <p:nvPr/>
        </p:nvSpPr>
        <p:spPr>
          <a:xfrm>
            <a:off x="5276088" y="5952744"/>
            <a:ext cx="119786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222222"/>
                </a:solidFill>
              </a:rPr>
              <a:t>Carlos H. Almeida</a:t>
            </a:r>
            <a:endParaRPr lang="en-US" sz="850" dirty="0"/>
          </a:p>
        </p:txBody>
      </p:sp>
      <p:sp>
        <p:nvSpPr>
          <p:cNvPr id="185" name="Shape 183"/>
          <p:cNvSpPr/>
          <p:nvPr/>
        </p:nvSpPr>
        <p:spPr>
          <a:xfrm>
            <a:off x="5276088" y="6153912"/>
            <a:ext cx="1197864" cy="7315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186" name="Shape 184"/>
          <p:cNvSpPr/>
          <p:nvPr/>
        </p:nvSpPr>
        <p:spPr>
          <a:xfrm>
            <a:off x="5276088" y="6153912"/>
            <a:ext cx="1197864" cy="73152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87" name="Text 185"/>
          <p:cNvSpPr/>
          <p:nvPr/>
        </p:nvSpPr>
        <p:spPr>
          <a:xfrm>
            <a:off x="5276088" y="6245352"/>
            <a:ext cx="119786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D97706"/>
                </a:solidFill>
              </a:rPr>
              <a:t>237.7h · 28 subs finalizadas</a:t>
            </a:r>
            <a:endParaRPr lang="en-US" sz="950" dirty="0"/>
          </a:p>
        </p:txBody>
      </p:sp>
      <p:sp>
        <p:nvSpPr>
          <p:cNvPr id="188" name="Text 186"/>
          <p:cNvSpPr/>
          <p:nvPr/>
        </p:nvSpPr>
        <p:spPr>
          <a:xfrm>
            <a:off x="5276088" y="6464808"/>
            <a:ext cx="119786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88888"/>
                </a:solidFill>
              </a:rPr>
              <a:t>206h estimadas</a:t>
            </a:r>
            <a:endParaRPr lang="en-US" sz="850" dirty="0"/>
          </a:p>
        </p:txBody>
      </p:sp>
      <p:sp>
        <p:nvSpPr>
          <p:cNvPr id="189" name="Shape 187"/>
          <p:cNvSpPr/>
          <p:nvPr/>
        </p:nvSpPr>
        <p:spPr>
          <a:xfrm>
            <a:off x="6611112" y="5879592"/>
            <a:ext cx="1307592" cy="941832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190" name="Text 188"/>
          <p:cNvSpPr/>
          <p:nvPr/>
        </p:nvSpPr>
        <p:spPr>
          <a:xfrm>
            <a:off x="6665976" y="5952744"/>
            <a:ext cx="119786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222222"/>
                </a:solidFill>
              </a:rPr>
              <a:t>Maria E. Muniz</a:t>
            </a:r>
            <a:endParaRPr lang="en-US" sz="850" dirty="0"/>
          </a:p>
        </p:txBody>
      </p:sp>
      <p:sp>
        <p:nvSpPr>
          <p:cNvPr id="191" name="Shape 189"/>
          <p:cNvSpPr/>
          <p:nvPr/>
        </p:nvSpPr>
        <p:spPr>
          <a:xfrm>
            <a:off x="6665976" y="6153912"/>
            <a:ext cx="1197864" cy="7315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192" name="Shape 190"/>
          <p:cNvSpPr/>
          <p:nvPr/>
        </p:nvSpPr>
        <p:spPr>
          <a:xfrm>
            <a:off x="6665976" y="6153912"/>
            <a:ext cx="1197864" cy="73152"/>
          </a:xfrm>
          <a:prstGeom prst="rect">
            <a:avLst/>
          </a:prstGeom>
          <a:solidFill>
            <a:srgbClr val="D85A30"/>
          </a:solidFill>
          <a:ln w="12700">
            <a:solidFill>
              <a:srgbClr val="D85A30"/>
            </a:solidFill>
            <a:prstDash val="solid"/>
          </a:ln>
        </p:spPr>
      </p:sp>
      <p:sp>
        <p:nvSpPr>
          <p:cNvPr id="193" name="Text 191"/>
          <p:cNvSpPr/>
          <p:nvPr/>
        </p:nvSpPr>
        <p:spPr>
          <a:xfrm>
            <a:off x="6665976" y="6245352"/>
            <a:ext cx="119786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D85A30"/>
                </a:solidFill>
              </a:rPr>
              <a:t>65.5h · 17 subs finalizadas</a:t>
            </a:r>
            <a:endParaRPr lang="en-US" sz="950" dirty="0"/>
          </a:p>
        </p:txBody>
      </p:sp>
      <p:sp>
        <p:nvSpPr>
          <p:cNvPr id="194" name="Text 192"/>
          <p:cNvSpPr/>
          <p:nvPr/>
        </p:nvSpPr>
        <p:spPr>
          <a:xfrm>
            <a:off x="6665976" y="6464808"/>
            <a:ext cx="119786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88888"/>
                </a:solidFill>
              </a:rPr>
              <a:t>34h estimadas</a:t>
            </a:r>
            <a:endParaRPr lang="en-US" sz="850" dirty="0"/>
          </a:p>
        </p:txBody>
      </p:sp>
      <p:sp>
        <p:nvSpPr>
          <p:cNvPr id="195" name="Shape 193"/>
          <p:cNvSpPr/>
          <p:nvPr/>
        </p:nvSpPr>
        <p:spPr>
          <a:xfrm>
            <a:off x="8001000" y="5879592"/>
            <a:ext cx="1307592" cy="941832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196" name="Text 194"/>
          <p:cNvSpPr/>
          <p:nvPr/>
        </p:nvSpPr>
        <p:spPr>
          <a:xfrm>
            <a:off x="8055864" y="5952744"/>
            <a:ext cx="119786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222222"/>
                </a:solidFill>
              </a:rPr>
              <a:t>Fabio Santos</a:t>
            </a:r>
            <a:endParaRPr lang="en-US" sz="850" dirty="0"/>
          </a:p>
        </p:txBody>
      </p:sp>
      <p:sp>
        <p:nvSpPr>
          <p:cNvPr id="197" name="Shape 195"/>
          <p:cNvSpPr/>
          <p:nvPr/>
        </p:nvSpPr>
        <p:spPr>
          <a:xfrm>
            <a:off x="8055864" y="6153912"/>
            <a:ext cx="1197864" cy="7315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198" name="Shape 196"/>
          <p:cNvSpPr/>
          <p:nvPr/>
        </p:nvSpPr>
        <p:spPr>
          <a:xfrm>
            <a:off x="8055864" y="6153912"/>
            <a:ext cx="1197864" cy="73152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99" name="Text 197"/>
          <p:cNvSpPr/>
          <p:nvPr/>
        </p:nvSpPr>
        <p:spPr>
          <a:xfrm>
            <a:off x="8055864" y="6245352"/>
            <a:ext cx="119786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D97706"/>
                </a:solidFill>
              </a:rPr>
              <a:t>164.5h · 21 subs finalizadas</a:t>
            </a:r>
            <a:endParaRPr lang="en-US" sz="950" dirty="0"/>
          </a:p>
        </p:txBody>
      </p:sp>
      <p:sp>
        <p:nvSpPr>
          <p:cNvPr id="200" name="Text 198"/>
          <p:cNvSpPr/>
          <p:nvPr/>
        </p:nvSpPr>
        <p:spPr>
          <a:xfrm>
            <a:off x="8055864" y="6464808"/>
            <a:ext cx="119786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88888"/>
                </a:solidFill>
              </a:rPr>
              <a:t>164h estimadas</a:t>
            </a:r>
            <a:endParaRPr lang="en-US" sz="850" dirty="0"/>
          </a:p>
        </p:txBody>
      </p:sp>
      <p:sp>
        <p:nvSpPr>
          <p:cNvPr id="201" name="Shape 199"/>
          <p:cNvSpPr/>
          <p:nvPr/>
        </p:nvSpPr>
        <p:spPr>
          <a:xfrm>
            <a:off x="9390888" y="5879592"/>
            <a:ext cx="1307592" cy="941832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202" name="Text 200"/>
          <p:cNvSpPr/>
          <p:nvPr/>
        </p:nvSpPr>
        <p:spPr>
          <a:xfrm>
            <a:off x="9445752" y="5952744"/>
            <a:ext cx="119786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222222"/>
                </a:solidFill>
              </a:rPr>
              <a:t>Albert V. Foureaux</a:t>
            </a:r>
            <a:endParaRPr lang="en-US" sz="850" dirty="0"/>
          </a:p>
        </p:txBody>
      </p:sp>
      <p:sp>
        <p:nvSpPr>
          <p:cNvPr id="203" name="Shape 201"/>
          <p:cNvSpPr/>
          <p:nvPr/>
        </p:nvSpPr>
        <p:spPr>
          <a:xfrm>
            <a:off x="9445752" y="6153912"/>
            <a:ext cx="1197864" cy="7315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204" name="Shape 202"/>
          <p:cNvSpPr/>
          <p:nvPr/>
        </p:nvSpPr>
        <p:spPr>
          <a:xfrm>
            <a:off x="9445752" y="6153912"/>
            <a:ext cx="1197864" cy="73152"/>
          </a:xfrm>
          <a:prstGeom prst="rect">
            <a:avLst/>
          </a:prstGeom>
          <a:solidFill>
            <a:srgbClr val="1D9E75"/>
          </a:solidFill>
          <a:ln w="12700">
            <a:solidFill>
              <a:srgbClr val="1D9E75"/>
            </a:solidFill>
            <a:prstDash val="solid"/>
          </a:ln>
        </p:spPr>
      </p:sp>
      <p:sp>
        <p:nvSpPr>
          <p:cNvPr id="205" name="Text 203"/>
          <p:cNvSpPr/>
          <p:nvPr/>
        </p:nvSpPr>
        <p:spPr>
          <a:xfrm>
            <a:off x="9445752" y="6245352"/>
            <a:ext cx="119786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D9E75"/>
                </a:solidFill>
              </a:rPr>
              <a:t>6.5h · 1 subs finalizadas</a:t>
            </a:r>
            <a:endParaRPr lang="en-US" sz="950" dirty="0"/>
          </a:p>
        </p:txBody>
      </p:sp>
      <p:sp>
        <p:nvSpPr>
          <p:cNvPr id="206" name="Text 204"/>
          <p:cNvSpPr/>
          <p:nvPr/>
        </p:nvSpPr>
        <p:spPr>
          <a:xfrm>
            <a:off x="9445752" y="6464808"/>
            <a:ext cx="119786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88888"/>
                </a:solidFill>
              </a:rPr>
              <a:t>6.5h estimadas</a:t>
            </a:r>
            <a:endParaRPr lang="en-US" sz="850" dirty="0"/>
          </a:p>
        </p:txBody>
      </p:sp>
      <p:sp>
        <p:nvSpPr>
          <p:cNvPr id="207" name="Shape 205"/>
          <p:cNvSpPr/>
          <p:nvPr/>
        </p:nvSpPr>
        <p:spPr>
          <a:xfrm>
            <a:off x="10780776" y="5879592"/>
            <a:ext cx="1307592" cy="941832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208" name="Text 206"/>
          <p:cNvSpPr/>
          <p:nvPr/>
        </p:nvSpPr>
        <p:spPr>
          <a:xfrm>
            <a:off x="10835640" y="5952744"/>
            <a:ext cx="119786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222222"/>
                </a:solidFill>
              </a:rPr>
              <a:t>James G. Pereira</a:t>
            </a:r>
            <a:endParaRPr lang="en-US" sz="850" dirty="0"/>
          </a:p>
        </p:txBody>
      </p:sp>
      <p:sp>
        <p:nvSpPr>
          <p:cNvPr id="209" name="Shape 207"/>
          <p:cNvSpPr/>
          <p:nvPr/>
        </p:nvSpPr>
        <p:spPr>
          <a:xfrm>
            <a:off x="10835640" y="6153912"/>
            <a:ext cx="1197864" cy="7315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210" name="Shape 208"/>
          <p:cNvSpPr/>
          <p:nvPr/>
        </p:nvSpPr>
        <p:spPr>
          <a:xfrm>
            <a:off x="10835640" y="6153912"/>
            <a:ext cx="860005" cy="73152"/>
          </a:xfrm>
          <a:prstGeom prst="rect">
            <a:avLst/>
          </a:prstGeom>
          <a:solidFill>
            <a:srgbClr val="1D9E75"/>
          </a:solidFill>
          <a:ln w="12700">
            <a:solidFill>
              <a:srgbClr val="1D9E75"/>
            </a:solidFill>
            <a:prstDash val="solid"/>
          </a:ln>
        </p:spPr>
      </p:sp>
      <p:sp>
        <p:nvSpPr>
          <p:cNvPr id="211" name="Text 209"/>
          <p:cNvSpPr/>
          <p:nvPr/>
        </p:nvSpPr>
        <p:spPr>
          <a:xfrm>
            <a:off x="10835640" y="6245352"/>
            <a:ext cx="119786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D9E75"/>
                </a:solidFill>
              </a:rPr>
              <a:t>28h · 5 subs finalizadas</a:t>
            </a:r>
            <a:endParaRPr lang="en-US" sz="950" dirty="0"/>
          </a:p>
        </p:txBody>
      </p:sp>
      <p:sp>
        <p:nvSpPr>
          <p:cNvPr id="212" name="Text 210"/>
          <p:cNvSpPr/>
          <p:nvPr/>
        </p:nvSpPr>
        <p:spPr>
          <a:xfrm>
            <a:off x="10835640" y="6464808"/>
            <a:ext cx="119786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88888"/>
                </a:solidFill>
              </a:rPr>
              <a:t>39h estimadas</a:t>
            </a:r>
            <a:endParaRPr lang="en-US" sz="8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Status Report — Quadro de Aulas</dc:title>
  <dc:subject>PptxGenJS Presentation</dc:subject>
  <dc:creator>PptxGenJS</dc:creator>
  <cp:lastModifiedBy>PptxGenJS</cp:lastModifiedBy>
  <cp:revision>1</cp:revision>
  <dcterms:created xsi:type="dcterms:W3CDTF">2026-06-03T12:30:15Z</dcterms:created>
  <dcterms:modified xsi:type="dcterms:W3CDTF">2026-06-03T12:30:15Z</dcterms:modified>
</cp:coreProperties>
</file>