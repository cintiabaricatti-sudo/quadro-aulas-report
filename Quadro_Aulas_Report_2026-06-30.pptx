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331720" cy="6858000"/>
          </a:xfrm>
          <a:prstGeom prst="rect">
            <a:avLst/>
          </a:prstGeom>
          <a:solidFill>
            <a:srgbClr val="1C2B4A"/>
          </a:solidFill>
          <a:ln w="12700">
            <a:solidFill>
              <a:srgbClr val="1C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7160" y="16459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400" kern="0" dirty="0">
                <a:solidFill>
                  <a:srgbClr val="8FA3C0"/>
                </a:solidFill>
              </a:rPr>
              <a:t>STATUS REPORT</a:t>
            </a:r>
            <a:endParaRPr lang="en-US" sz="650" dirty="0"/>
          </a:p>
        </p:txBody>
      </p:sp>
      <p:sp>
        <p:nvSpPr>
          <p:cNvPr id="4" name="Text 2"/>
          <p:cNvSpPr/>
          <p:nvPr/>
        </p:nvSpPr>
        <p:spPr>
          <a:xfrm>
            <a:off x="137160" y="329184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FFFFF"/>
                </a:solidFill>
              </a:rPr>
              <a:t>Quadro de Aulas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137160" y="64008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8FA3C0"/>
                </a:solidFill>
              </a:rPr>
              <a:t>Resiliencia Sistemica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7160" y="82296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30 de Junho de 2026 as 19:04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137160" y="1005840"/>
            <a:ext cx="2057400" cy="13716"/>
          </a:xfrm>
          <a:prstGeom prst="rect">
            <a:avLst/>
          </a:prstGeom>
          <a:solidFill>
            <a:srgbClr val="2D4A73"/>
          </a:solidFill>
          <a:ln w="12700">
            <a:solidFill>
              <a:srgbClr val="2D4A7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" y="1078992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TOTAL DE ITENS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7160" y="1225296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393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37160" y="164592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CONCLUIDOS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137160" y="1792224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4ADE80"/>
                </a:solidFill>
              </a:rPr>
              <a:t>335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" y="221284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EM PROGRESSO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137160" y="2359152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CD34D"/>
                </a:solidFill>
              </a:rPr>
              <a:t>6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37160" y="277977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A FAZER / BACKLOG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137160" y="2926080"/>
            <a:ext cx="2148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34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" y="338328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PROGRESSO GERAL</a:t>
            </a:r>
            <a:endParaRPr lang="en-US" sz="650" dirty="0"/>
          </a:p>
        </p:txBody>
      </p:sp>
      <p:sp>
        <p:nvSpPr>
          <p:cNvPr id="17" name="Shape 15"/>
          <p:cNvSpPr/>
          <p:nvPr/>
        </p:nvSpPr>
        <p:spPr>
          <a:xfrm>
            <a:off x="137160" y="3538728"/>
            <a:ext cx="2057400" cy="914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3538728"/>
            <a:ext cx="1748790" cy="9144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" y="3648456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85% concluido  .  335 de 393 itens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137160" y="3794760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Cancelados excluidos do escopo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137160" y="3977640"/>
            <a:ext cx="2148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b="1" spc="200" kern="0" dirty="0">
                <a:solidFill>
                  <a:srgbClr val="8FA3C0"/>
                </a:solidFill>
              </a:rPr>
              <a:t>VELOCIDADE RECENTE</a:t>
            </a:r>
            <a:endParaRPr lang="en-US" sz="650" dirty="0"/>
          </a:p>
        </p:txBody>
      </p:sp>
      <p:sp>
        <p:nvSpPr>
          <p:cNvPr id="22" name="Text 20"/>
          <p:cNvSpPr/>
          <p:nvPr/>
        </p:nvSpPr>
        <p:spPr>
          <a:xfrm>
            <a:off x="137160" y="4114800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CD34D"/>
                </a:solidFill>
              </a:rPr>
              <a:t>18h/dia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7160" y="4425696"/>
            <a:ext cx="2148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FA3C0"/>
                </a:solidFill>
              </a:rPr>
              <a:t>velocidade fixada pelo time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137160" y="6492240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Squad Lecionar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137160" y="6647688"/>
            <a:ext cx="2148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FA3C0"/>
                </a:solidFill>
              </a:rPr>
              <a:t>Cintia Baricatti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41448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PRINCIPAL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441448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2514600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5 Stories · 3 NFT · 71 itens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2514600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1 . Em progresso: 0 . Finalizados: 70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2514600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274h . Real: 294.3h . Rem: 1h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2514600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514600" y="859536"/>
            <a:ext cx="1939260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514600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88% · 7 de 8</a:t>
            </a:r>
            <a:endParaRPr lang="en-US" sz="650" dirty="0"/>
          </a:p>
        </p:txBody>
      </p:sp>
      <p:sp>
        <p:nvSpPr>
          <p:cNvPr id="35" name="Shape 33"/>
          <p:cNvSpPr/>
          <p:nvPr/>
        </p:nvSpPr>
        <p:spPr>
          <a:xfrm>
            <a:off x="2514600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514600" y="1033272"/>
            <a:ext cx="2181667" cy="5029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514600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99% · 70 de 71</a:t>
            </a:r>
            <a:endParaRPr lang="en-US" sz="650" dirty="0"/>
          </a:p>
        </p:txBody>
      </p:sp>
      <p:sp>
        <p:nvSpPr>
          <p:cNvPr id="38" name="Text 36"/>
          <p:cNvSpPr/>
          <p:nvPr/>
        </p:nvSpPr>
        <p:spPr>
          <a:xfrm>
            <a:off x="2514600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295.3h (+21.3h / +8%)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73752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REDUNDANTE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73752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946904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Stories · 4 NFT · 114 itens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4946904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4 . Em progresso: 0 . Finalizados: 110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46904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432.5h . Real: 588.1h . Rem: 8h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4946904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46904" y="859536"/>
            <a:ext cx="2005371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946904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91% · 10 de 11</a:t>
            </a:r>
            <a:endParaRPr lang="en-US" sz="650" dirty="0"/>
          </a:p>
        </p:txBody>
      </p:sp>
      <p:sp>
        <p:nvSpPr>
          <p:cNvPr id="48" name="Shape 46"/>
          <p:cNvSpPr/>
          <p:nvPr/>
        </p:nvSpPr>
        <p:spPr>
          <a:xfrm>
            <a:off x="4946904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946904" y="1033272"/>
            <a:ext cx="2115556" cy="50292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946904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96% · 110 de 114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4946904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596.1h (+163.6h / +38%)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7306056" y="73152"/>
            <a:ext cx="2350008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306056" y="73152"/>
            <a:ext cx="145700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COMPLEMENTARES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8786561" y="73152"/>
            <a:ext cx="86950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D5D5"/>
                </a:solidFill>
              </a:rPr>
              <a:t>CANCELADO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7306056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7379208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 Story · 9 itens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7379208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0 . Em progresso: 0 . Finalizados: 9</a:t>
            </a:r>
            <a:endParaRPr lang="en-US" sz="750" dirty="0"/>
          </a:p>
        </p:txBody>
      </p:sp>
      <p:sp>
        <p:nvSpPr>
          <p:cNvPr id="58" name="Text 56"/>
          <p:cNvSpPr/>
          <p:nvPr/>
        </p:nvSpPr>
        <p:spPr>
          <a:xfrm>
            <a:off x="7379208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27h . Real: 75.5h . Rem: 0h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79208" y="859536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379208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100% · 1 de 1</a:t>
            </a:r>
            <a:endParaRPr lang="en-US" sz="650" dirty="0"/>
          </a:p>
        </p:txBody>
      </p:sp>
      <p:sp>
        <p:nvSpPr>
          <p:cNvPr id="62" name="Shape 60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379208" y="1033272"/>
            <a:ext cx="2203704" cy="5029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379208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100% · 9 de 9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7379208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DC2626"/>
                </a:solidFill>
              </a:rPr>
              <a:t>Projetado: 75.5h (+48.5h / +180%)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738360" y="73152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OBSERVABILIDADE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9738360" y="329184"/>
            <a:ext cx="2350008" cy="175564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9811512" y="402336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17 Stories · 1 NFT · 124 itens</a:t>
            </a:r>
            <a:endParaRPr lang="en-US" sz="750" dirty="0"/>
          </a:p>
        </p:txBody>
      </p:sp>
      <p:sp>
        <p:nvSpPr>
          <p:cNvPr id="70" name="Text 68"/>
          <p:cNvSpPr/>
          <p:nvPr/>
        </p:nvSpPr>
        <p:spPr>
          <a:xfrm>
            <a:off x="9811512" y="566928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A Fazer: 27 . Em progresso: 5 . Finalizados: 92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9811512" y="713232"/>
            <a:ext cx="22037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Est: 499.5h . Real: 264.8h . Rem: 111h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9811512" y="859536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811512" y="859536"/>
            <a:ext cx="0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811512" y="914400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Stories/NFTs: 0% · 0 de 18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9811512" y="1033272"/>
            <a:ext cx="2203704" cy="502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811512" y="1033272"/>
            <a:ext cx="1630741" cy="5029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811512" y="1088136"/>
            <a:ext cx="22037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888888"/>
                </a:solidFill>
              </a:rPr>
              <a:t>Subs: 74% · 92 de 124</a:t>
            </a:r>
            <a:endParaRPr lang="en-US" sz="650" dirty="0"/>
          </a:p>
        </p:txBody>
      </p:sp>
      <p:sp>
        <p:nvSpPr>
          <p:cNvPr id="78" name="Text 76"/>
          <p:cNvSpPr/>
          <p:nvPr/>
        </p:nvSpPr>
        <p:spPr>
          <a:xfrm>
            <a:off x="9811512" y="1234440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9E75"/>
                </a:solidFill>
              </a:rPr>
              <a:t>Projetado: 375.8h (-123.7h / -25%)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2441448" y="2121408"/>
            <a:ext cx="9646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80" name="Text 78"/>
          <p:cNvSpPr/>
          <p:nvPr/>
        </p:nvSpPr>
        <p:spPr>
          <a:xfrm>
            <a:off x="2532888" y="2176272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HORAS - ESTIMADO vs. PROJETADO</a:t>
            </a:r>
            <a:endParaRPr lang="en-US" sz="700" dirty="0"/>
          </a:p>
        </p:txBody>
      </p:sp>
      <p:sp>
        <p:nvSpPr>
          <p:cNvPr id="81" name="Text 79"/>
          <p:cNvSpPr/>
          <p:nvPr/>
        </p:nvSpPr>
        <p:spPr>
          <a:xfrm>
            <a:off x="253288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PLANEJADO</a:t>
            </a:r>
            <a:endParaRPr lang="en-US" sz="700" dirty="0"/>
          </a:p>
        </p:txBody>
      </p:sp>
      <p:sp>
        <p:nvSpPr>
          <p:cNvPr id="82" name="Text 80"/>
          <p:cNvSpPr/>
          <p:nvPr/>
        </p:nvSpPr>
        <p:spPr>
          <a:xfrm>
            <a:off x="253288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</a:rPr>
              <a:t>1249h</a:t>
            </a:r>
            <a:endParaRPr lang="en-US" sz="2400" dirty="0"/>
          </a:p>
        </p:txBody>
      </p:sp>
      <p:sp>
        <p:nvSpPr>
          <p:cNvPr id="83" name="Text 81"/>
          <p:cNvSpPr/>
          <p:nvPr/>
        </p:nvSpPr>
        <p:spPr>
          <a:xfrm>
            <a:off x="253288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original estimate</a:t>
            </a:r>
            <a:endParaRPr lang="en-US" sz="700" dirty="0"/>
          </a:p>
        </p:txBody>
      </p:sp>
      <p:sp>
        <p:nvSpPr>
          <p:cNvPr id="84" name="Shape 82"/>
          <p:cNvSpPr/>
          <p:nvPr/>
        </p:nvSpPr>
        <p:spPr>
          <a:xfrm>
            <a:off x="485317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94461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JA GASTO</a:t>
            </a:r>
            <a:endParaRPr lang="en-US" sz="700" dirty="0"/>
          </a:p>
        </p:txBody>
      </p:sp>
      <p:sp>
        <p:nvSpPr>
          <p:cNvPr id="86" name="Text 84"/>
          <p:cNvSpPr/>
          <p:nvPr/>
        </p:nvSpPr>
        <p:spPr>
          <a:xfrm>
            <a:off x="494461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1310.7h</a:t>
            </a:r>
            <a:endParaRPr lang="en-US" sz="2400" dirty="0"/>
          </a:p>
        </p:txBody>
      </p:sp>
      <p:sp>
        <p:nvSpPr>
          <p:cNvPr id="87" name="Text 85"/>
          <p:cNvSpPr/>
          <p:nvPr/>
        </p:nvSpPr>
        <p:spPr>
          <a:xfrm>
            <a:off x="494461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completed work</a:t>
            </a:r>
            <a:endParaRPr lang="en-US" sz="700" dirty="0"/>
          </a:p>
        </p:txBody>
      </p:sp>
      <p:sp>
        <p:nvSpPr>
          <p:cNvPr id="88" name="Shape 86"/>
          <p:cNvSpPr/>
          <p:nvPr/>
        </p:nvSpPr>
        <p:spPr>
          <a:xfrm>
            <a:off x="726490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35634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FALTA</a:t>
            </a:r>
            <a:endParaRPr lang="en-US" sz="700" dirty="0"/>
          </a:p>
        </p:txBody>
      </p:sp>
      <p:sp>
        <p:nvSpPr>
          <p:cNvPr id="90" name="Text 88"/>
          <p:cNvSpPr/>
          <p:nvPr/>
        </p:nvSpPr>
        <p:spPr>
          <a:xfrm>
            <a:off x="735634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87171"/>
                </a:solidFill>
              </a:rPr>
              <a:t>120h</a:t>
            </a:r>
            <a:endParaRPr lang="en-US" sz="2400" dirty="0"/>
          </a:p>
        </p:txBody>
      </p:sp>
      <p:sp>
        <p:nvSpPr>
          <p:cNvPr id="91" name="Text 89"/>
          <p:cNvSpPr/>
          <p:nvPr/>
        </p:nvSpPr>
        <p:spPr>
          <a:xfrm>
            <a:off x="735634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remaining (devs)</a:t>
            </a:r>
            <a:endParaRPr lang="en-US" sz="700" dirty="0"/>
          </a:p>
        </p:txBody>
      </p:sp>
      <p:sp>
        <p:nvSpPr>
          <p:cNvPr id="92" name="Shape 90"/>
          <p:cNvSpPr/>
          <p:nvPr/>
        </p:nvSpPr>
        <p:spPr>
          <a:xfrm>
            <a:off x="9676638" y="2322576"/>
            <a:ext cx="9144" cy="603504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9768078" y="2322576"/>
            <a:ext cx="222885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spc="100" kern="0" dirty="0">
                <a:solidFill>
                  <a:srgbClr val="888888"/>
                </a:solidFill>
              </a:rPr>
              <a:t>AUMENTO DE ESFORCO</a:t>
            </a:r>
            <a:endParaRPr lang="en-US" sz="700" dirty="0"/>
          </a:p>
        </p:txBody>
      </p:sp>
      <p:sp>
        <p:nvSpPr>
          <p:cNvPr id="94" name="Text 92"/>
          <p:cNvSpPr/>
          <p:nvPr/>
        </p:nvSpPr>
        <p:spPr>
          <a:xfrm>
            <a:off x="9768078" y="2450592"/>
            <a:ext cx="222885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97706"/>
                </a:solidFill>
              </a:rPr>
              <a:t>+181.7h</a:t>
            </a:r>
            <a:endParaRPr lang="en-US" sz="2400" dirty="0"/>
          </a:p>
        </p:txBody>
      </p:sp>
      <p:sp>
        <p:nvSpPr>
          <p:cNvPr id="95" name="Text 93"/>
          <p:cNvSpPr/>
          <p:nvPr/>
        </p:nvSpPr>
        <p:spPr>
          <a:xfrm>
            <a:off x="9768078" y="2779776"/>
            <a:ext cx="222885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projetado: 1430.7h (+15%)</a:t>
            </a:r>
            <a:endParaRPr lang="en-US" sz="700" dirty="0"/>
          </a:p>
        </p:txBody>
      </p:sp>
      <p:sp>
        <p:nvSpPr>
          <p:cNvPr id="96" name="Shape 94"/>
          <p:cNvSpPr/>
          <p:nvPr/>
        </p:nvSpPr>
        <p:spPr>
          <a:xfrm>
            <a:off x="2441448" y="2916936"/>
            <a:ext cx="8837784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279232" y="2916936"/>
            <a:ext cx="809136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244144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255117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1 · Resiliencia Sistemica</a:t>
            </a:r>
            <a:endParaRPr lang="en-US" sz="800" dirty="0"/>
          </a:p>
        </p:txBody>
      </p:sp>
      <p:sp>
        <p:nvSpPr>
          <p:cNvPr id="100" name="Shape 98"/>
          <p:cNvSpPr/>
          <p:nvPr/>
        </p:nvSpPr>
        <p:spPr>
          <a:xfrm>
            <a:off x="656082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656082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0F6E56"/>
                </a:solidFill>
              </a:rPr>
              <a:t>97% concluido</a:t>
            </a:r>
            <a:endParaRPr lang="en-US" sz="650" dirty="0"/>
          </a:p>
        </p:txBody>
      </p:sp>
      <p:sp>
        <p:nvSpPr>
          <p:cNvPr id="102" name="Shape 100"/>
          <p:cNvSpPr/>
          <p:nvPr/>
        </p:nvSpPr>
        <p:spPr>
          <a:xfrm>
            <a:off x="2551176" y="3291840"/>
            <a:ext cx="4558284" cy="64008"/>
          </a:xfrm>
          <a:prstGeom prst="rect">
            <a:avLst/>
          </a:prstGeom>
          <a:solidFill>
            <a:srgbClr val="E1F5EE"/>
          </a:solidFill>
          <a:ln w="12700">
            <a:solidFill>
              <a:srgbClr val="E1F5EE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2551176" y="3291840"/>
            <a:ext cx="4421535" cy="640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255117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06" name="Text 104"/>
          <p:cNvSpPr/>
          <p:nvPr/>
        </p:nvSpPr>
        <p:spPr>
          <a:xfrm>
            <a:off x="255117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01/07/2026</a:t>
            </a:r>
            <a:endParaRPr lang="en-US" sz="1050" dirty="0"/>
          </a:p>
        </p:txBody>
      </p:sp>
      <p:sp>
        <p:nvSpPr>
          <p:cNvPr id="107" name="Shape 105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407060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407060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15/05/2026</a:t>
            </a:r>
            <a:endParaRPr lang="en-US" sz="1050" dirty="0"/>
          </a:p>
        </p:txBody>
      </p:sp>
      <p:sp>
        <p:nvSpPr>
          <p:cNvPr id="110" name="Shape 108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59003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12" name="Text 110"/>
          <p:cNvSpPr/>
          <p:nvPr/>
        </p:nvSpPr>
        <p:spPr>
          <a:xfrm>
            <a:off x="559003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13" name="Shape 111"/>
          <p:cNvSpPr/>
          <p:nvPr/>
        </p:nvSpPr>
        <p:spPr>
          <a:xfrm>
            <a:off x="7310628" y="3008376"/>
            <a:ext cx="4777740" cy="877824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14" name="Text 112"/>
          <p:cNvSpPr/>
          <p:nvPr/>
        </p:nvSpPr>
        <p:spPr>
          <a:xfrm>
            <a:off x="7420356" y="3081528"/>
            <a:ext cx="4009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</a:rPr>
              <a:t>Entrega 2 · Observabilidade</a:t>
            </a:r>
            <a:endParaRPr lang="en-US" sz="800" dirty="0"/>
          </a:p>
        </p:txBody>
      </p:sp>
      <p:sp>
        <p:nvSpPr>
          <p:cNvPr id="115" name="Shape 113"/>
          <p:cNvSpPr/>
          <p:nvPr/>
        </p:nvSpPr>
        <p:spPr>
          <a:xfrm>
            <a:off x="11430000" y="3072384"/>
            <a:ext cx="566928" cy="182880"/>
          </a:xfrm>
          <a:prstGeom prst="rect">
            <a:avLst>
              <a:gd name="adj" fmla="val 4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11430000" y="3072384"/>
            <a:ext cx="5669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991B1B"/>
                </a:solidFill>
              </a:rPr>
              <a:t>74% concluido</a:t>
            </a:r>
            <a:endParaRPr lang="en-US" sz="650" dirty="0"/>
          </a:p>
        </p:txBody>
      </p:sp>
      <p:sp>
        <p:nvSpPr>
          <p:cNvPr id="117" name="Shape 115"/>
          <p:cNvSpPr/>
          <p:nvPr/>
        </p:nvSpPr>
        <p:spPr>
          <a:xfrm>
            <a:off x="7420356" y="3291840"/>
            <a:ext cx="4558284" cy="64008"/>
          </a:xfrm>
          <a:prstGeom prst="rect">
            <a:avLst/>
          </a:prstGeom>
          <a:solidFill>
            <a:srgbClr val="E6F1FB"/>
          </a:solidFill>
          <a:ln w="12700">
            <a:solidFill>
              <a:srgbClr val="E6F1FB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7420356" y="3291840"/>
            <a:ext cx="3373130" cy="64008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7420356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PROJETADO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7420356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9E75"/>
                </a:solidFill>
              </a:rPr>
              <a:t>08/07/2026</a:t>
            </a:r>
            <a:endParaRPr lang="en-US" sz="1050" dirty="0"/>
          </a:p>
        </p:txBody>
      </p:sp>
      <p:sp>
        <p:nvSpPr>
          <p:cNvPr id="122" name="Shape 120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8939784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BASE</a:t>
            </a:r>
            <a:endParaRPr lang="en-US" sz="650" dirty="0"/>
          </a:p>
        </p:txBody>
      </p:sp>
      <p:sp>
        <p:nvSpPr>
          <p:cNvPr id="124" name="Text 122"/>
          <p:cNvSpPr/>
          <p:nvPr/>
        </p:nvSpPr>
        <p:spPr>
          <a:xfrm>
            <a:off x="8939784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29/05/2026</a:t>
            </a:r>
            <a:endParaRPr lang="en-US" sz="1050" dirty="0"/>
          </a:p>
        </p:txBody>
      </p:sp>
      <p:sp>
        <p:nvSpPr>
          <p:cNvPr id="125" name="Shape 123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0459212" y="3410712"/>
            <a:ext cx="14828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PESSIMISTA</a:t>
            </a:r>
            <a:endParaRPr lang="en-US" sz="650" dirty="0"/>
          </a:p>
        </p:txBody>
      </p:sp>
      <p:sp>
        <p:nvSpPr>
          <p:cNvPr id="127" name="Text 125"/>
          <p:cNvSpPr/>
          <p:nvPr/>
        </p:nvSpPr>
        <p:spPr>
          <a:xfrm>
            <a:off x="10459212" y="3630168"/>
            <a:ext cx="14828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C2626"/>
                </a:solidFill>
              </a:rPr>
              <a:t>12/06/2026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2441448" y="3913632"/>
            <a:ext cx="964692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29" name="Text 127"/>
          <p:cNvSpPr/>
          <p:nvPr/>
        </p:nvSpPr>
        <p:spPr>
          <a:xfrm>
            <a:off x="2532888" y="3968496"/>
            <a:ext cx="9464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spc="200" kern="0" dirty="0">
                <a:solidFill>
                  <a:srgbClr val="888888"/>
                </a:solidFill>
              </a:rPr>
              <a:t>EFICIENCIA DA ENTREGA</a:t>
            </a:r>
            <a:endParaRPr lang="en-US" sz="700" dirty="0"/>
          </a:p>
        </p:txBody>
      </p:sp>
      <p:sp>
        <p:nvSpPr>
          <p:cNvPr id="130" name="Text 128"/>
          <p:cNvSpPr/>
          <p:nvPr/>
        </p:nvSpPr>
        <p:spPr>
          <a:xfrm>
            <a:off x="253288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85A30"/>
                </a:solidFill>
              </a:rPr>
              <a:t>17.9%</a:t>
            </a:r>
            <a:endParaRPr lang="en-US" sz="2200" dirty="0"/>
          </a:p>
        </p:txBody>
      </p:sp>
      <p:sp>
        <p:nvSpPr>
          <p:cNvPr id="131" name="Text 129"/>
          <p:cNvSpPr/>
          <p:nvPr/>
        </p:nvSpPr>
        <p:spPr>
          <a:xfrm>
            <a:off x="253288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Itens Estourados</a:t>
            </a:r>
            <a:endParaRPr lang="en-US" sz="800" dirty="0"/>
          </a:p>
        </p:txBody>
      </p:sp>
      <p:sp>
        <p:nvSpPr>
          <p:cNvPr id="132" name="Text 130"/>
          <p:cNvSpPr/>
          <p:nvPr/>
        </p:nvSpPr>
        <p:spPr>
          <a:xfrm>
            <a:off x="253288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das subs com estimativa</a:t>
            </a:r>
            <a:endParaRPr lang="en-US" sz="700" dirty="0"/>
          </a:p>
        </p:txBody>
      </p:sp>
      <p:sp>
        <p:nvSpPr>
          <p:cNvPr id="133" name="Shape 131"/>
          <p:cNvSpPr/>
          <p:nvPr/>
        </p:nvSpPr>
        <p:spPr>
          <a:xfrm>
            <a:off x="485317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494461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34AB7"/>
                </a:solidFill>
              </a:rPr>
              <a:t>11.1%</a:t>
            </a:r>
            <a:endParaRPr lang="en-US" sz="2200" dirty="0"/>
          </a:p>
        </p:txBody>
      </p:sp>
      <p:sp>
        <p:nvSpPr>
          <p:cNvPr id="135" name="Text 133"/>
          <p:cNvSpPr/>
          <p:nvPr/>
        </p:nvSpPr>
        <p:spPr>
          <a:xfrm>
            <a:off x="494461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Registrado</a:t>
            </a:r>
            <a:endParaRPr lang="en-US" sz="800" dirty="0"/>
          </a:p>
        </p:txBody>
      </p:sp>
      <p:sp>
        <p:nvSpPr>
          <p:cNvPr id="136" name="Text 134"/>
          <p:cNvSpPr/>
          <p:nvPr/>
        </p:nvSpPr>
        <p:spPr>
          <a:xfrm>
            <a:off x="494461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26 Sub Bug (ADO) · 136.8h</a:t>
            </a:r>
            <a:endParaRPr lang="en-US" sz="700" dirty="0"/>
          </a:p>
        </p:txBody>
      </p:sp>
      <p:sp>
        <p:nvSpPr>
          <p:cNvPr id="137" name="Shape 135"/>
          <p:cNvSpPr/>
          <p:nvPr/>
        </p:nvSpPr>
        <p:spPr>
          <a:xfrm>
            <a:off x="726490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735634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DC2626"/>
                </a:solidFill>
              </a:rPr>
              <a:t>35</a:t>
            </a:r>
            <a:endParaRPr lang="en-US" sz="2200" dirty="0"/>
          </a:p>
        </p:txBody>
      </p:sp>
      <p:sp>
        <p:nvSpPr>
          <p:cNvPr id="139" name="Text 137"/>
          <p:cNvSpPr/>
          <p:nvPr/>
        </p:nvSpPr>
        <p:spPr>
          <a:xfrm>
            <a:off x="735634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Retrabalho Oculto</a:t>
            </a:r>
            <a:endParaRPr lang="en-US" sz="800" dirty="0"/>
          </a:p>
        </p:txBody>
      </p:sp>
      <p:sp>
        <p:nvSpPr>
          <p:cNvPr id="140" name="Text 138"/>
          <p:cNvSpPr/>
          <p:nvPr/>
        </p:nvSpPr>
        <p:spPr>
          <a:xfrm>
            <a:off x="735634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fixes sem card no Git · 46% do time com card</a:t>
            </a:r>
            <a:endParaRPr lang="en-US" sz="700" dirty="0"/>
          </a:p>
        </p:txBody>
      </p:sp>
      <p:sp>
        <p:nvSpPr>
          <p:cNvPr id="141" name="Shape 139"/>
          <p:cNvSpPr/>
          <p:nvPr/>
        </p:nvSpPr>
        <p:spPr>
          <a:xfrm>
            <a:off x="9676638" y="4059936"/>
            <a:ext cx="9144" cy="62179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9768078" y="4059936"/>
            <a:ext cx="222885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D9E75"/>
                </a:solidFill>
              </a:rPr>
              <a:t>82.1%</a:t>
            </a:r>
            <a:endParaRPr lang="en-US" sz="2200" dirty="0"/>
          </a:p>
        </p:txBody>
      </p:sp>
      <p:sp>
        <p:nvSpPr>
          <p:cNvPr id="143" name="Text 141"/>
          <p:cNvSpPr/>
          <p:nvPr/>
        </p:nvSpPr>
        <p:spPr>
          <a:xfrm>
            <a:off x="9768078" y="4389120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22222"/>
                </a:solidFill>
              </a:rPr>
              <a:t>Dentro da Estimativa</a:t>
            </a:r>
            <a:endParaRPr lang="en-US" sz="800" dirty="0"/>
          </a:p>
        </p:txBody>
      </p:sp>
      <p:sp>
        <p:nvSpPr>
          <p:cNvPr id="144" name="Text 142"/>
          <p:cNvSpPr/>
          <p:nvPr/>
        </p:nvSpPr>
        <p:spPr>
          <a:xfrm>
            <a:off x="9768078" y="4553712"/>
            <a:ext cx="2228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88888"/>
                </a:solidFill>
              </a:rPr>
              <a:t>entregues dentro do planejado</a:t>
            </a:r>
            <a:endParaRPr lang="en-US" sz="700" dirty="0"/>
          </a:p>
        </p:txBody>
      </p:sp>
      <p:sp>
        <p:nvSpPr>
          <p:cNvPr id="145" name="Text 143"/>
          <p:cNvSpPr/>
          <p:nvPr/>
        </p:nvSpPr>
        <p:spPr>
          <a:xfrm>
            <a:off x="2441448" y="4754880"/>
            <a:ext cx="9646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spc="300" kern="0" dirty="0">
                <a:solidFill>
                  <a:srgbClr val="888888"/>
                </a:solidFill>
              </a:rPr>
              <a:t>R I S C O S</a:t>
            </a:r>
            <a:endParaRPr lang="en-US" sz="650" dirty="0"/>
          </a:p>
        </p:txBody>
      </p:sp>
      <p:sp>
        <p:nvSpPr>
          <p:cNvPr id="146" name="Shape 144"/>
          <p:cNvSpPr/>
          <p:nvPr/>
        </p:nvSpPr>
        <p:spPr>
          <a:xfrm>
            <a:off x="2441448" y="4873752"/>
            <a:ext cx="2350008" cy="877824"/>
          </a:xfrm>
          <a:prstGeom prst="rect">
            <a:avLst/>
          </a:prstGeom>
          <a:solidFill>
            <a:srgbClr val="F0FDF4"/>
          </a:solidFill>
          <a:ln w="12700">
            <a:solidFill>
              <a:srgbClr val="1D9E7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47" name="Text 145"/>
          <p:cNvSpPr/>
          <p:nvPr/>
        </p:nvSpPr>
        <p:spPr>
          <a:xfrm>
            <a:off x="2514600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1D9E75"/>
                </a:solidFill>
              </a:rPr>
              <a:t>SEM RISCO</a:t>
            </a:r>
            <a:endParaRPr lang="en-US" sz="700" dirty="0"/>
          </a:p>
        </p:txBody>
      </p:sp>
      <p:sp>
        <p:nvSpPr>
          <p:cNvPr id="148" name="Shape 146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4261104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riscos</a:t>
            </a:r>
            <a:endParaRPr lang="en-US" sz="650" dirty="0"/>
          </a:p>
        </p:txBody>
      </p:sp>
      <p:sp>
        <p:nvSpPr>
          <p:cNvPr id="150" name="Text 148"/>
          <p:cNvSpPr/>
          <p:nvPr/>
        </p:nvSpPr>
        <p:spPr>
          <a:xfrm>
            <a:off x="2514600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Nenhum estouro ou refinamento pendente</a:t>
            </a:r>
            <a:endParaRPr lang="en-US" sz="750" dirty="0"/>
          </a:p>
        </p:txBody>
      </p:sp>
      <p:sp>
        <p:nvSpPr>
          <p:cNvPr id="151" name="Text 149"/>
          <p:cNvSpPr/>
          <p:nvPr/>
        </p:nvSpPr>
        <p:spPr>
          <a:xfrm>
            <a:off x="2514600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2" name="Shape 150"/>
          <p:cNvSpPr/>
          <p:nvPr/>
        </p:nvSpPr>
        <p:spPr>
          <a:xfrm>
            <a:off x="4873752" y="4873752"/>
            <a:ext cx="2350008" cy="877824"/>
          </a:xfrm>
          <a:prstGeom prst="rect">
            <a:avLst/>
          </a:prstGeom>
          <a:solidFill>
            <a:srgbClr val="F5F3FF"/>
          </a:solidFill>
          <a:ln w="12700">
            <a:solidFill>
              <a:srgbClr val="6B3FA0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3" name="Text 151"/>
          <p:cNvSpPr/>
          <p:nvPr/>
        </p:nvSpPr>
        <p:spPr>
          <a:xfrm>
            <a:off x="4946904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6B3FA0"/>
                </a:solidFill>
              </a:rPr>
              <a:t>ATENCAO · Janela de Entrega</a:t>
            </a:r>
            <a:endParaRPr lang="en-US" sz="700" dirty="0"/>
          </a:p>
        </p:txBody>
      </p:sp>
      <p:sp>
        <p:nvSpPr>
          <p:cNvPr id="154" name="Shape 152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6693408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~7 dias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uteis</a:t>
            </a:r>
            <a:endParaRPr lang="en-US" sz="650" dirty="0"/>
          </a:p>
        </p:txBody>
      </p:sp>
      <p:sp>
        <p:nvSpPr>
          <p:cNvPr id="156" name="Text 154"/>
          <p:cNvSpPr/>
          <p:nvPr/>
        </p:nvSpPr>
        <p:spPr>
          <a:xfrm>
            <a:off x="4946904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Observabilidade: Proj 08/07/2026 · Base 29/05/2026</a:t>
            </a:r>
            <a:endParaRPr lang="en-US" sz="750" dirty="0"/>
          </a:p>
        </p:txBody>
      </p:sp>
      <p:sp>
        <p:nvSpPr>
          <p:cNvPr id="157" name="Text 155"/>
          <p:cNvSpPr/>
          <p:nvPr/>
        </p:nvSpPr>
        <p:spPr>
          <a:xfrm>
            <a:off x="4946904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750" dirty="0"/>
          </a:p>
        </p:txBody>
      </p:sp>
      <p:sp>
        <p:nvSpPr>
          <p:cNvPr id="158" name="Shape 156"/>
          <p:cNvSpPr/>
          <p:nvPr/>
        </p:nvSpPr>
        <p:spPr>
          <a:xfrm>
            <a:off x="7306056" y="4873752"/>
            <a:ext cx="2350008" cy="877824"/>
          </a:xfrm>
          <a:prstGeom prst="rect">
            <a:avLst/>
          </a:prstGeom>
          <a:solidFill>
            <a:srgbClr val="FFF1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59" name="Text 157"/>
          <p:cNvSpPr/>
          <p:nvPr/>
        </p:nvSpPr>
        <p:spPr>
          <a:xfrm>
            <a:off x="7379208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C2626"/>
                </a:solidFill>
              </a:rPr>
              <a:t>BUG / SUSTENTACAO</a:t>
            </a:r>
            <a:endParaRPr lang="en-US" sz="700" dirty="0"/>
          </a:p>
        </p:txBody>
      </p:sp>
      <p:sp>
        <p:nvSpPr>
          <p:cNvPr id="160" name="Shape 158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9125712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106.3h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realizadas</a:t>
            </a:r>
            <a:endParaRPr lang="en-US" sz="650" dirty="0"/>
          </a:p>
        </p:txBody>
      </p:sp>
      <p:sp>
        <p:nvSpPr>
          <p:cNvPr id="162" name="Text 160"/>
          <p:cNvSpPr/>
          <p:nvPr/>
        </p:nvSpPr>
        <p:spPr>
          <a:xfrm>
            <a:off x="7379208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7 Bugs · 6 SRs no periodo</a:t>
            </a:r>
            <a:endParaRPr lang="en-US" sz="750" dirty="0"/>
          </a:p>
        </p:txBody>
      </p:sp>
      <p:sp>
        <p:nvSpPr>
          <p:cNvPr id="163" name="Text 161"/>
          <p:cNvSpPr/>
          <p:nvPr/>
        </p:nvSpPr>
        <p:spPr>
          <a:xfrm>
            <a:off x="7379208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Horas nao planejadas: 106.3h</a:t>
            </a:r>
            <a:endParaRPr lang="en-US" sz="750" dirty="0"/>
          </a:p>
        </p:txBody>
      </p:sp>
      <p:sp>
        <p:nvSpPr>
          <p:cNvPr id="164" name="Shape 162"/>
          <p:cNvSpPr/>
          <p:nvPr/>
        </p:nvSpPr>
        <p:spPr>
          <a:xfrm>
            <a:off x="9738360" y="4873752"/>
            <a:ext cx="2350008" cy="877824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65" name="Text 163"/>
          <p:cNvSpPr/>
          <p:nvPr/>
        </p:nvSpPr>
        <p:spPr>
          <a:xfrm>
            <a:off x="9811512" y="4937760"/>
            <a:ext cx="17556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D97706"/>
                </a:solidFill>
              </a:rPr>
              <a:t>EXPANSAO DE ESCOPO</a:t>
            </a:r>
            <a:endParaRPr lang="en-US" sz="700" dirty="0"/>
          </a:p>
        </p:txBody>
      </p:sp>
      <p:sp>
        <p:nvSpPr>
          <p:cNvPr id="166" name="Shape 164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11558016" y="4928616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130</a:t>
            </a:r>
            <a:endParaRPr lang="en-US" sz="650" dirty="0"/>
          </a:p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itens</a:t>
            </a:r>
            <a:endParaRPr lang="en-US" sz="650" dirty="0"/>
          </a:p>
        </p:txBody>
      </p:sp>
      <p:sp>
        <p:nvSpPr>
          <p:cNvPr id="168" name="Text 166"/>
          <p:cNvSpPr/>
          <p:nvPr/>
        </p:nvSpPr>
        <p:spPr>
          <a:xfrm>
            <a:off x="9811512" y="5184648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130 itens criados pos 01/05</a:t>
            </a:r>
            <a:endParaRPr lang="en-US" sz="750" dirty="0"/>
          </a:p>
        </p:txBody>
      </p:sp>
      <p:sp>
        <p:nvSpPr>
          <p:cNvPr id="169" name="Text 167"/>
          <p:cNvSpPr/>
          <p:nvPr/>
        </p:nvSpPr>
        <p:spPr>
          <a:xfrm>
            <a:off x="9811512" y="5367528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dirty="0">
                <a:solidFill>
                  <a:srgbClr val="222222"/>
                </a:solidFill>
              </a:rPr>
              <a:t>Princ +55h · Redund +169h · Obs +20h</a:t>
            </a:r>
            <a:endParaRPr lang="en-US" sz="750" dirty="0"/>
          </a:p>
        </p:txBody>
      </p:sp>
      <p:sp>
        <p:nvSpPr>
          <p:cNvPr id="170" name="Shape 168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2441448" y="5797296"/>
            <a:ext cx="721461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 E V S</a:t>
            </a:r>
            <a:endParaRPr lang="en-US" sz="700" dirty="0"/>
          </a:p>
        </p:txBody>
      </p:sp>
      <p:sp>
        <p:nvSpPr>
          <p:cNvPr id="172" name="Shape 170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solidFill>
            <a:srgbClr val="1E6FA8"/>
          </a:solidFill>
          <a:ln w="12700">
            <a:solidFill>
              <a:srgbClr val="1E6FA8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9738360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Q A</a:t>
            </a:r>
            <a:endParaRPr lang="en-US" sz="700" dirty="0"/>
          </a:p>
        </p:txBody>
      </p:sp>
      <p:sp>
        <p:nvSpPr>
          <p:cNvPr id="174" name="Shape 172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10954512" y="5797296"/>
            <a:ext cx="1133856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LIDERANCA TECNICA</a:t>
            </a:r>
            <a:endParaRPr lang="en-US" sz="700" dirty="0"/>
          </a:p>
        </p:txBody>
      </p:sp>
      <p:sp>
        <p:nvSpPr>
          <p:cNvPr id="176" name="Shape 174"/>
          <p:cNvSpPr/>
          <p:nvPr/>
        </p:nvSpPr>
        <p:spPr>
          <a:xfrm>
            <a:off x="244144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77" name="Text 175"/>
          <p:cNvSpPr/>
          <p:nvPr/>
        </p:nvSpPr>
        <p:spPr>
          <a:xfrm>
            <a:off x="249631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Gabriel Pigatto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>
            <a:off x="2496312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0" name="Text 178"/>
          <p:cNvSpPr/>
          <p:nvPr/>
        </p:nvSpPr>
        <p:spPr>
          <a:xfrm>
            <a:off x="249631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245.6h · 44 subs finalizadas</a:t>
            </a:r>
            <a:endParaRPr lang="en-US" sz="950" dirty="0"/>
          </a:p>
        </p:txBody>
      </p:sp>
      <p:sp>
        <p:nvSpPr>
          <p:cNvPr id="181" name="Text 179"/>
          <p:cNvSpPr/>
          <p:nvPr/>
        </p:nvSpPr>
        <p:spPr>
          <a:xfrm>
            <a:off x="249631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214h estimadas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49631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 fix(s) sem card</a:t>
            </a:r>
            <a:endParaRPr lang="en-US" sz="750" dirty="0"/>
          </a:p>
        </p:txBody>
      </p:sp>
      <p:sp>
        <p:nvSpPr>
          <p:cNvPr id="184" name="Shape 182"/>
          <p:cNvSpPr/>
          <p:nvPr/>
        </p:nvSpPr>
        <p:spPr>
          <a:xfrm>
            <a:off x="365760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85" name="Text 183"/>
          <p:cNvSpPr/>
          <p:nvPr/>
        </p:nvSpPr>
        <p:spPr>
          <a:xfrm>
            <a:off x="371246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Artur Silva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>
            <a:off x="3712464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188" name="Text 186"/>
          <p:cNvSpPr/>
          <p:nvPr/>
        </p:nvSpPr>
        <p:spPr>
          <a:xfrm>
            <a:off x="371246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335h · 53 subs finalizadas</a:t>
            </a:r>
            <a:endParaRPr lang="en-US" sz="950" dirty="0"/>
          </a:p>
        </p:txBody>
      </p:sp>
      <p:sp>
        <p:nvSpPr>
          <p:cNvPr id="189" name="Text 187"/>
          <p:cNvSpPr/>
          <p:nvPr/>
        </p:nvSpPr>
        <p:spPr>
          <a:xfrm>
            <a:off x="371246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168h estimadas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3712464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3 fix(s) sem card</a:t>
            </a:r>
            <a:endParaRPr lang="en-US" sz="750" dirty="0"/>
          </a:p>
        </p:txBody>
      </p:sp>
      <p:sp>
        <p:nvSpPr>
          <p:cNvPr id="192" name="Shape 190"/>
          <p:cNvSpPr/>
          <p:nvPr/>
        </p:nvSpPr>
        <p:spPr>
          <a:xfrm>
            <a:off x="487375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193" name="Text 191"/>
          <p:cNvSpPr/>
          <p:nvPr/>
        </p:nvSpPr>
        <p:spPr>
          <a:xfrm>
            <a:off x="492861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Carlos H. Almeida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>
            <a:off x="4928616" y="6153912"/>
            <a:ext cx="1024128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6" name="Text 194"/>
          <p:cNvSpPr/>
          <p:nvPr/>
        </p:nvSpPr>
        <p:spPr>
          <a:xfrm>
            <a:off x="492861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97706"/>
                </a:solidFill>
              </a:rPr>
              <a:t>268.2h · 34 subs finalizadas</a:t>
            </a:r>
            <a:endParaRPr lang="en-US" sz="950" dirty="0"/>
          </a:p>
        </p:txBody>
      </p:sp>
      <p:sp>
        <p:nvSpPr>
          <p:cNvPr id="197" name="Text 195"/>
          <p:cNvSpPr/>
          <p:nvPr/>
        </p:nvSpPr>
        <p:spPr>
          <a:xfrm>
            <a:off x="492861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217h estimadas</a:t>
            </a:r>
            <a:endParaRPr lang="en-US" sz="850" dirty="0"/>
          </a:p>
        </p:txBody>
      </p:sp>
      <p:sp>
        <p:nvSpPr>
          <p:cNvPr id="198" name="Shape 196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99" name="Text 197"/>
          <p:cNvSpPr/>
          <p:nvPr/>
        </p:nvSpPr>
        <p:spPr>
          <a:xfrm>
            <a:off x="4928616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00" name="Shape 198"/>
          <p:cNvSpPr/>
          <p:nvPr/>
        </p:nvSpPr>
        <p:spPr>
          <a:xfrm>
            <a:off x="6089904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1" name="Text 199"/>
          <p:cNvSpPr/>
          <p:nvPr/>
        </p:nvSpPr>
        <p:spPr>
          <a:xfrm>
            <a:off x="6144768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Maria E. Muniz</a:t>
            </a:r>
            <a:endParaRPr lang="en-US" sz="850" dirty="0"/>
          </a:p>
        </p:txBody>
      </p:sp>
      <p:sp>
        <p:nvSpPr>
          <p:cNvPr id="202" name="Shape 200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>
            <a:off x="6144768" y="6153912"/>
            <a:ext cx="1024128" cy="73152"/>
          </a:xfrm>
          <a:prstGeom prst="rect">
            <a:avLst/>
          </a:prstGeom>
          <a:solidFill>
            <a:srgbClr val="D85A30"/>
          </a:solidFill>
          <a:ln w="12700">
            <a:solidFill>
              <a:srgbClr val="D85A30"/>
            </a:solidFill>
            <a:prstDash val="solid"/>
          </a:ln>
        </p:spPr>
      </p:sp>
      <p:sp>
        <p:nvSpPr>
          <p:cNvPr id="204" name="Text 202"/>
          <p:cNvSpPr/>
          <p:nvPr/>
        </p:nvSpPr>
        <p:spPr>
          <a:xfrm>
            <a:off x="6144768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85A30"/>
                </a:solidFill>
              </a:rPr>
              <a:t>91.5h · 21 subs finalizadas</a:t>
            </a:r>
            <a:endParaRPr lang="en-US" sz="950" dirty="0"/>
          </a:p>
        </p:txBody>
      </p:sp>
      <p:sp>
        <p:nvSpPr>
          <p:cNvPr id="205" name="Text 203"/>
          <p:cNvSpPr/>
          <p:nvPr/>
        </p:nvSpPr>
        <p:spPr>
          <a:xfrm>
            <a:off x="6144768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53h estimadas</a:t>
            </a:r>
            <a:endParaRPr lang="en-US" sz="850" dirty="0"/>
          </a:p>
        </p:txBody>
      </p:sp>
      <p:sp>
        <p:nvSpPr>
          <p:cNvPr id="206" name="Shape 204"/>
          <p:cNvSpPr/>
          <p:nvPr/>
        </p:nvSpPr>
        <p:spPr>
          <a:xfrm>
            <a:off x="7306056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07" name="Text 205"/>
          <p:cNvSpPr/>
          <p:nvPr/>
        </p:nvSpPr>
        <p:spPr>
          <a:xfrm>
            <a:off x="7360920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Fabio Santos</a:t>
            </a:r>
            <a:endParaRPr lang="en-US" sz="850" dirty="0"/>
          </a:p>
        </p:txBody>
      </p:sp>
      <p:sp>
        <p:nvSpPr>
          <p:cNvPr id="208" name="Shape 206"/>
          <p:cNvSpPr/>
          <p:nvPr/>
        </p:nvSpPr>
        <p:spPr>
          <a:xfrm>
            <a:off x="7360920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>
            <a:off x="7360920" y="6153912"/>
            <a:ext cx="73180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0" name="Text 208"/>
          <p:cNvSpPr/>
          <p:nvPr/>
        </p:nvSpPr>
        <p:spPr>
          <a:xfrm>
            <a:off x="7360920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220.8h · 54 subs finalizadas</a:t>
            </a:r>
            <a:endParaRPr lang="en-US" sz="950" dirty="0"/>
          </a:p>
        </p:txBody>
      </p:sp>
      <p:sp>
        <p:nvSpPr>
          <p:cNvPr id="211" name="Text 209"/>
          <p:cNvSpPr/>
          <p:nvPr/>
        </p:nvSpPr>
        <p:spPr>
          <a:xfrm>
            <a:off x="7360920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309h estimadas</a:t>
            </a:r>
            <a:endParaRPr lang="en-US" sz="850" dirty="0"/>
          </a:p>
        </p:txBody>
      </p:sp>
      <p:sp>
        <p:nvSpPr>
          <p:cNvPr id="212" name="Shape 210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7360920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19 fix(s) sem card</a:t>
            </a:r>
            <a:endParaRPr lang="en-US" sz="750" dirty="0"/>
          </a:p>
        </p:txBody>
      </p:sp>
      <p:sp>
        <p:nvSpPr>
          <p:cNvPr id="214" name="Shape 212"/>
          <p:cNvSpPr/>
          <p:nvPr/>
        </p:nvSpPr>
        <p:spPr>
          <a:xfrm>
            <a:off x="8522208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FCA5A5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15" name="Text 213"/>
          <p:cNvSpPr/>
          <p:nvPr/>
        </p:nvSpPr>
        <p:spPr>
          <a:xfrm>
            <a:off x="8577072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Albert V. Foureaux</a:t>
            </a:r>
            <a:endParaRPr lang="en-US" sz="850" dirty="0"/>
          </a:p>
        </p:txBody>
      </p:sp>
      <p:sp>
        <p:nvSpPr>
          <p:cNvPr id="216" name="Shape 214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>
            <a:off x="8577072" y="6153912"/>
            <a:ext cx="1024128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18" name="Text 216"/>
          <p:cNvSpPr/>
          <p:nvPr/>
        </p:nvSpPr>
        <p:spPr>
          <a:xfrm>
            <a:off x="8577072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6.5h · 1 subs finalizadas</a:t>
            </a:r>
            <a:endParaRPr lang="en-US" sz="950" dirty="0"/>
          </a:p>
        </p:txBody>
      </p:sp>
      <p:sp>
        <p:nvSpPr>
          <p:cNvPr id="219" name="Text 217"/>
          <p:cNvSpPr/>
          <p:nvPr/>
        </p:nvSpPr>
        <p:spPr>
          <a:xfrm>
            <a:off x="8577072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6.5h estimadas</a:t>
            </a:r>
            <a:endParaRPr lang="en-US" sz="850" dirty="0"/>
          </a:p>
        </p:txBody>
      </p:sp>
      <p:sp>
        <p:nvSpPr>
          <p:cNvPr id="220" name="Shape 218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221" name="Text 219"/>
          <p:cNvSpPr/>
          <p:nvPr/>
        </p:nvSpPr>
        <p:spPr>
          <a:xfrm>
            <a:off x="8577072" y="6647688"/>
            <a:ext cx="1024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C2626"/>
                </a:solidFill>
              </a:rPr>
              <a:t>⚠ 6 fix(s) sem card</a:t>
            </a:r>
            <a:endParaRPr lang="en-US" sz="750" dirty="0"/>
          </a:p>
        </p:txBody>
      </p:sp>
      <p:sp>
        <p:nvSpPr>
          <p:cNvPr id="222" name="Shape 220"/>
          <p:cNvSpPr/>
          <p:nvPr/>
        </p:nvSpPr>
        <p:spPr>
          <a:xfrm>
            <a:off x="9738360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3" name="Text 221"/>
          <p:cNvSpPr/>
          <p:nvPr/>
        </p:nvSpPr>
        <p:spPr>
          <a:xfrm>
            <a:off x="9793224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James G. Pereira</a:t>
            </a:r>
            <a:endParaRPr lang="en-US" sz="850" dirty="0"/>
          </a:p>
        </p:txBody>
      </p:sp>
      <p:sp>
        <p:nvSpPr>
          <p:cNvPr id="224" name="Shape 222"/>
          <p:cNvSpPr/>
          <p:nvPr/>
        </p:nvSpPr>
        <p:spPr>
          <a:xfrm>
            <a:off x="9793224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9793224" y="6153912"/>
            <a:ext cx="931025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9793224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30h · 5 subs finalizadas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9793224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33h estimadas</a:t>
            </a:r>
            <a:endParaRPr lang="en-US" sz="850" dirty="0"/>
          </a:p>
        </p:txBody>
      </p:sp>
      <p:sp>
        <p:nvSpPr>
          <p:cNvPr id="228" name="Shape 226"/>
          <p:cNvSpPr/>
          <p:nvPr/>
        </p:nvSpPr>
        <p:spPr>
          <a:xfrm>
            <a:off x="10954512" y="5879592"/>
            <a:ext cx="1133856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38100" dist="25400" dir="5400000">
              <a:srgbClr val="CCCCCC">
                <a:alpha val="25000"/>
              </a:srgbClr>
            </a:outerShdw>
          </a:effectLst>
        </p:spPr>
      </p:sp>
      <p:sp>
        <p:nvSpPr>
          <p:cNvPr id="229" name="Text 227"/>
          <p:cNvSpPr/>
          <p:nvPr/>
        </p:nvSpPr>
        <p:spPr>
          <a:xfrm>
            <a:off x="11009376" y="595274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22222"/>
                </a:solidFill>
              </a:rPr>
              <a:t>Ricardo Cardoso</a:t>
            </a:r>
            <a:endParaRPr lang="en-US" sz="850" dirty="0"/>
          </a:p>
        </p:txBody>
      </p:sp>
      <p:sp>
        <p:nvSpPr>
          <p:cNvPr id="230" name="Shape 228"/>
          <p:cNvSpPr/>
          <p:nvPr/>
        </p:nvSpPr>
        <p:spPr>
          <a:xfrm>
            <a:off x="11009376" y="6153912"/>
            <a:ext cx="1024128" cy="73152"/>
          </a:xfrm>
          <a:prstGeom prst="rect">
            <a:avLst/>
          </a:prstGeom>
          <a:solidFill>
            <a:srgbClr val="E8EDF2"/>
          </a:solidFill>
          <a:ln w="12700">
            <a:solidFill>
              <a:srgbClr val="E8EDF2"/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>
            <a:off x="11009376" y="6153912"/>
            <a:ext cx="885444" cy="73152"/>
          </a:xfrm>
          <a:prstGeom prst="rect">
            <a:avLst/>
          </a:prstGeom>
          <a:solidFill>
            <a:srgbClr val="1D9E75"/>
          </a:solidFill>
          <a:ln w="12700">
            <a:solidFill>
              <a:srgbClr val="1D9E75"/>
            </a:solidFill>
            <a:prstDash val="solid"/>
          </a:ln>
        </p:spPr>
      </p:sp>
      <p:sp>
        <p:nvSpPr>
          <p:cNvPr id="232" name="Text 230"/>
          <p:cNvSpPr/>
          <p:nvPr/>
        </p:nvSpPr>
        <p:spPr>
          <a:xfrm>
            <a:off x="11009376" y="6245352"/>
            <a:ext cx="1024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D9E75"/>
                </a:solidFill>
              </a:rPr>
              <a:t>124.5h · 89 subs finalizadas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11009376" y="6464808"/>
            <a:ext cx="10241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888888"/>
                </a:solidFill>
              </a:rPr>
              <a:t>144h estimadas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Status Report — Quadro de Aulas</dc:title>
  <dc:subject>PptxGenJS Presentation</dc:subject>
  <dc:creator>PptxGenJS</dc:creator>
  <cp:lastModifiedBy>PptxGenJS</cp:lastModifiedBy>
  <cp:revision>1</cp:revision>
  <dcterms:created xsi:type="dcterms:W3CDTF">2026-06-30T22:04:01Z</dcterms:created>
  <dcterms:modified xsi:type="dcterms:W3CDTF">2026-06-30T22:04:01Z</dcterms:modified>
</cp:coreProperties>
</file>